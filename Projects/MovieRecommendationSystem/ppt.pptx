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66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4" r:id="rId49"/>
    <p:sldId id="305" r:id="rId50"/>
    <p:sldId id="306" r:id="rId51"/>
    <p:sldId id="307" r:id="rId52"/>
    <p:sldId id="308" r:id="rId53"/>
    <p:sldId id="309" r:id="rId54"/>
    <p:sldId id="310" r:id="rId55"/>
    <p:sldId id="311" r:id="rId56"/>
    <p:sldId id="312" r:id="rId57"/>
    <p:sldId id="313" r:id="rId58"/>
    <p:sldId id="30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  <p:sldId id="331" r:id="rId77"/>
    <p:sldId id="332" r:id="rId78"/>
    <p:sldId id="333" r:id="rId79"/>
    <p:sldId id="334" r:id="rId80"/>
    <p:sldId id="335" r:id="rId8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theme" Target="theme/theme1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61" Type="http://schemas.openxmlformats.org/officeDocument/2006/relationships/slide" Target="slides/slide60.xml"/><Relationship Id="rId8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2DB457-0695-F21A-6C41-9135FD62819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C30F801-CC08-61B8-73E1-3418D7E0FD5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F05A64F-B3CE-7E50-5584-6A3D5E91DE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C41347-D84B-494B-A1CB-761CDEA05F6C}" type="datetimeFigureOut">
              <a:rPr lang="en-IN" smtClean="0"/>
              <a:t>11-10-2026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6CD48E-C28F-29EB-A65D-AF9D2E21A5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245F6C-5210-A0EE-646C-798667126B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2954D3-DE43-4291-919C-B71711149EC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722727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98D893-BE9E-1D49-00B4-7848A8FF1A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DD8BC9-AC76-59AC-D3DF-36608EDB68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81C711-4DFA-A95F-5292-AEC64F8A36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C41347-D84B-494B-A1CB-761CDEA05F6C}" type="datetimeFigureOut">
              <a:rPr lang="en-IN" smtClean="0"/>
              <a:t>11-10-2026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7C4EB4-5D74-9DE8-1735-DFD2A06662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7EDDCF-45B8-B731-AE13-EE66A546F1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2954D3-DE43-4291-919C-B71711149EC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684936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018FE5-EE44-DE88-2747-88D8E4F8ED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67BD5A3-C09A-A36E-1345-FEFD1B19B5E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07335E-657C-335F-D16D-9D1DEC6905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C41347-D84B-494B-A1CB-761CDEA05F6C}" type="datetimeFigureOut">
              <a:rPr lang="en-IN" smtClean="0"/>
              <a:t>11-10-2026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33AFBB3-0614-F854-9FD7-038CD55475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5C87FD-CFF6-E247-9CAB-4C257E8BFC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2954D3-DE43-4291-919C-B71711149EC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392419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186938-5F96-70A8-E614-234040A2AE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F90AAB-077A-2B33-D8ED-222F6DAE27A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3197C3B-B094-67FF-6606-5E6978C6534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43AD85D-B8BA-51E5-BD96-02E5C1C5B4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C41347-D84B-494B-A1CB-761CDEA05F6C}" type="datetimeFigureOut">
              <a:rPr lang="en-IN" smtClean="0"/>
              <a:t>11-10-2026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055DD75-04D8-DD16-2B6F-E5B52A895D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861635D-7716-99DD-7CEB-8051956E8A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2954D3-DE43-4291-919C-B71711149EC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228632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BF8AD3-9FAC-A475-9AAD-D34CA382F6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5F057FF-54EB-F5D6-8C77-11AC7391137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C940159-F4E8-2B08-CF2B-EB5B9CD511D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F0FC42A-5D47-A7D0-D86D-928BF417C09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306DEC7-E9F3-AC4E-1DAC-8E1B165175F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4A70D61-6F8E-82E2-78D5-933881BA17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C41347-D84B-494B-A1CB-761CDEA05F6C}" type="datetimeFigureOut">
              <a:rPr lang="en-IN" smtClean="0"/>
              <a:t>11-10-2026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197A054-F42F-A79B-7D4A-C126F63E6A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9BEDA19-09B0-9C0C-CCA2-6FB29CB9C6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2954D3-DE43-4291-919C-B71711149EC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28348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200BA1-BD61-0B1B-BA10-53732C8CED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03DE7D8-524A-6CD6-816F-3701A88501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C41347-D84B-494B-A1CB-761CDEA05F6C}" type="datetimeFigureOut">
              <a:rPr lang="en-IN" smtClean="0"/>
              <a:t>11-10-2026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90AC1B0-3F76-D399-4020-84B4820759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01CC7E2-2451-8C66-AC65-3C0F3BA757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2954D3-DE43-4291-919C-B71711149EC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855980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9036FC1-31A7-F5EF-A4F2-D98D6D096C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C41347-D84B-494B-A1CB-761CDEA05F6C}" type="datetimeFigureOut">
              <a:rPr lang="en-IN" smtClean="0"/>
              <a:t>11-10-2026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FB74F67-432D-697B-9E99-6294C52CC5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E9F428A-F109-0358-ABC3-3A0FE2A3D2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2954D3-DE43-4291-919C-B71711149EC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01374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8DFE11-8B26-FECA-317B-EBD142EC1A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9CEB69-44CB-1B83-3617-23B1A17B17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11A528F-7936-EC0E-18F2-5A2A729DC66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83F4BA3-247A-EDFC-736B-5F1E2AB7AF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C41347-D84B-494B-A1CB-761CDEA05F6C}" type="datetimeFigureOut">
              <a:rPr lang="en-IN" smtClean="0"/>
              <a:t>11-10-2026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571D7FB-0883-6FC3-9BC2-C9BA276CE3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F5BD69F-B1B6-71A6-0559-3C3C27A17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2954D3-DE43-4291-919C-B71711149EC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075139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9A22D8-CD12-2BBE-E040-F38AF73E8E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4985F78-9550-E2CB-4626-48F26FFD83A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5533FD7-64CD-B34E-69C0-55065FBFCE0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67E0198-C106-D68B-4A40-D954B25A97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C41347-D84B-494B-A1CB-761CDEA05F6C}" type="datetimeFigureOut">
              <a:rPr lang="en-IN" smtClean="0"/>
              <a:t>11-10-2026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CB79807-3BC0-D9F3-9D8D-8785273D4A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B190DD5-483C-560B-21A2-8FE8E770ED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2954D3-DE43-4291-919C-B71711149EC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698120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63CAF9-FB18-6E7B-2BD0-84626D7639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E13E941-D0B2-1BC3-6043-BFB6F293A99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1F8BB3-EB1E-B2D3-9A10-08EA21249F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C41347-D84B-494B-A1CB-761CDEA05F6C}" type="datetimeFigureOut">
              <a:rPr lang="en-IN" smtClean="0"/>
              <a:t>11-10-2026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262B2F-7FFC-5576-C575-0BEF75652F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47F2AC-D7AB-E156-DD93-0B8090FCF5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2954D3-DE43-4291-919C-B71711149EC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289363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C880965-8139-873B-94DE-F3BAFC44E25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0B72C50-4FAB-AF66-3E92-A86985F4F1B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2D47FB-149B-D567-0A8C-6487B40204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C41347-D84B-494B-A1CB-761CDEA05F6C}" type="datetimeFigureOut">
              <a:rPr lang="en-IN" smtClean="0"/>
              <a:t>11-10-2026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B326CC-7ED8-2F26-3755-DF45B99B9D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194039-C5BA-F702-E22B-752A85B293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2954D3-DE43-4291-919C-B71711149EC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110755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9646D1F-0C84-A1D3-94E3-D15950AE10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D50E8A-4560-57A2-57BC-BE5D6BC3D7F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37CC3E-387C-13EF-4055-5548FDEAECF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3C41347-D84B-494B-A1CB-761CDEA05F6C}" type="datetimeFigureOut">
              <a:rPr lang="en-IN" smtClean="0"/>
              <a:t>11-10-2026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BB7DFD-83F1-BB50-B66D-E55298C212F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E554C9-AE4A-A1B0-669E-01727A8B455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32954D3-DE43-4291-919C-B71711149EC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460167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A8655994-3739-0AB8-6586-08C1F3D67DDD}"/>
              </a:ext>
            </a:extLst>
          </p:cNvPr>
          <p:cNvSpPr txBox="1"/>
          <p:nvPr/>
        </p:nvSpPr>
        <p:spPr>
          <a:xfrm>
            <a:off x="78658" y="530943"/>
            <a:ext cx="10599174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🎬 BUILD A MOVIE RECOMMENDATION SYSTEM</a:t>
            </a:r>
          </a:p>
          <a:p>
            <a:pPr>
              <a:buNone/>
            </a:pPr>
            <a:endParaRPr lang="en-I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endParaRPr lang="en-I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Google </a:t>
            </a:r>
            <a:r>
              <a:rPr lang="en-IN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Colab</a:t>
            </a: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 Machine Learning → </a:t>
            </a:r>
            <a:r>
              <a:rPr lang="en-IN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Streamlit</a:t>
            </a:r>
            <a:endParaRPr lang="en-I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423579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5BBCEDEA-2EFC-51B2-9CFA-2718E1E26338}"/>
              </a:ext>
            </a:extLst>
          </p:cNvPr>
          <p:cNvSpPr txBox="1"/>
          <p:nvPr/>
        </p:nvSpPr>
        <p:spPr>
          <a:xfrm>
            <a:off x="0" y="0"/>
            <a:ext cx="9144000" cy="67403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4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PART A — PROJECT INTRODUCTION</a:t>
            </a:r>
          </a:p>
          <a:p>
            <a:pPr>
              <a:buNone/>
            </a:pPr>
            <a:r>
              <a:rPr lang="en-IN" sz="24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SLIDE 1 — PROJECT CHALLENGE</a:t>
            </a:r>
          </a:p>
          <a:p>
            <a:pPr>
              <a:buNone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🎬 Build a Movie Recommendation System</a:t>
            </a:r>
          </a:p>
          <a:p>
            <a:pPr>
              <a:buNone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Client Requirement</a:t>
            </a:r>
          </a:p>
          <a:p>
            <a:pPr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“When a user selects a movie, the system should recommend other movies that are similar.”</a:t>
            </a:r>
          </a:p>
          <a:p>
            <a:pPr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</a:t>
            </a:r>
          </a:p>
          <a:p>
            <a:pPr rtl="0"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 selects:</a:t>
            </a:r>
          </a:p>
          <a:p>
            <a:pPr rtl="0"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🎬 Inception</a:t>
            </a:r>
          </a:p>
          <a:p>
            <a:pPr rtl="0">
              <a:buNone/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rtl="0"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recommends:</a:t>
            </a:r>
          </a:p>
          <a:p>
            <a:pPr rtl="0">
              <a:buNone/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rtl="0"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🎬 Interstellar</a:t>
            </a:r>
          </a:p>
          <a:p>
            <a:pPr rtl="0"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🎬 The Prestige</a:t>
            </a:r>
          </a:p>
          <a:p>
            <a:pPr rtl="0"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🎬 Tenet</a:t>
            </a:r>
          </a:p>
          <a:p>
            <a:pPr rtl="0"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🎬 Memento</a:t>
            </a:r>
          </a:p>
          <a:p>
            <a:pPr>
              <a:buNone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Our Goal</a:t>
            </a:r>
          </a:p>
          <a:p>
            <a:pPr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Build a working movie recommendation product from scratch.</a:t>
            </a:r>
          </a:p>
        </p:txBody>
      </p:sp>
    </p:spTree>
    <p:extLst>
      <p:ext uri="{BB962C8B-B14F-4D97-AF65-F5344CB8AC3E}">
        <p14:creationId xmlns:p14="http://schemas.microsoft.com/office/powerpoint/2010/main" val="6396894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009B8C10-BCFB-361B-5BC1-072DE56D1B72}"/>
              </a:ext>
            </a:extLst>
          </p:cNvPr>
          <p:cNvSpPr txBox="1"/>
          <p:nvPr/>
        </p:nvSpPr>
        <p:spPr>
          <a:xfrm>
            <a:off x="0" y="0"/>
            <a:ext cx="9144000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4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SLIDE 2 — WHAT ARE WE GOING TO BUILD?</a:t>
            </a:r>
          </a:p>
          <a:p>
            <a:pPr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Our project will have two major stages:</a:t>
            </a:r>
          </a:p>
          <a:p>
            <a:pPr>
              <a:buNone/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PART 1 — Core AI / ML</a:t>
            </a:r>
          </a:p>
          <a:p>
            <a:pPr rtl="0"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Movie Dataset</a:t>
            </a:r>
          </a:p>
          <a:p>
            <a:pPr rtl="0"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↓</a:t>
            </a:r>
          </a:p>
          <a:p>
            <a:pPr rtl="0"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Cleaning</a:t>
            </a:r>
          </a:p>
          <a:p>
            <a:pPr rtl="0"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↓</a:t>
            </a:r>
          </a:p>
          <a:p>
            <a:pPr rtl="0"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 Engineering</a:t>
            </a:r>
          </a:p>
          <a:p>
            <a:pPr rtl="0"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↓</a:t>
            </a:r>
          </a:p>
          <a:p>
            <a:pPr rtl="0"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TF-IDF</a:t>
            </a:r>
          </a:p>
          <a:p>
            <a:pPr rtl="0"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↓</a:t>
            </a:r>
          </a:p>
          <a:p>
            <a:pPr rtl="0"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Cosine Similarity</a:t>
            </a:r>
          </a:p>
          <a:p>
            <a:pPr rtl="0"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↓</a:t>
            </a:r>
          </a:p>
          <a:p>
            <a:pPr rtl="0"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Recommendation Function</a:t>
            </a:r>
          </a:p>
        </p:txBody>
      </p:sp>
    </p:spTree>
    <p:extLst>
      <p:ext uri="{BB962C8B-B14F-4D97-AF65-F5344CB8AC3E}">
        <p14:creationId xmlns:p14="http://schemas.microsoft.com/office/powerpoint/2010/main" val="6787905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5DBEE53A-E088-05E9-4C6A-2AEB6B79D63E}"/>
              </a:ext>
            </a:extLst>
          </p:cNvPr>
          <p:cNvSpPr txBox="1"/>
          <p:nvPr/>
        </p:nvSpPr>
        <p:spPr>
          <a:xfrm>
            <a:off x="0" y="0"/>
            <a:ext cx="9144000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PART 2 — Applied AI</a:t>
            </a:r>
          </a:p>
          <a:p>
            <a:pPr rtl="0"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Saved ML Components</a:t>
            </a:r>
          </a:p>
          <a:p>
            <a:pPr rtl="0"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↓</a:t>
            </a:r>
          </a:p>
          <a:p>
            <a:pPr rtl="0"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Python</a:t>
            </a:r>
          </a:p>
          <a:p>
            <a:pPr rtl="0"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↓</a:t>
            </a:r>
          </a:p>
          <a:p>
            <a:pPr rtl="0">
              <a:buNone/>
            </a:pP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Streamlit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rtl="0"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↓</a:t>
            </a:r>
          </a:p>
          <a:p>
            <a:pPr rtl="0"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🎬 Movie Recommendation Web App</a:t>
            </a:r>
          </a:p>
        </p:txBody>
      </p:sp>
    </p:spTree>
    <p:extLst>
      <p:ext uri="{BB962C8B-B14F-4D97-AF65-F5344CB8AC3E}">
        <p14:creationId xmlns:p14="http://schemas.microsoft.com/office/powerpoint/2010/main" val="415230742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E89F960C-151A-ABF5-CADC-CD5050ECA458}"/>
              </a:ext>
            </a:extLst>
          </p:cNvPr>
          <p:cNvSpPr txBox="1"/>
          <p:nvPr/>
        </p:nvSpPr>
        <p:spPr>
          <a:xfrm>
            <a:off x="0" y="0"/>
            <a:ext cx="9144000" cy="63709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4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SLIDE 3 — OUR DATASET</a:t>
            </a:r>
          </a:p>
          <a:p>
            <a:pPr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 will use the </a:t>
            </a:r>
            <a:r>
              <a:rPr lang="en-IN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Pablinho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Movies Dataset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from Hugging Face.</a:t>
            </a:r>
          </a:p>
          <a:p>
            <a:pPr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Dataset:</a:t>
            </a:r>
          </a:p>
          <a:p>
            <a:pPr rtl="0"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IN" sz="24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Pablinho</a:t>
            </a:r>
            <a:r>
              <a:rPr lang="en-IN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/movies-dataset</a:t>
            </a:r>
          </a:p>
          <a:p>
            <a:pPr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Source:</a:t>
            </a:r>
          </a:p>
          <a:p>
            <a:pPr rtl="0"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IN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huggingface.co/datasets/</a:t>
            </a:r>
            <a:r>
              <a:rPr lang="en-IN" sz="24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Pablinho</a:t>
            </a:r>
            <a:r>
              <a:rPr lang="en-IN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/movies-dataset</a:t>
            </a:r>
          </a:p>
          <a:p>
            <a:pPr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dataset contains movie-related information such as:</a:t>
            </a:r>
          </a:p>
          <a:p>
            <a:pPr>
              <a:buNone/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rtl="0"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Title</a:t>
            </a:r>
          </a:p>
          <a:p>
            <a:pPr rtl="0"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Overview</a:t>
            </a:r>
          </a:p>
          <a:p>
            <a:pPr rtl="0"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Genre</a:t>
            </a:r>
          </a:p>
          <a:p>
            <a:pPr rtl="0"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Popularity</a:t>
            </a:r>
          </a:p>
          <a:p>
            <a:pPr rtl="0">
              <a:buNone/>
            </a:pP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Vote_Count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rtl="0">
              <a:buNone/>
            </a:pP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Vote_Average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rtl="0">
              <a:buNone/>
            </a:pP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Original_Language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rtl="0">
              <a:buNone/>
            </a:pP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Release_Date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rtl="0">
              <a:buNone/>
            </a:pP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Poster_Url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4589715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33313BA-FB25-7AA1-2924-72B4A628117F}"/>
              </a:ext>
            </a:extLst>
          </p:cNvPr>
          <p:cNvSpPr txBox="1"/>
          <p:nvPr/>
        </p:nvSpPr>
        <p:spPr>
          <a:xfrm>
            <a:off x="0" y="0"/>
            <a:ext cx="9144000" cy="63709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4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SLIDE 4 — WHY USE A REAL DATASET?</a:t>
            </a:r>
          </a:p>
          <a:p>
            <a:pPr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Instead of creating:</a:t>
            </a:r>
          </a:p>
          <a:p>
            <a:pPr rtl="0"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 movies</a:t>
            </a:r>
          </a:p>
          <a:p>
            <a:pPr rtl="0"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 movies</a:t>
            </a:r>
          </a:p>
          <a:p>
            <a:pPr rtl="0"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20 movies</a:t>
            </a:r>
          </a:p>
          <a:p>
            <a:pPr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 work with a much larger real-world movie dataset.</a:t>
            </a:r>
          </a:p>
          <a:p>
            <a:pPr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allows us to experience:</a:t>
            </a:r>
          </a:p>
          <a:p>
            <a:pPr lvl="1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 Dataset</a:t>
            </a:r>
          </a:p>
          <a:p>
            <a:pPr lvl="1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↓</a:t>
            </a:r>
          </a:p>
          <a:p>
            <a:pPr lvl="1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Problems</a:t>
            </a:r>
          </a:p>
          <a:p>
            <a:pPr lvl="1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↓</a:t>
            </a:r>
          </a:p>
          <a:p>
            <a:pPr lvl="1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Processing</a:t>
            </a:r>
          </a:p>
          <a:p>
            <a:pPr lvl="1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↓</a:t>
            </a:r>
          </a:p>
          <a:p>
            <a:pPr lvl="1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Machine Learning</a:t>
            </a:r>
          </a:p>
          <a:p>
            <a:pPr lvl="1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↓</a:t>
            </a:r>
          </a:p>
          <a:p>
            <a:pPr lvl="1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Application</a:t>
            </a:r>
          </a:p>
          <a:p>
            <a:pPr>
              <a:buNone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is closer to an industry workflow.</a:t>
            </a:r>
          </a:p>
        </p:txBody>
      </p:sp>
    </p:spTree>
    <p:extLst>
      <p:ext uri="{BB962C8B-B14F-4D97-AF65-F5344CB8AC3E}">
        <p14:creationId xmlns:p14="http://schemas.microsoft.com/office/powerpoint/2010/main" val="292360657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5F6F3667-AF50-FF0C-EB46-15EA1B3A6514}"/>
              </a:ext>
            </a:extLst>
          </p:cNvPr>
          <p:cNvSpPr txBox="1"/>
          <p:nvPr/>
        </p:nvSpPr>
        <p:spPr>
          <a:xfrm>
            <a:off x="-68826" y="1"/>
            <a:ext cx="9212826" cy="63709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4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SLIDE 5 — WHAT TYPE OF RECOMMENDER?</a:t>
            </a:r>
          </a:p>
          <a:p>
            <a:pPr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There are several recommendation approaches.</a:t>
            </a:r>
          </a:p>
          <a:p>
            <a:pPr lvl="1"/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Collaborative Filtering</a:t>
            </a:r>
          </a:p>
          <a:p>
            <a:pPr lvl="1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Uses:</a:t>
            </a:r>
          </a:p>
          <a:p>
            <a:pPr lvl="1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Users</a:t>
            </a:r>
          </a:p>
          <a:p>
            <a:pPr lvl="1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</a:p>
          <a:p>
            <a:pPr lvl="1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Ratings</a:t>
            </a:r>
          </a:p>
          <a:p>
            <a:pPr lvl="1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</a:p>
          <a:p>
            <a:pPr lvl="1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Watch History</a:t>
            </a:r>
          </a:p>
          <a:p>
            <a:pPr>
              <a:buNone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Content-Based Recommendation</a:t>
            </a:r>
          </a:p>
          <a:p>
            <a:pPr lvl="1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Uses:</a:t>
            </a:r>
          </a:p>
          <a:p>
            <a:pPr lvl="1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Movie Information</a:t>
            </a:r>
          </a:p>
          <a:p>
            <a:pPr lvl="1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</a:p>
          <a:p>
            <a:pPr lvl="1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Movie Features</a:t>
            </a:r>
          </a:p>
          <a:p>
            <a:pPr>
              <a:buNone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Today</a:t>
            </a:r>
          </a:p>
          <a:p>
            <a:pPr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 will build:</a:t>
            </a:r>
          </a:p>
          <a:p>
            <a:pPr>
              <a:buNone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Content-Based Movie Recommendation</a:t>
            </a:r>
          </a:p>
        </p:txBody>
      </p:sp>
    </p:spTree>
    <p:extLst>
      <p:ext uri="{BB962C8B-B14F-4D97-AF65-F5344CB8AC3E}">
        <p14:creationId xmlns:p14="http://schemas.microsoft.com/office/powerpoint/2010/main" val="208846142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E85E1A2F-C82A-023D-8C93-A6ED7B248FDE}"/>
              </a:ext>
            </a:extLst>
          </p:cNvPr>
          <p:cNvSpPr txBox="1"/>
          <p:nvPr/>
        </p:nvSpPr>
        <p:spPr>
          <a:xfrm>
            <a:off x="0" y="1"/>
            <a:ext cx="9144000" cy="60016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4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SLIDE 6 — HOW WILL OUR SYSTEM WORK?</a:t>
            </a:r>
          </a:p>
          <a:p>
            <a:pPr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Our system will ask:</a:t>
            </a:r>
          </a:p>
          <a:p>
            <a:pPr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“How similar is one movie to another?”</a:t>
            </a:r>
          </a:p>
          <a:p>
            <a:pPr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 will use:</a:t>
            </a:r>
          </a:p>
          <a:p>
            <a:pPr rtl="0"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Genre</a:t>
            </a:r>
          </a:p>
          <a:p>
            <a:pPr rtl="0"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</a:p>
          <a:p>
            <a:pPr rtl="0"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Movie Overview</a:t>
            </a:r>
          </a:p>
          <a:p>
            <a:pPr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</a:t>
            </a:r>
          </a:p>
          <a:p>
            <a:pPr rtl="0"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Inception</a:t>
            </a:r>
          </a:p>
          <a:p>
            <a:pPr rtl="0"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</a:p>
          <a:p>
            <a:pPr rtl="0"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Science Fiction</a:t>
            </a:r>
          </a:p>
          <a:p>
            <a:pPr rtl="0"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</a:p>
          <a:p>
            <a:pPr rtl="0"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Thriller</a:t>
            </a:r>
          </a:p>
          <a:p>
            <a:pPr rtl="0"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</a:p>
          <a:p>
            <a:pPr rtl="0"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Dream-based story</a:t>
            </a:r>
          </a:p>
          <a:p>
            <a:pPr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Then find movies with similar textual content.</a:t>
            </a:r>
          </a:p>
        </p:txBody>
      </p:sp>
    </p:spTree>
    <p:extLst>
      <p:ext uri="{BB962C8B-B14F-4D97-AF65-F5344CB8AC3E}">
        <p14:creationId xmlns:p14="http://schemas.microsoft.com/office/powerpoint/2010/main" val="17848574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3C35E8FF-AD76-5FC3-A96B-E4EEF6BD952F}"/>
              </a:ext>
            </a:extLst>
          </p:cNvPr>
          <p:cNvSpPr txBox="1"/>
          <p:nvPr/>
        </p:nvSpPr>
        <p:spPr>
          <a:xfrm>
            <a:off x="0" y="0"/>
            <a:ext cx="9144000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PART B — GOOGLE COLAB</a:t>
            </a:r>
          </a:p>
          <a:p>
            <a:pPr>
              <a:buNone/>
            </a:pPr>
            <a:r>
              <a:rPr lang="en-IN" sz="24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SLIDE 7 — OPEN GOOGLE COLAB</a:t>
            </a:r>
          </a:p>
          <a:p>
            <a:pPr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Open:</a:t>
            </a:r>
          </a:p>
          <a:p>
            <a:pPr>
              <a:buNone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Google </a:t>
            </a:r>
            <a:r>
              <a:rPr lang="en-IN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Colab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Create:</a:t>
            </a:r>
          </a:p>
          <a:p>
            <a:pPr rtl="0"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New Notebook</a:t>
            </a:r>
          </a:p>
          <a:p>
            <a:pPr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Rename it:</a:t>
            </a:r>
          </a:p>
          <a:p>
            <a:pPr rtl="0"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Movie_Recommendation_System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9490439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1B1B38E5-7B7E-BC14-F2A7-0A215F8E455B}"/>
              </a:ext>
            </a:extLst>
          </p:cNvPr>
          <p:cNvSpPr txBox="1"/>
          <p:nvPr/>
        </p:nvSpPr>
        <p:spPr>
          <a:xfrm>
            <a:off x="0" y="1"/>
            <a:ext cx="9144000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4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SLIDE 8 — WHY GOOGLE COLAB?</a:t>
            </a:r>
          </a:p>
          <a:p>
            <a:pPr>
              <a:buNone/>
            </a:pP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Colab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gives us: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Python environment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Easy package installation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Interactive execution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Easy experimentation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local Python setup required</a:t>
            </a:r>
          </a:p>
          <a:p>
            <a:pPr>
              <a:buNone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Today:</a:t>
            </a:r>
          </a:p>
          <a:p>
            <a:pPr rtl="0">
              <a:buNone/>
            </a:pP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Colab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Our ML Laboratory</a:t>
            </a:r>
          </a:p>
        </p:txBody>
      </p:sp>
    </p:spTree>
    <p:extLst>
      <p:ext uri="{BB962C8B-B14F-4D97-AF65-F5344CB8AC3E}">
        <p14:creationId xmlns:p14="http://schemas.microsoft.com/office/powerpoint/2010/main" val="267832701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7EFD248B-BA0D-750E-DBD2-7261B5C0DC0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69901987"/>
              </p:ext>
            </p:extLst>
          </p:nvPr>
        </p:nvGraphicFramePr>
        <p:xfrm>
          <a:off x="503903" y="2286000"/>
          <a:ext cx="10515600" cy="2286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257800">
                  <a:extLst>
                    <a:ext uri="{9D8B030D-6E8A-4147-A177-3AD203B41FA5}">
                      <a16:colId xmlns:a16="http://schemas.microsoft.com/office/drawing/2014/main" val="2440149301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356877403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Library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Purpose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4788066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datasets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Load Hugging Face dataset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8743237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pandas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Data processing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4842838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scikit-learn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ML/text processing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425917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joblib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Save ML objects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8987768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FA4FA74A-1E36-20A4-F397-103C06C0FD98}"/>
              </a:ext>
            </a:extLst>
          </p:cNvPr>
          <p:cNvSpPr txBox="1"/>
          <p:nvPr/>
        </p:nvSpPr>
        <p:spPr>
          <a:xfrm>
            <a:off x="0" y="0"/>
            <a:ext cx="12192000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4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SLIDE 9 — INSTALL REQUIRED LIBRARIES</a:t>
            </a:r>
          </a:p>
          <a:p>
            <a:pPr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Run:</a:t>
            </a:r>
          </a:p>
          <a:p>
            <a:pPr rtl="0"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!pip install datasets pandas scikit-learn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joblib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Libraries</a:t>
            </a:r>
          </a:p>
        </p:txBody>
      </p:sp>
    </p:spTree>
    <p:extLst>
      <p:ext uri="{BB962C8B-B14F-4D97-AF65-F5344CB8AC3E}">
        <p14:creationId xmlns:p14="http://schemas.microsoft.com/office/powerpoint/2010/main" val="113513533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3912046E-83AD-FFF6-42C7-52048FDA35DC}"/>
              </a:ext>
            </a:extLst>
          </p:cNvPr>
          <p:cNvSpPr txBox="1"/>
          <p:nvPr/>
        </p:nvSpPr>
        <p:spPr>
          <a:xfrm>
            <a:off x="0" y="78348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4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SLIDE 10 — IMPORT LIBRARIES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8400F49-691A-B4DD-73DB-EB6D2052D15A}"/>
              </a:ext>
            </a:extLst>
          </p:cNvPr>
          <p:cNvSpPr txBox="1"/>
          <p:nvPr/>
        </p:nvSpPr>
        <p:spPr>
          <a:xfrm>
            <a:off x="1418303" y="1255590"/>
            <a:ext cx="9355394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from datasets import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load_dataset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import pandas as pd</a:t>
            </a:r>
          </a:p>
          <a:p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from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sklearn.feature_extraction.text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import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TfidfVectorizer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from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sklearn.metrics.pairwise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import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cosine_similarity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import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joblib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457BAF3-C356-3D37-5DBC-FB26D1A5EB53}"/>
              </a:ext>
            </a:extLst>
          </p:cNvPr>
          <p:cNvSpPr txBox="1"/>
          <p:nvPr/>
        </p:nvSpPr>
        <p:spPr>
          <a:xfrm>
            <a:off x="-68826" y="4256411"/>
            <a:ext cx="12192000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400" b="1" u="none" strike="noStrike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Cosine similarity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a metric used in Machine Learning (ML) to measure </a:t>
            </a:r>
            <a:r>
              <a:rPr lang="en-IN" sz="2400" b="0" u="none" strike="noStrike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how similar two items are based on the direction they point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rather than their size. 	Imagine it as looking at two arrows drawn from the same starting point: it measures the angle between those arrows, completely ignoring how long or short they are.</a:t>
            </a:r>
          </a:p>
        </p:txBody>
      </p:sp>
    </p:spTree>
    <p:extLst>
      <p:ext uri="{BB962C8B-B14F-4D97-AF65-F5344CB8AC3E}">
        <p14:creationId xmlns:p14="http://schemas.microsoft.com/office/powerpoint/2010/main" val="299639145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8214F534-2E68-B9A2-95CE-2574B6FA7312}"/>
              </a:ext>
            </a:extLst>
          </p:cNvPr>
          <p:cNvSpPr txBox="1"/>
          <p:nvPr/>
        </p:nvSpPr>
        <p:spPr>
          <a:xfrm>
            <a:off x="0" y="0"/>
            <a:ext cx="12192000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4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PART C — LOAD HUGGING FACE DATASET</a:t>
            </a:r>
          </a:p>
          <a:p>
            <a:pPr>
              <a:buNone/>
            </a:pPr>
            <a:r>
              <a:rPr lang="en-IN" sz="24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SLIDE 11 — LOAD THE DATASET</a:t>
            </a:r>
          </a:p>
          <a:p>
            <a:pPr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Run:</a:t>
            </a:r>
          </a:p>
          <a:p>
            <a:pPr rtl="0"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 =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load_dataset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    "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Pablinho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/movies-dataset")</a:t>
            </a:r>
          </a:p>
          <a:p>
            <a:pPr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Then:</a:t>
            </a:r>
          </a:p>
          <a:p>
            <a:pPr rtl="0"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print(dataset)</a:t>
            </a:r>
          </a:p>
          <a:p>
            <a:pPr>
              <a:buNone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Question</a:t>
            </a:r>
          </a:p>
          <a:p>
            <a:pPr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did Hugging Face return?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4EF955E-9396-A44A-D60C-8627F197FE40}"/>
              </a:ext>
            </a:extLst>
          </p:cNvPr>
          <p:cNvSpPr txBox="1"/>
          <p:nvPr/>
        </p:nvSpPr>
        <p:spPr>
          <a:xfrm>
            <a:off x="260554" y="4805204"/>
            <a:ext cx="1177412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https://huggingface.co/datasets/Pablinho/movies-dataset</a:t>
            </a:r>
          </a:p>
        </p:txBody>
      </p:sp>
    </p:spTree>
    <p:extLst>
      <p:ext uri="{BB962C8B-B14F-4D97-AF65-F5344CB8AC3E}">
        <p14:creationId xmlns:p14="http://schemas.microsoft.com/office/powerpoint/2010/main" val="278442588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A78EF0A6-EEAA-C94F-B181-8F5171676256}"/>
              </a:ext>
            </a:extLst>
          </p:cNvPr>
          <p:cNvSpPr txBox="1"/>
          <p:nvPr/>
        </p:nvSpPr>
        <p:spPr>
          <a:xfrm>
            <a:off x="0" y="0"/>
            <a:ext cx="12192000" cy="3429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4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SLIDE 12 — UNDERSTAND THE DATASET</a:t>
            </a:r>
          </a:p>
          <a:p>
            <a:pPr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Check the available split:</a:t>
            </a:r>
          </a:p>
          <a:p>
            <a:pPr rtl="0"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dataset</a:t>
            </a:r>
          </a:p>
          <a:p>
            <a:pPr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Then:</a:t>
            </a:r>
          </a:p>
          <a:p>
            <a:pPr rtl="0"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dataset["train"]</a:t>
            </a:r>
          </a:p>
          <a:p>
            <a:pPr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Convert it to Pandas:</a:t>
            </a:r>
          </a:p>
          <a:p>
            <a:pPr rtl="0"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df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dataset["train"].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to_pandas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</a:t>
            </a:r>
          </a:p>
          <a:p>
            <a:pPr>
              <a:buNone/>
            </a:pPr>
            <a:b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4155570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FB6EC781-7135-59C3-F65D-97FA350E11DD}"/>
              </a:ext>
            </a:extLst>
          </p:cNvPr>
          <p:cNvSpPr txBox="1"/>
          <p:nvPr/>
        </p:nvSpPr>
        <p:spPr>
          <a:xfrm>
            <a:off x="0" y="0"/>
            <a:ext cx="9144000" cy="415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4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SLIDE 13 — FIRST LOOK AT OUR DATA</a:t>
            </a:r>
          </a:p>
          <a:p>
            <a:pPr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Run:</a:t>
            </a:r>
          </a:p>
          <a:p>
            <a:pPr rtl="0"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df.head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</a:t>
            </a:r>
          </a:p>
          <a:p>
            <a:pPr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Now we can see our movie records.</a:t>
            </a:r>
          </a:p>
          <a:p>
            <a:pPr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</a:t>
            </a:r>
          </a:p>
          <a:p>
            <a:pPr lvl="1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Title</a:t>
            </a:r>
          </a:p>
          <a:p>
            <a:pPr lvl="1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Overview</a:t>
            </a:r>
          </a:p>
          <a:p>
            <a:pPr lvl="1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Genre</a:t>
            </a:r>
          </a:p>
          <a:p>
            <a:pPr lvl="1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Popularity</a:t>
            </a:r>
          </a:p>
          <a:p>
            <a:pPr lvl="1"/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Vote_Average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...</a:t>
            </a:r>
          </a:p>
        </p:txBody>
      </p:sp>
    </p:spTree>
    <p:extLst>
      <p:ext uri="{BB962C8B-B14F-4D97-AF65-F5344CB8AC3E}">
        <p14:creationId xmlns:p14="http://schemas.microsoft.com/office/powerpoint/2010/main" val="87481811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554B8183-5AB9-6F97-8142-DA0A19CABBE5}"/>
              </a:ext>
            </a:extLst>
          </p:cNvPr>
          <p:cNvSpPr txBox="1"/>
          <p:nvPr/>
        </p:nvSpPr>
        <p:spPr>
          <a:xfrm>
            <a:off x="0" y="0"/>
            <a:ext cx="9144000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4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SLIDE 14 — HOW MANY MOVIES?</a:t>
            </a:r>
          </a:p>
          <a:p>
            <a:pPr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Run:</a:t>
            </a:r>
          </a:p>
          <a:p>
            <a:pPr rtl="0"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df.shape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output gives:</a:t>
            </a:r>
          </a:p>
          <a:p>
            <a:pPr rtl="0"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(number of rows, number of columns)</a:t>
            </a:r>
          </a:p>
          <a:p>
            <a:pPr>
              <a:buNone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Think: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 many movie records?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 many features?</a:t>
            </a:r>
          </a:p>
        </p:txBody>
      </p:sp>
    </p:spTree>
    <p:extLst>
      <p:ext uri="{BB962C8B-B14F-4D97-AF65-F5344CB8AC3E}">
        <p14:creationId xmlns:p14="http://schemas.microsoft.com/office/powerpoint/2010/main" val="313412579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753F6318-2BA2-A8E8-B38B-007B3CBC529E}"/>
              </a:ext>
            </a:extLst>
          </p:cNvPr>
          <p:cNvSpPr txBox="1"/>
          <p:nvPr/>
        </p:nvSpPr>
        <p:spPr>
          <a:xfrm>
            <a:off x="0" y="0"/>
            <a:ext cx="9144000" cy="42780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32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SLIDE 15 — CHECK COLUMN NAMES</a:t>
            </a:r>
          </a:p>
          <a:p>
            <a:pPr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Run:</a:t>
            </a:r>
          </a:p>
          <a:p>
            <a:pPr rtl="0"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df.columns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 are particularly interested in:</a:t>
            </a:r>
          </a:p>
          <a:p>
            <a:pPr lvl="1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Title</a:t>
            </a:r>
          </a:p>
          <a:p>
            <a:pPr lvl="1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Genre</a:t>
            </a:r>
          </a:p>
          <a:p>
            <a:pPr lvl="1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Overview</a:t>
            </a:r>
          </a:p>
          <a:p>
            <a:pPr lvl="1"/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Vote_Average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Popularity</a:t>
            </a:r>
          </a:p>
          <a:p>
            <a:pPr lvl="1"/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Release_Date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Poster_Url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0387944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1C5A479F-FAC1-2222-B35B-2EBD18531309}"/>
              </a:ext>
            </a:extLst>
          </p:cNvPr>
          <p:cNvSpPr txBox="1"/>
          <p:nvPr/>
        </p:nvSpPr>
        <p:spPr>
          <a:xfrm>
            <a:off x="0" y="0"/>
            <a:ext cx="9144000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4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SLIDE 16 — UNDERSTAND THE DATA</a:t>
            </a:r>
          </a:p>
          <a:p>
            <a:pPr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Run:</a:t>
            </a:r>
          </a:p>
          <a:p>
            <a:pPr rtl="0"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df.info()</a:t>
            </a:r>
          </a:p>
          <a:p>
            <a:pPr>
              <a:buNone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Why?</a:t>
            </a:r>
          </a:p>
          <a:p>
            <a:pPr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 want to know: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types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Missing values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Number of records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Available columns</a:t>
            </a:r>
          </a:p>
        </p:txBody>
      </p:sp>
    </p:spTree>
    <p:extLst>
      <p:ext uri="{BB962C8B-B14F-4D97-AF65-F5344CB8AC3E}">
        <p14:creationId xmlns:p14="http://schemas.microsoft.com/office/powerpoint/2010/main" val="333638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449B451A-452B-D595-1ACE-1FC5CF1FBFE7}"/>
              </a:ext>
            </a:extLst>
          </p:cNvPr>
          <p:cNvSpPr txBox="1"/>
          <p:nvPr/>
        </p:nvSpPr>
        <p:spPr>
          <a:xfrm>
            <a:off x="0" y="0"/>
            <a:ext cx="12192000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4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SLIDE 17 — LOOK AT IMPORTANT COLUMNS</a:t>
            </a:r>
          </a:p>
          <a:p>
            <a:pPr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Run:</a:t>
            </a:r>
          </a:p>
          <a:p>
            <a:pPr rtl="0">
              <a:buNone/>
            </a:pP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df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    [        "Title",        "Genre",        "Overview",        "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Vote_Average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"    ]].head(10)</a:t>
            </a:r>
          </a:p>
          <a:p>
            <a:pPr>
              <a:buNone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Student Task</a:t>
            </a:r>
          </a:p>
          <a:p>
            <a:pPr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Read 10 movie records.</a:t>
            </a:r>
          </a:p>
          <a:p>
            <a:pPr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Ask:</a:t>
            </a:r>
          </a:p>
          <a:p>
            <a:pPr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information could help us decide whether two movies are similar?</a:t>
            </a:r>
          </a:p>
        </p:txBody>
      </p:sp>
    </p:spTree>
    <p:extLst>
      <p:ext uri="{BB962C8B-B14F-4D97-AF65-F5344CB8AC3E}">
        <p14:creationId xmlns:p14="http://schemas.microsoft.com/office/powerpoint/2010/main" val="354438763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326C4B7A-4134-A727-6CA4-C6A991298600}"/>
              </a:ext>
            </a:extLst>
          </p:cNvPr>
          <p:cNvSpPr txBox="1"/>
          <p:nvPr/>
        </p:nvSpPr>
        <p:spPr>
          <a:xfrm>
            <a:off x="0" y="68826"/>
            <a:ext cx="12192000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4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PART D — DATA CLEANING</a:t>
            </a:r>
          </a:p>
          <a:p>
            <a:pPr>
              <a:buNone/>
            </a:pPr>
            <a:r>
              <a:rPr lang="en-IN" sz="24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SLIDE 18 — CHECK MISSING VALUES</a:t>
            </a:r>
          </a:p>
          <a:p>
            <a:pPr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Run:</a:t>
            </a:r>
          </a:p>
          <a:p>
            <a:pPr rtl="0"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df.isnull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().sum()</a:t>
            </a:r>
          </a:p>
          <a:p>
            <a:pPr>
              <a:buNone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Question</a:t>
            </a:r>
          </a:p>
          <a:p>
            <a:pPr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Are there missing values?</a:t>
            </a:r>
          </a:p>
          <a:p>
            <a:pPr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Which columns contain them?</a:t>
            </a:r>
          </a:p>
        </p:txBody>
      </p:sp>
    </p:spTree>
    <p:extLst>
      <p:ext uri="{BB962C8B-B14F-4D97-AF65-F5344CB8AC3E}">
        <p14:creationId xmlns:p14="http://schemas.microsoft.com/office/powerpoint/2010/main" val="266261340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9EEF7B8F-00E2-07FD-5E1F-5F79D85A60EE}"/>
              </a:ext>
            </a:extLst>
          </p:cNvPr>
          <p:cNvSpPr txBox="1"/>
          <p:nvPr/>
        </p:nvSpPr>
        <p:spPr>
          <a:xfrm>
            <a:off x="0" y="0"/>
            <a:ext cx="9144000" cy="415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4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SLIDE 19 — WHY DO MISSING VALUES MATTER?</a:t>
            </a:r>
          </a:p>
          <a:p>
            <a:pPr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Suppose:</a:t>
            </a:r>
          </a:p>
          <a:p>
            <a:pPr lvl="1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Genre =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NaN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Overview =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NaN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Then our recommendation system receives incomplete information.</a:t>
            </a:r>
          </a:p>
          <a:p>
            <a:pPr>
              <a:buNone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Therefore:</a:t>
            </a:r>
          </a:p>
          <a:p>
            <a:pPr rtl="0"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Bad / Missing Data</a:t>
            </a:r>
          </a:p>
          <a:p>
            <a:pPr rtl="0"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↓</a:t>
            </a:r>
          </a:p>
          <a:p>
            <a:pPr rtl="0"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Poor Features</a:t>
            </a:r>
          </a:p>
          <a:p>
            <a:pPr rtl="0"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↓</a:t>
            </a:r>
          </a:p>
          <a:p>
            <a:pPr rtl="0"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Poor Recommendations</a:t>
            </a:r>
          </a:p>
        </p:txBody>
      </p:sp>
    </p:spTree>
    <p:extLst>
      <p:ext uri="{BB962C8B-B14F-4D97-AF65-F5344CB8AC3E}">
        <p14:creationId xmlns:p14="http://schemas.microsoft.com/office/powerpoint/2010/main" val="77493798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ED2BE0C8-4779-7B45-87CE-3F4CDB52F935}"/>
              </a:ext>
            </a:extLst>
          </p:cNvPr>
          <p:cNvSpPr txBox="1"/>
          <p:nvPr/>
        </p:nvSpPr>
        <p:spPr>
          <a:xfrm>
            <a:off x="0" y="-1"/>
            <a:ext cx="12192000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4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SLIDE 20 — HANDLE TEXT MISSING VALUES</a:t>
            </a:r>
          </a:p>
          <a:p>
            <a:pPr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Run:</a:t>
            </a:r>
          </a:p>
          <a:p>
            <a:pPr rtl="0"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df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["Genre"] =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df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["Genre"].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fillna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("")</a:t>
            </a:r>
          </a:p>
          <a:p>
            <a:pPr rtl="0"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df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["Overview"] =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df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["Overview"].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fillna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("")</a:t>
            </a:r>
          </a:p>
          <a:p>
            <a:pPr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Check:</a:t>
            </a:r>
          </a:p>
          <a:p>
            <a:pPr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df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</a:p>
          <a:p>
            <a:pPr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["Genre", "Overview"]</a:t>
            </a:r>
          </a:p>
          <a:p>
            <a:pPr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].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isnull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().sum()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3968971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A5871D0-6060-3386-A50D-3BED9B4ECCD4}"/>
              </a:ext>
            </a:extLst>
          </p:cNvPr>
          <p:cNvSpPr txBox="1"/>
          <p:nvPr/>
        </p:nvSpPr>
        <p:spPr>
          <a:xfrm>
            <a:off x="0" y="0"/>
            <a:ext cx="9144000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SLIDE 21 — CHECK DUPLICATES</a:t>
            </a:r>
          </a:p>
          <a:p>
            <a:pPr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Run:</a:t>
            </a:r>
          </a:p>
          <a:p>
            <a:pPr rtl="0"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df.duplicated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().sum()</a:t>
            </a:r>
          </a:p>
          <a:p>
            <a:pPr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 can also check duplicate movie titles:</a:t>
            </a:r>
          </a:p>
          <a:p>
            <a:pPr rtl="0"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df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["Title"].duplicated().sum()</a:t>
            </a:r>
          </a:p>
        </p:txBody>
      </p:sp>
    </p:spTree>
    <p:extLst>
      <p:ext uri="{BB962C8B-B14F-4D97-AF65-F5344CB8AC3E}">
        <p14:creationId xmlns:p14="http://schemas.microsoft.com/office/powerpoint/2010/main" val="199349116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D29977F4-1D37-DB9F-B76A-9BE489A1F101}"/>
              </a:ext>
            </a:extLst>
          </p:cNvPr>
          <p:cNvSpPr txBox="1"/>
          <p:nvPr/>
        </p:nvSpPr>
        <p:spPr>
          <a:xfrm>
            <a:off x="0" y="0"/>
            <a:ext cx="9144000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SLIDE 22 — REMOVE DUPLICATE TITLES</a:t>
            </a:r>
          </a:p>
          <a:p>
            <a:pPr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our simple project:</a:t>
            </a:r>
          </a:p>
          <a:p>
            <a:pPr rtl="0"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df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df.drop_duplicates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    subset=["Title"])</a:t>
            </a:r>
          </a:p>
          <a:p>
            <a:pPr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Check:</a:t>
            </a:r>
          </a:p>
          <a:p>
            <a:pPr rtl="0"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df.shape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Now we have cleaner movie records.</a:t>
            </a:r>
          </a:p>
        </p:txBody>
      </p:sp>
    </p:spTree>
    <p:extLst>
      <p:ext uri="{BB962C8B-B14F-4D97-AF65-F5344CB8AC3E}">
        <p14:creationId xmlns:p14="http://schemas.microsoft.com/office/powerpoint/2010/main" val="69544632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E50E28A2-DCFC-0B63-F3BD-D00244A1CBF1}"/>
              </a:ext>
            </a:extLst>
          </p:cNvPr>
          <p:cNvSpPr txBox="1"/>
          <p:nvPr/>
        </p:nvSpPr>
        <p:spPr>
          <a:xfrm>
            <a:off x="0" y="1"/>
            <a:ext cx="9144000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4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PART E — FEATURE ENGINEERING</a:t>
            </a:r>
          </a:p>
          <a:p>
            <a:pPr>
              <a:buNone/>
            </a:pPr>
            <a:r>
              <a:rPr lang="en-IN" sz="24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SLIDE 23 — WHAT FEATURES SHOULD WE USE?</a:t>
            </a:r>
          </a:p>
          <a:p>
            <a:pPr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Our dataset contains many columns.</a:t>
            </a:r>
          </a:p>
          <a:p>
            <a:pPr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But our first recommendation system will focus on:</a:t>
            </a:r>
          </a:p>
          <a:p>
            <a:pPr rtl="0"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Genre</a:t>
            </a:r>
          </a:p>
          <a:p>
            <a:pPr rtl="0"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</a:p>
          <a:p>
            <a:pPr rtl="0"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Overview</a:t>
            </a:r>
          </a:p>
          <a:p>
            <a:pPr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Why?</a:t>
            </a:r>
          </a:p>
          <a:p>
            <a:pPr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Because these describe the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content of the movie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53076398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5A99B6D0-62C8-92AB-1D83-FD9CD547CFF0}"/>
              </a:ext>
            </a:extLst>
          </p:cNvPr>
          <p:cNvSpPr txBox="1"/>
          <p:nvPr/>
        </p:nvSpPr>
        <p:spPr>
          <a:xfrm>
            <a:off x="0" y="0"/>
            <a:ext cx="9144000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SLIDE 24 — CREATE A FEATURES COLUMN</a:t>
            </a:r>
          </a:p>
          <a:p>
            <a:pPr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Run:</a:t>
            </a:r>
          </a:p>
          <a:p>
            <a:pPr rtl="0"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df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["features"] = (   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df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["Genre"] + " " +   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df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["Overview"])</a:t>
            </a:r>
          </a:p>
          <a:p>
            <a:pPr rtl="0"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When Warning comes:- 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df.loc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[:, "features"] =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df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["Genre"] + " " +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df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["Overview"]</a:t>
            </a:r>
          </a:p>
          <a:p>
            <a:pPr rtl="0">
              <a:buNone/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Now:</a:t>
            </a:r>
          </a:p>
          <a:p>
            <a:pPr rtl="0"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df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    ["Title", "features"]].head()</a:t>
            </a:r>
          </a:p>
        </p:txBody>
      </p:sp>
    </p:spTree>
    <p:extLst>
      <p:ext uri="{BB962C8B-B14F-4D97-AF65-F5344CB8AC3E}">
        <p14:creationId xmlns:p14="http://schemas.microsoft.com/office/powerpoint/2010/main" val="83333561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E872B8D9-CF87-E22B-64F6-4D45E1EF24EA}"/>
              </a:ext>
            </a:extLst>
          </p:cNvPr>
          <p:cNvSpPr txBox="1"/>
          <p:nvPr/>
        </p:nvSpPr>
        <p:spPr>
          <a:xfrm>
            <a:off x="0" y="0"/>
            <a:ext cx="9144000" cy="526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4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SLIDE 25 — WHAT HAPPENED?</a:t>
            </a:r>
          </a:p>
          <a:p>
            <a:pPr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Before:</a:t>
            </a:r>
          </a:p>
          <a:p>
            <a:pPr lvl="1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Title</a:t>
            </a:r>
          </a:p>
          <a:p>
            <a:pPr lvl="1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Genre</a:t>
            </a:r>
          </a:p>
          <a:p>
            <a:pPr lvl="1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Overview</a:t>
            </a:r>
          </a:p>
          <a:p>
            <a:pPr lvl="1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After:</a:t>
            </a:r>
          </a:p>
          <a:p>
            <a:pPr lvl="1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Title</a:t>
            </a:r>
          </a:p>
          <a:p>
            <a:pPr lvl="1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Features</a:t>
            </a:r>
          </a:p>
          <a:p>
            <a:pPr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</a:t>
            </a:r>
          </a:p>
          <a:p>
            <a:pPr rtl="0"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Inception</a:t>
            </a:r>
          </a:p>
          <a:p>
            <a:pPr rtl="0">
              <a:buNone/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rtl="0"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Sci-Fi Thriller</a:t>
            </a:r>
          </a:p>
          <a:p>
            <a:pPr rtl="0"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skilled thief enters dreams...</a:t>
            </a:r>
          </a:p>
          <a:p>
            <a:pPr>
              <a:buNone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 created one text representation of each movie.</a:t>
            </a:r>
          </a:p>
        </p:txBody>
      </p:sp>
    </p:spTree>
    <p:extLst>
      <p:ext uri="{BB962C8B-B14F-4D97-AF65-F5344CB8AC3E}">
        <p14:creationId xmlns:p14="http://schemas.microsoft.com/office/powerpoint/2010/main" val="196796553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0B87DA06-EF4A-88A6-94E0-DA147FD54183}"/>
              </a:ext>
            </a:extLst>
          </p:cNvPr>
          <p:cNvSpPr txBox="1"/>
          <p:nvPr/>
        </p:nvSpPr>
        <p:spPr>
          <a:xfrm>
            <a:off x="0" y="0"/>
            <a:ext cx="12192000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4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PART F — TEXT → NUMBERS</a:t>
            </a:r>
          </a:p>
          <a:p>
            <a:pPr>
              <a:buNone/>
            </a:pPr>
            <a:r>
              <a:rPr lang="en-IN" sz="24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SLIDE 26 — THE MACHINE DOESN'T UNDERSTAND TEXT LIKE WE DO</a:t>
            </a:r>
          </a:p>
          <a:p>
            <a:pPr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Our computer sees:</a:t>
            </a:r>
          </a:p>
          <a:p>
            <a:pPr rtl="0"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"Science Fiction Thriller"</a:t>
            </a:r>
          </a:p>
          <a:p>
            <a:pPr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 need:</a:t>
            </a:r>
          </a:p>
          <a:p>
            <a:pPr rtl="0"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Text</a:t>
            </a:r>
          </a:p>
          <a:p>
            <a:pPr rtl="0"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↓</a:t>
            </a:r>
          </a:p>
          <a:p>
            <a:pPr rtl="0"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Numbers</a:t>
            </a:r>
          </a:p>
          <a:p>
            <a:pPr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Why?</a:t>
            </a:r>
          </a:p>
          <a:p>
            <a:pPr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Because our algorithm needs numerical representations to compare movies.</a:t>
            </a:r>
          </a:p>
        </p:txBody>
      </p:sp>
    </p:spTree>
    <p:extLst>
      <p:ext uri="{BB962C8B-B14F-4D97-AF65-F5344CB8AC3E}">
        <p14:creationId xmlns:p14="http://schemas.microsoft.com/office/powerpoint/2010/main" val="259853491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590321AA-9B0F-ED7F-D4F4-0F1355F828E8}"/>
              </a:ext>
            </a:extLst>
          </p:cNvPr>
          <p:cNvSpPr txBox="1"/>
          <p:nvPr/>
        </p:nvSpPr>
        <p:spPr>
          <a:xfrm>
            <a:off x="0" y="1"/>
            <a:ext cx="12192000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4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SLIDE 27 — INTRODUCE TF-IDF</a:t>
            </a:r>
          </a:p>
          <a:p>
            <a:pPr>
              <a:buNone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TF-IDF</a:t>
            </a:r>
          </a:p>
          <a:p>
            <a:pPr>
              <a:buNone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Term Frequency – Inverse Document Frequency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TF-IDF converts text into numerical features.</a:t>
            </a:r>
          </a:p>
          <a:p>
            <a:pPr rtl="0"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Movie Text</a:t>
            </a:r>
          </a:p>
          <a:p>
            <a:pPr rtl="0"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↓</a:t>
            </a:r>
          </a:p>
          <a:p>
            <a:pPr rtl="0"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TF-IDF</a:t>
            </a:r>
          </a:p>
          <a:p>
            <a:pPr rtl="0"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↓</a:t>
            </a:r>
          </a:p>
          <a:p>
            <a:pPr rtl="0"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Numerical Vector</a:t>
            </a:r>
          </a:p>
        </p:txBody>
      </p:sp>
    </p:spTree>
    <p:extLst>
      <p:ext uri="{BB962C8B-B14F-4D97-AF65-F5344CB8AC3E}">
        <p14:creationId xmlns:p14="http://schemas.microsoft.com/office/powerpoint/2010/main" val="49398189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4DC50A39-E3A3-E69D-561A-758351F84AEF}"/>
              </a:ext>
            </a:extLst>
          </p:cNvPr>
          <p:cNvSpPr txBox="1"/>
          <p:nvPr/>
        </p:nvSpPr>
        <p:spPr>
          <a:xfrm>
            <a:off x="0" y="2"/>
            <a:ext cx="12191999" cy="4893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4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SLIDE 28 — SIMPLE TF-IDF IDEA</a:t>
            </a:r>
          </a:p>
          <a:p>
            <a:pPr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Suppose we have:</a:t>
            </a:r>
          </a:p>
          <a:p>
            <a:pPr rtl="0"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Movie A:</a:t>
            </a:r>
          </a:p>
          <a:p>
            <a:pPr rtl="0"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space astronaut planet</a:t>
            </a:r>
          </a:p>
          <a:p>
            <a:pPr rtl="0">
              <a:buNone/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rtl="0"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Movie B:</a:t>
            </a:r>
          </a:p>
          <a:p>
            <a:pPr rtl="0"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space astronaut galaxy</a:t>
            </a:r>
          </a:p>
          <a:p>
            <a:pPr rtl="0">
              <a:buNone/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rtl="0"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Movie C:</a:t>
            </a:r>
          </a:p>
          <a:p>
            <a:pPr rtl="0"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fish ocean sea</a:t>
            </a:r>
          </a:p>
          <a:p>
            <a:pPr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Words that help distinguish documents receive useful weights.</a:t>
            </a:r>
          </a:p>
          <a:p>
            <a:pPr>
              <a:buNone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Goal:</a:t>
            </a:r>
          </a:p>
          <a:p>
            <a:pPr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Represent each movie as a vector.</a:t>
            </a:r>
          </a:p>
        </p:txBody>
      </p:sp>
    </p:spTree>
    <p:extLst>
      <p:ext uri="{BB962C8B-B14F-4D97-AF65-F5344CB8AC3E}">
        <p14:creationId xmlns:p14="http://schemas.microsoft.com/office/powerpoint/2010/main" val="66985006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10899D07-7300-DC43-273F-B8331411E573}"/>
              </a:ext>
            </a:extLst>
          </p:cNvPr>
          <p:cNvSpPr txBox="1"/>
          <p:nvPr/>
        </p:nvSpPr>
        <p:spPr>
          <a:xfrm>
            <a:off x="0" y="-1"/>
            <a:ext cx="12192000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4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SLIDE 29 — CREATE TF-IDF VECTORIZER</a:t>
            </a:r>
          </a:p>
          <a:p>
            <a:pPr rtl="0"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vectorizer =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TfidfVectorizer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   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stop_words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="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english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")</a:t>
            </a:r>
          </a:p>
          <a:p>
            <a:pPr>
              <a:buNone/>
            </a:pPr>
            <a:r>
              <a:rPr lang="en-IN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stop_words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="</a:t>
            </a:r>
            <a:r>
              <a:rPr lang="en-IN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english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"</a:t>
            </a:r>
          </a:p>
          <a:p>
            <a:pPr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Helps remove common English words that usually don't add much meaning.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6F95163-FD41-2939-5F1D-51E9B6312E9F}"/>
              </a:ext>
            </a:extLst>
          </p:cNvPr>
          <p:cNvSpPr txBox="1"/>
          <p:nvPr/>
        </p:nvSpPr>
        <p:spPr>
          <a:xfrm>
            <a:off x="0" y="2910348"/>
            <a:ext cx="121920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0" u="none" strike="noStrike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Stop words are 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common, high-frequency words (such as articles, prepositions, and conjunctions) that carry very little unique semantic meaning and are routinely filtered out during text processing and search tasks</a:t>
            </a:r>
          </a:p>
        </p:txBody>
      </p:sp>
    </p:spTree>
    <p:extLst>
      <p:ext uri="{BB962C8B-B14F-4D97-AF65-F5344CB8AC3E}">
        <p14:creationId xmlns:p14="http://schemas.microsoft.com/office/powerpoint/2010/main" val="64128411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EF4C1A08-F4FC-8B6E-715A-5B4750805828}"/>
              </a:ext>
            </a:extLst>
          </p:cNvPr>
          <p:cNvSpPr txBox="1"/>
          <p:nvPr/>
        </p:nvSpPr>
        <p:spPr>
          <a:xfrm>
            <a:off x="0" y="1"/>
            <a:ext cx="12192000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SLIDE 30 — TRANSFORM MOVIE TEXT</a:t>
            </a:r>
          </a:p>
          <a:p>
            <a:pPr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Run:</a:t>
            </a:r>
          </a:p>
          <a:p>
            <a:pPr rtl="0"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tfidf_matrix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vectorizer.fit_transform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   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df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["features"])</a:t>
            </a:r>
          </a:p>
          <a:p>
            <a:pPr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Now:</a:t>
            </a:r>
          </a:p>
          <a:p>
            <a:pPr rtl="0"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9,000+ Movies</a:t>
            </a:r>
          </a:p>
          <a:p>
            <a:pPr rtl="0"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↓</a:t>
            </a:r>
          </a:p>
          <a:p>
            <a:pPr rtl="0"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TF-IDF</a:t>
            </a:r>
          </a:p>
          <a:p>
            <a:pPr rtl="0"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↓</a:t>
            </a:r>
          </a:p>
          <a:p>
            <a:pPr rtl="0"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Movie Vectors</a:t>
            </a:r>
          </a:p>
        </p:txBody>
      </p:sp>
    </p:spTree>
    <p:extLst>
      <p:ext uri="{BB962C8B-B14F-4D97-AF65-F5344CB8AC3E}">
        <p14:creationId xmlns:p14="http://schemas.microsoft.com/office/powerpoint/2010/main" val="194497642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E800DCAF-1C5C-1C87-FDEE-78B3F266825A}"/>
              </a:ext>
            </a:extLst>
          </p:cNvPr>
          <p:cNvSpPr txBox="1"/>
          <p:nvPr/>
        </p:nvSpPr>
        <p:spPr>
          <a:xfrm>
            <a:off x="0" y="0"/>
            <a:ext cx="9144000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SLIDE 31 — CHECK THE RESULT</a:t>
            </a:r>
          </a:p>
          <a:p>
            <a:pPr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Run:</a:t>
            </a:r>
          </a:p>
          <a:p>
            <a:pPr rtl="0"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tfidf_matrix.shape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You will get:</a:t>
            </a:r>
          </a:p>
          <a:p>
            <a:pPr rtl="0"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(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number_of_movies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number_of_features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>
              <a:buNone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Meaning:</a:t>
            </a:r>
          </a:p>
          <a:p>
            <a:pPr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Each movie is represented by a numerical vector.</a:t>
            </a:r>
          </a:p>
        </p:txBody>
      </p:sp>
    </p:spTree>
    <p:extLst>
      <p:ext uri="{BB962C8B-B14F-4D97-AF65-F5344CB8AC3E}">
        <p14:creationId xmlns:p14="http://schemas.microsoft.com/office/powerpoint/2010/main" val="168277760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3D2ADBC4-97BF-BCA5-5567-3D6D2C055CFE}"/>
              </a:ext>
            </a:extLst>
          </p:cNvPr>
          <p:cNvSpPr txBox="1"/>
          <p:nvPr/>
        </p:nvSpPr>
        <p:spPr>
          <a:xfrm>
            <a:off x="0" y="0"/>
            <a:ext cx="9144000" cy="3416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4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PART G — SIMILARITY</a:t>
            </a:r>
          </a:p>
          <a:p>
            <a:pPr>
              <a:buNone/>
            </a:pPr>
            <a:r>
              <a:rPr lang="en-IN" sz="24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SLIDE 32 — NOW WE HAVE A NEW QUESTION</a:t>
            </a:r>
          </a:p>
          <a:p>
            <a:pPr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 have:</a:t>
            </a:r>
          </a:p>
          <a:p>
            <a:pPr rtl="0"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Inception → Vector A</a:t>
            </a:r>
          </a:p>
          <a:p>
            <a:pPr rtl="0"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Interstellar → Vector B</a:t>
            </a:r>
          </a:p>
          <a:p>
            <a:pPr rtl="0"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Batman → Vector C</a:t>
            </a:r>
          </a:p>
          <a:p>
            <a:pPr rtl="0"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Finding Nemo → Vector D</a:t>
            </a:r>
          </a:p>
          <a:p>
            <a:pPr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Question:</a:t>
            </a:r>
          </a:p>
          <a:p>
            <a:pPr>
              <a:buNone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 similar are these vectors?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0405410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B8EE6E8B-8F79-781C-B12B-B735BEF047D3}"/>
              </a:ext>
            </a:extLst>
          </p:cNvPr>
          <p:cNvSpPr txBox="1"/>
          <p:nvPr/>
        </p:nvSpPr>
        <p:spPr>
          <a:xfrm>
            <a:off x="0" y="0"/>
            <a:ext cx="9144000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4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SLIDE 33 — COSINE SIMILARITY</a:t>
            </a:r>
          </a:p>
          <a:p>
            <a:pPr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 will use:</a:t>
            </a:r>
          </a:p>
          <a:p>
            <a:pPr>
              <a:buNone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Cosine Similarity</a:t>
            </a:r>
          </a:p>
          <a:p>
            <a:pPr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measures similarity between vectors.</a:t>
            </a:r>
          </a:p>
          <a:p>
            <a:pPr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Conceptually:</a:t>
            </a:r>
          </a:p>
          <a:p>
            <a:pPr rtl="0"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Similarity ≈ 1</a:t>
            </a:r>
          </a:p>
          <a:p>
            <a:pPr rtl="0"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↓</a:t>
            </a:r>
          </a:p>
          <a:p>
            <a:pPr rtl="0"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Very similar</a:t>
            </a:r>
          </a:p>
          <a:p>
            <a:pPr rtl="0">
              <a:buNone/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rtl="0"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Similarity ≈ 0</a:t>
            </a:r>
          </a:p>
          <a:p>
            <a:pPr rtl="0"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↓</a:t>
            </a:r>
          </a:p>
          <a:p>
            <a:pPr rtl="0"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Less similar</a:t>
            </a:r>
          </a:p>
        </p:txBody>
      </p:sp>
    </p:spTree>
    <p:extLst>
      <p:ext uri="{BB962C8B-B14F-4D97-AF65-F5344CB8AC3E}">
        <p14:creationId xmlns:p14="http://schemas.microsoft.com/office/powerpoint/2010/main" val="56840273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506DC016-8403-F2E8-3936-FF655B68272D}"/>
              </a:ext>
            </a:extLst>
          </p:cNvPr>
          <p:cNvSpPr txBox="1"/>
          <p:nvPr/>
        </p:nvSpPr>
        <p:spPr>
          <a:xfrm>
            <a:off x="0" y="0"/>
            <a:ext cx="9144000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4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SLIDE 34 — CALCULATE COSINE SIMILARITY</a:t>
            </a:r>
          </a:p>
          <a:p>
            <a:pPr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Run:</a:t>
            </a:r>
          </a:p>
          <a:p>
            <a:pPr rtl="0"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similarity =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cosine_similarity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   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tfidf_matrix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Now we have:</a:t>
            </a:r>
          </a:p>
          <a:p>
            <a:pPr rtl="0"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Movie × Movie</a:t>
            </a:r>
          </a:p>
          <a:p>
            <a:pPr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similarity scores.</a:t>
            </a:r>
          </a:p>
        </p:txBody>
      </p:sp>
    </p:spTree>
    <p:extLst>
      <p:ext uri="{BB962C8B-B14F-4D97-AF65-F5344CB8AC3E}">
        <p14:creationId xmlns:p14="http://schemas.microsoft.com/office/powerpoint/2010/main" val="845954528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C9AB829-2744-E618-7513-24D4D958D53E}"/>
              </a:ext>
            </a:extLst>
          </p:cNvPr>
          <p:cNvSpPr txBox="1"/>
          <p:nvPr/>
        </p:nvSpPr>
        <p:spPr>
          <a:xfrm>
            <a:off x="0" y="0"/>
            <a:ext cx="9144000" cy="415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4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SLIDE 35 — UNDERSTAND THE SIMILARITY MATRIX</a:t>
            </a:r>
          </a:p>
          <a:p>
            <a:pPr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Conceptually:</a:t>
            </a:r>
          </a:p>
          <a:p>
            <a:pPr rtl="0"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Movie A   Movie B   Movie C</a:t>
            </a:r>
          </a:p>
          <a:p>
            <a:pPr rtl="0">
              <a:buNone/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rtl="0"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Movie A            1.00      0.82      0.10</a:t>
            </a:r>
          </a:p>
          <a:p>
            <a:pPr rtl="0">
              <a:buNone/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rtl="0"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Movie B            0.82      1.00      0.12</a:t>
            </a:r>
          </a:p>
          <a:p>
            <a:pPr rtl="0">
              <a:buNone/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rtl="0"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Movie C            0.10      0.12      1.00</a:t>
            </a:r>
          </a:p>
          <a:p>
            <a:pPr>
              <a:buNone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Why is the diagonal 1?</a:t>
            </a:r>
          </a:p>
          <a:p>
            <a:pPr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movie is perfectly similar to itself.</a:t>
            </a:r>
          </a:p>
        </p:txBody>
      </p:sp>
    </p:spTree>
    <p:extLst>
      <p:ext uri="{BB962C8B-B14F-4D97-AF65-F5344CB8AC3E}">
        <p14:creationId xmlns:p14="http://schemas.microsoft.com/office/powerpoint/2010/main" val="340627619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EC9B706-83AB-A200-F7CC-DFFE6DB4B841}"/>
              </a:ext>
            </a:extLst>
          </p:cNvPr>
          <p:cNvSpPr txBox="1"/>
          <p:nvPr/>
        </p:nvSpPr>
        <p:spPr>
          <a:xfrm>
            <a:off x="0" y="0"/>
            <a:ext cx="9144000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PART H — BUILD THE RECOMMENDER</a:t>
            </a:r>
          </a:p>
          <a:p>
            <a:pPr>
              <a:buNone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SLIDE 36 — SELECT A MOVIE</a:t>
            </a:r>
          </a:p>
          <a:p>
            <a:pPr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Let's use:</a:t>
            </a:r>
          </a:p>
          <a:p>
            <a:pPr rtl="0">
              <a:buNone/>
            </a:pP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movie_title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"Inception"</a:t>
            </a:r>
          </a:p>
          <a:p>
            <a:pPr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Find its index:</a:t>
            </a:r>
          </a:p>
          <a:p>
            <a:pPr rtl="0"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index =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df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   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df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["Title"] ==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movie_title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].index[0]</a:t>
            </a:r>
          </a:p>
        </p:txBody>
      </p:sp>
    </p:spTree>
    <p:extLst>
      <p:ext uri="{BB962C8B-B14F-4D97-AF65-F5344CB8AC3E}">
        <p14:creationId xmlns:p14="http://schemas.microsoft.com/office/powerpoint/2010/main" val="1461079393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350CC14-017C-9A83-F06B-25C7BCD06BFD}"/>
              </a:ext>
            </a:extLst>
          </p:cNvPr>
          <p:cNvSpPr txBox="1"/>
          <p:nvPr/>
        </p:nvSpPr>
        <p:spPr>
          <a:xfrm>
            <a:off x="0" y="0"/>
            <a:ext cx="12192000" cy="526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4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SLIDE 37 — GET SIMILARITY SCORES</a:t>
            </a:r>
          </a:p>
          <a:p>
            <a:pPr rtl="0"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scores = list(    enumerate(similarity[index]))</a:t>
            </a:r>
          </a:p>
          <a:p>
            <a:pPr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Each result contains:</a:t>
            </a:r>
          </a:p>
          <a:p>
            <a:pPr rtl="0"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(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movie_index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similarity_score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</a:t>
            </a:r>
          </a:p>
          <a:p>
            <a:pPr rtl="0"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(0, 1.00)</a:t>
            </a:r>
          </a:p>
          <a:p>
            <a:pPr rtl="0"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(15, 0.84)</a:t>
            </a:r>
          </a:p>
          <a:p>
            <a:pPr rtl="0"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(27, 0.78)</a:t>
            </a:r>
          </a:p>
          <a:p>
            <a:pPr rtl="0"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(42, 0.72)</a:t>
            </a:r>
          </a:p>
          <a:p>
            <a:pPr rtl="0">
              <a:buNone/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Python enumerate() function is a built-in tool used to iterate over a collection (like a list, tuple, or string) while automatically keeping track of the index counter.</a:t>
            </a:r>
          </a:p>
          <a:p>
            <a:pPr>
              <a:buNone/>
            </a:pPr>
            <a:b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38866910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762FA05-B996-E4C5-E7D6-3B4772CDBB18}"/>
              </a:ext>
            </a:extLst>
          </p:cNvPr>
          <p:cNvSpPr txBox="1"/>
          <p:nvPr/>
        </p:nvSpPr>
        <p:spPr>
          <a:xfrm>
            <a:off x="0" y="0"/>
            <a:ext cx="12192000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4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SLIDE 38 — SORT SIMILARITY SCORES</a:t>
            </a:r>
          </a:p>
          <a:p>
            <a:pPr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Run:</a:t>
            </a:r>
          </a:p>
          <a:p>
            <a:pPr rtl="0"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scores = sorted(    scores,    key=lambda x: x[1],    reverse=True)</a:t>
            </a:r>
          </a:p>
          <a:p>
            <a:pPr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Now the highest similarity appears first.</a:t>
            </a:r>
          </a:p>
          <a:p>
            <a:pPr rtl="0"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1.00</a:t>
            </a:r>
          </a:p>
          <a:p>
            <a:pPr rtl="0"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0.84</a:t>
            </a:r>
          </a:p>
          <a:p>
            <a:pPr rtl="0"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0.78</a:t>
            </a:r>
          </a:p>
          <a:p>
            <a:pPr rtl="0"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0.72</a:t>
            </a:r>
          </a:p>
          <a:p>
            <a:pPr rtl="0"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...</a:t>
            </a:r>
          </a:p>
        </p:txBody>
      </p:sp>
    </p:spTree>
    <p:extLst>
      <p:ext uri="{BB962C8B-B14F-4D97-AF65-F5344CB8AC3E}">
        <p14:creationId xmlns:p14="http://schemas.microsoft.com/office/powerpoint/2010/main" val="3351754121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01DECDE-68E7-8D0A-CD6F-6D9779FAF443}"/>
              </a:ext>
            </a:extLst>
          </p:cNvPr>
          <p:cNvSpPr txBox="1"/>
          <p:nvPr/>
        </p:nvSpPr>
        <p:spPr>
          <a:xfrm>
            <a:off x="0" y="0"/>
            <a:ext cx="9144000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SLIDE 39 — REMOVE THE MOVIE ITSELF</a:t>
            </a:r>
          </a:p>
          <a:p>
            <a:pPr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first result is:</a:t>
            </a:r>
          </a:p>
          <a:p>
            <a:pPr rtl="0"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Inception → Inception</a:t>
            </a:r>
          </a:p>
          <a:p>
            <a:pPr rtl="0"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Similarity = 1.00</a:t>
            </a:r>
          </a:p>
          <a:p>
            <a:pPr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 don't want that.</a:t>
            </a:r>
          </a:p>
          <a:p>
            <a:pPr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So:</a:t>
            </a:r>
          </a:p>
          <a:p>
            <a:pPr rtl="0"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scores = scores[1:6]</a:t>
            </a:r>
          </a:p>
          <a:p>
            <a:pPr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Now we have the top 5 other movies.</a:t>
            </a:r>
          </a:p>
        </p:txBody>
      </p:sp>
    </p:spTree>
    <p:extLst>
      <p:ext uri="{BB962C8B-B14F-4D97-AF65-F5344CB8AC3E}">
        <p14:creationId xmlns:p14="http://schemas.microsoft.com/office/powerpoint/2010/main" val="1288288764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7E3CE21-F464-F0EF-CF37-0A95DE5BC6F5}"/>
              </a:ext>
            </a:extLst>
          </p:cNvPr>
          <p:cNvSpPr txBox="1"/>
          <p:nvPr/>
        </p:nvSpPr>
        <p:spPr>
          <a:xfrm>
            <a:off x="0" y="0"/>
            <a:ext cx="9144000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4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SLIDE 40 — DISPLAY MOVIE TITLES</a:t>
            </a:r>
          </a:p>
          <a:p>
            <a:pPr rtl="0"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movie_index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score in scores:    </a:t>
            </a:r>
          </a:p>
          <a:p>
            <a:pPr rtl="0"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print(       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df.iloc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movie_index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]["Title"]    )</a:t>
            </a:r>
          </a:p>
          <a:p>
            <a:pPr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</a:t>
            </a:r>
          </a:p>
          <a:p>
            <a:pPr rtl="0"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Interstellar</a:t>
            </a:r>
          </a:p>
          <a:p>
            <a:pPr rtl="0"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Prestige</a:t>
            </a:r>
          </a:p>
          <a:p>
            <a:pPr rtl="0"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Tenet</a:t>
            </a:r>
          </a:p>
          <a:p>
            <a:pPr rtl="0"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Memento</a:t>
            </a:r>
          </a:p>
          <a:p>
            <a:pPr rtl="0"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...</a:t>
            </a:r>
          </a:p>
          <a:p>
            <a:pPr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🎉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Our recommendation algorithm works!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30522160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248914D-541A-22BB-C5A0-78A951C88EB9}"/>
              </a:ext>
            </a:extLst>
          </p:cNvPr>
          <p:cNvSpPr txBox="1"/>
          <p:nvPr/>
        </p:nvSpPr>
        <p:spPr>
          <a:xfrm>
            <a:off x="0" y="0"/>
            <a:ext cx="9144000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4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SLIDE 41 — WHY CREATE A FUNCTION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</a:p>
          <a:p>
            <a:pPr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Instead of repeating our code every time:</a:t>
            </a:r>
          </a:p>
          <a:p>
            <a:pPr rtl="0">
              <a:buNone/>
            </a:pP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recommend_movies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("Inception")</a:t>
            </a:r>
          </a:p>
          <a:p>
            <a:pPr rtl="0">
              <a:buNone/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rtl="0">
              <a:buNone/>
            </a:pP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recommend_movies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("Interstellar")</a:t>
            </a:r>
          </a:p>
          <a:p>
            <a:pPr rtl="0">
              <a:buNone/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rtl="0">
              <a:buNone/>
            </a:pP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recommend_movies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("The Batman")</a:t>
            </a:r>
          </a:p>
          <a:p>
            <a:pPr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 create one reusable function.</a:t>
            </a:r>
          </a:p>
        </p:txBody>
      </p:sp>
    </p:spTree>
    <p:extLst>
      <p:ext uri="{BB962C8B-B14F-4D97-AF65-F5344CB8AC3E}">
        <p14:creationId xmlns:p14="http://schemas.microsoft.com/office/powerpoint/2010/main" val="56599045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8F711F5-2CD4-0E74-6D1C-D14CCED52284}"/>
              </a:ext>
            </a:extLst>
          </p:cNvPr>
          <p:cNvSpPr txBox="1"/>
          <p:nvPr/>
        </p:nvSpPr>
        <p:spPr>
          <a:xfrm>
            <a:off x="0" y="0"/>
            <a:ext cx="12192000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4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SLIDE 42 — RECOMMENDATION FUNCTION</a:t>
            </a:r>
          </a:p>
          <a:p>
            <a:pPr rtl="0"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def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recommend_movies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movie_title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):    </a:t>
            </a:r>
          </a:p>
          <a:p>
            <a:pPr rtl="0"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if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movie_title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not in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df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["Title"].values:        </a:t>
            </a:r>
          </a:p>
          <a:p>
            <a:pPr rtl="0"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return []   </a:t>
            </a:r>
          </a:p>
          <a:p>
            <a:pPr rtl="0"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index =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df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       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df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["Title"] ==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movie_title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].index[0]    </a:t>
            </a:r>
          </a:p>
          <a:p>
            <a:pPr rtl="0"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scores = list(        enumerate(similarity[index])    )    </a:t>
            </a:r>
          </a:p>
          <a:p>
            <a:pPr rtl="0"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scores = sorted(        scores,        key=lambda x: x[1],        reverse=True    )    </a:t>
            </a:r>
          </a:p>
          <a:p>
            <a:pPr rtl="0"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scores = scores[1:6]    </a:t>
            </a:r>
          </a:p>
          <a:p>
            <a:pPr rtl="0"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recommendations = []    </a:t>
            </a:r>
          </a:p>
          <a:p>
            <a:pPr rtl="0"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for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movie_index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score in scores:       </a:t>
            </a:r>
          </a:p>
          <a:p>
            <a:pPr rtl="0"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recommendations.append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           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df.iloc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movie_index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]["Title"]        )  </a:t>
            </a:r>
          </a:p>
          <a:p>
            <a:pPr rtl="0"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  return recommendations</a:t>
            </a:r>
          </a:p>
        </p:txBody>
      </p:sp>
    </p:spTree>
    <p:extLst>
      <p:ext uri="{BB962C8B-B14F-4D97-AF65-F5344CB8AC3E}">
        <p14:creationId xmlns:p14="http://schemas.microsoft.com/office/powerpoint/2010/main" val="4256763651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9B1682A-A29F-3CE9-346A-1422B34A6D0B}"/>
              </a:ext>
            </a:extLst>
          </p:cNvPr>
          <p:cNvSpPr txBox="1"/>
          <p:nvPr/>
        </p:nvSpPr>
        <p:spPr>
          <a:xfrm>
            <a:off x="0" y="0"/>
            <a:ext cx="9144000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4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SLIDE 43 — TEST THE FUNCTION</a:t>
            </a:r>
          </a:p>
          <a:p>
            <a:pPr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Run:</a:t>
            </a:r>
          </a:p>
          <a:p>
            <a:pPr rtl="0">
              <a:buNone/>
            </a:pP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recommend_movies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("Inception")</a:t>
            </a:r>
          </a:p>
          <a:p>
            <a:pPr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Then:</a:t>
            </a:r>
          </a:p>
          <a:p>
            <a:pPr rtl="0">
              <a:buNone/>
            </a:pP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recommend_movies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("Interstellar")</a:t>
            </a:r>
          </a:p>
          <a:p>
            <a:pPr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Then:</a:t>
            </a:r>
          </a:p>
          <a:p>
            <a:pPr rtl="0">
              <a:buNone/>
            </a:pP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recommend_movies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("The Batman")</a:t>
            </a:r>
          </a:p>
          <a:p>
            <a:pPr>
              <a:buNone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Student Challenge</a:t>
            </a:r>
          </a:p>
          <a:p>
            <a:pPr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Test at least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5 movies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085311490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2652101B-E71E-0C8F-19E6-5738D5FDFC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23146169"/>
              </p:ext>
            </p:extLst>
          </p:nvPr>
        </p:nvGraphicFramePr>
        <p:xfrm>
          <a:off x="78658" y="2644877"/>
          <a:ext cx="11275144" cy="29998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818786">
                  <a:extLst>
                    <a:ext uri="{9D8B030D-6E8A-4147-A177-3AD203B41FA5}">
                      <a16:colId xmlns:a16="http://schemas.microsoft.com/office/drawing/2014/main" val="3457436951"/>
                    </a:ext>
                  </a:extLst>
                </a:gridCol>
                <a:gridCol w="2818786">
                  <a:extLst>
                    <a:ext uri="{9D8B030D-6E8A-4147-A177-3AD203B41FA5}">
                      <a16:colId xmlns:a16="http://schemas.microsoft.com/office/drawing/2014/main" val="133481192"/>
                    </a:ext>
                  </a:extLst>
                </a:gridCol>
                <a:gridCol w="2818786">
                  <a:extLst>
                    <a:ext uri="{9D8B030D-6E8A-4147-A177-3AD203B41FA5}">
                      <a16:colId xmlns:a16="http://schemas.microsoft.com/office/drawing/2014/main" val="4242819898"/>
                    </a:ext>
                  </a:extLst>
                </a:gridCol>
                <a:gridCol w="2818786">
                  <a:extLst>
                    <a:ext uri="{9D8B030D-6E8A-4147-A177-3AD203B41FA5}">
                      <a16:colId xmlns:a16="http://schemas.microsoft.com/office/drawing/2014/main" val="334608185"/>
                    </a:ext>
                  </a:extLst>
                </a:gridCol>
              </a:tblGrid>
              <a:tr h="49998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Selected Movie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Recommendation 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Recommendation 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Recommendation 3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51851976"/>
                  </a:ext>
                </a:extLst>
              </a:tr>
              <a:tr h="49998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Inception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42111066"/>
                  </a:ext>
                </a:extLst>
              </a:tr>
              <a:tr h="49998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Interstellar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00388909"/>
                  </a:ext>
                </a:extLst>
              </a:tr>
              <a:tr h="49998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The Batman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68028812"/>
                  </a:ext>
                </a:extLst>
              </a:tr>
              <a:tr h="49998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Avatar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5412755"/>
                  </a:ext>
                </a:extLst>
              </a:tr>
              <a:tr h="49998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Titanic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19695668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3C4375E3-553E-AA6F-4F8F-ECEBAE2A2716}"/>
              </a:ext>
            </a:extLst>
          </p:cNvPr>
          <p:cNvSpPr txBox="1"/>
          <p:nvPr/>
        </p:nvSpPr>
        <p:spPr>
          <a:xfrm>
            <a:off x="0" y="0"/>
            <a:ext cx="6096000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SLIDE 44 — CHECK YOUR RESULTS</a:t>
            </a:r>
          </a:p>
          <a:p>
            <a:pPr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Create a table:</a:t>
            </a:r>
          </a:p>
          <a:p>
            <a:pPr>
              <a:buNone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Discussion</a:t>
            </a:r>
          </a:p>
          <a:p>
            <a:pPr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Are all recommendations sensible?</a:t>
            </a:r>
          </a:p>
        </p:txBody>
      </p:sp>
    </p:spTree>
    <p:extLst>
      <p:ext uri="{BB962C8B-B14F-4D97-AF65-F5344CB8AC3E}">
        <p14:creationId xmlns:p14="http://schemas.microsoft.com/office/powerpoint/2010/main" val="2311961356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D9536C4-FCE7-43D6-9B21-772F4D7B39AF}"/>
              </a:ext>
            </a:extLst>
          </p:cNvPr>
          <p:cNvSpPr txBox="1"/>
          <p:nvPr/>
        </p:nvSpPr>
        <p:spPr>
          <a:xfrm>
            <a:off x="0" y="0"/>
            <a:ext cx="12192000" cy="415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4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PART J — ADD MORE INFORMATION</a:t>
            </a:r>
          </a:p>
          <a:p>
            <a:pPr>
              <a:buNone/>
            </a:pPr>
            <a:r>
              <a:rPr lang="en-IN" sz="24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SLIDE 45 — WE HAVE MORE THAN JUST TITLES</a:t>
            </a:r>
          </a:p>
          <a:p>
            <a:pPr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Our dataset contains:</a:t>
            </a:r>
          </a:p>
          <a:p>
            <a:pPr lvl="1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Title</a:t>
            </a:r>
          </a:p>
          <a:p>
            <a:pPr lvl="1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Genre</a:t>
            </a:r>
          </a:p>
          <a:p>
            <a:pPr lvl="1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Overview</a:t>
            </a:r>
          </a:p>
          <a:p>
            <a:pPr lvl="1"/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Vote_Average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Popularity</a:t>
            </a:r>
          </a:p>
          <a:p>
            <a:pPr lvl="1"/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Release_Date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Poster_Url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 can use these later to make our application more attractive.</a:t>
            </a:r>
          </a:p>
        </p:txBody>
      </p:sp>
    </p:spTree>
    <p:extLst>
      <p:ext uri="{BB962C8B-B14F-4D97-AF65-F5344CB8AC3E}">
        <p14:creationId xmlns:p14="http://schemas.microsoft.com/office/powerpoint/2010/main" val="3899420017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60B551D-D4D9-67AE-3CAB-F77C6557D04C}"/>
              </a:ext>
            </a:extLst>
          </p:cNvPr>
          <p:cNvSpPr txBox="1"/>
          <p:nvPr/>
        </p:nvSpPr>
        <p:spPr>
          <a:xfrm>
            <a:off x="0" y="-1"/>
            <a:ext cx="12192000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4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SLIDE 46 — SHOW SIMILARITY SCORE</a:t>
            </a:r>
          </a:p>
          <a:p>
            <a:pPr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Modify our recommendation function to return:</a:t>
            </a:r>
          </a:p>
          <a:p>
            <a:pPr lvl="1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Movie Name</a:t>
            </a:r>
          </a:p>
          <a:p>
            <a:pPr lvl="1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</a:p>
          <a:p>
            <a:pPr lvl="1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Similarity Score</a:t>
            </a:r>
          </a:p>
          <a:p>
            <a:pPr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Instead of only:</a:t>
            </a:r>
          </a:p>
          <a:p>
            <a:pPr rtl="0"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recommendations.append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   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df.iloc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movie_index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]["Title"])</a:t>
            </a:r>
          </a:p>
          <a:p>
            <a:pPr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 can store:</a:t>
            </a:r>
          </a:p>
          <a:p>
            <a:pPr rtl="0"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recommendations.append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({    "title":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df.iloc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movie_index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]["Title"],    "score": score})</a:t>
            </a:r>
          </a:p>
        </p:txBody>
      </p:sp>
    </p:spTree>
    <p:extLst>
      <p:ext uri="{BB962C8B-B14F-4D97-AF65-F5344CB8AC3E}">
        <p14:creationId xmlns:p14="http://schemas.microsoft.com/office/powerpoint/2010/main" val="2479062389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5ECED27-47F0-AE1B-C886-83A03322B47C}"/>
              </a:ext>
            </a:extLst>
          </p:cNvPr>
          <p:cNvSpPr txBox="1"/>
          <p:nvPr/>
        </p:nvSpPr>
        <p:spPr>
          <a:xfrm>
            <a:off x="0" y="-1"/>
            <a:ext cx="12192000" cy="415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4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SLIDE 47 — TEST THE SCORE</a:t>
            </a:r>
          </a:p>
          <a:p>
            <a:pPr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</a:t>
            </a:r>
          </a:p>
          <a:p>
            <a:pPr rtl="0"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Inception</a:t>
            </a:r>
          </a:p>
          <a:p>
            <a:pPr rtl="0"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↓</a:t>
            </a:r>
          </a:p>
          <a:p>
            <a:pPr rtl="0"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Interstellar     0.82</a:t>
            </a:r>
          </a:p>
          <a:p>
            <a:pPr rtl="0"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Prestige     0.76</a:t>
            </a:r>
          </a:p>
          <a:p>
            <a:pPr rtl="0"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Tenet            0.71</a:t>
            </a:r>
          </a:p>
          <a:p>
            <a:pPr rtl="0"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Memento          0.68</a:t>
            </a:r>
          </a:p>
          <a:p>
            <a:pPr>
              <a:buNone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Remember:</a:t>
            </a:r>
          </a:p>
          <a:p>
            <a:pPr lvl="3"/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Similarity score ≠ movie rating.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3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measures how similar our algorithm considers the movie content.</a:t>
            </a:r>
          </a:p>
        </p:txBody>
      </p:sp>
    </p:spTree>
    <p:extLst>
      <p:ext uri="{BB962C8B-B14F-4D97-AF65-F5344CB8AC3E}">
        <p14:creationId xmlns:p14="http://schemas.microsoft.com/office/powerpoint/2010/main" val="3215563311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85190F8-FFB1-A6B3-C138-2E86E2C907DB}"/>
              </a:ext>
            </a:extLst>
          </p:cNvPr>
          <p:cNvSpPr txBox="1"/>
          <p:nvPr/>
        </p:nvSpPr>
        <p:spPr>
          <a:xfrm>
            <a:off x="0" y="0"/>
            <a:ext cx="12192000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4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PART K — CLIENT CHANGE REQUEST</a:t>
            </a:r>
          </a:p>
          <a:p>
            <a:pPr>
              <a:buNone/>
            </a:pPr>
            <a:r>
              <a:rPr lang="en-IN" sz="24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SLIDE 48 — CTO CHANGE REQUEST</a:t>
            </a:r>
          </a:p>
          <a:p>
            <a:pPr>
              <a:buNone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Client says:</a:t>
            </a:r>
          </a:p>
          <a:p>
            <a:pPr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“The recommendation algorithm works, but customers cannot use a Google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Colab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notebook.”</a:t>
            </a:r>
          </a:p>
          <a:p>
            <a:pPr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They want:</a:t>
            </a:r>
          </a:p>
          <a:p>
            <a:pPr>
              <a:buNone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🎬 A WEB APPLICATION</a:t>
            </a:r>
          </a:p>
        </p:txBody>
      </p:sp>
    </p:spTree>
    <p:extLst>
      <p:ext uri="{BB962C8B-B14F-4D97-AF65-F5344CB8AC3E}">
        <p14:creationId xmlns:p14="http://schemas.microsoft.com/office/powerpoint/2010/main" val="2867251973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F489ADC1-D444-5F77-3193-BA66C79B3D61}"/>
              </a:ext>
            </a:extLst>
          </p:cNvPr>
          <p:cNvSpPr txBox="1"/>
          <p:nvPr/>
        </p:nvSpPr>
        <p:spPr>
          <a:xfrm>
            <a:off x="0" y="2"/>
            <a:ext cx="12192000" cy="4893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4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SLIDE 49 — COLAB IS OUR LAB</a:t>
            </a:r>
          </a:p>
          <a:p>
            <a:pPr>
              <a:buNone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Google </a:t>
            </a:r>
            <a:r>
              <a:rPr lang="en-IN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Colab</a:t>
            </a:r>
            <a:endParaRPr lang="en-I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Good for: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exploration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ML experiments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 development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Testing</a:t>
            </a:r>
          </a:p>
          <a:p>
            <a:pPr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But the customer wants:</a:t>
            </a:r>
          </a:p>
          <a:p>
            <a:pPr lvl="1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Browser</a:t>
            </a:r>
          </a:p>
          <a:p>
            <a:pPr lvl="1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↓</a:t>
            </a:r>
          </a:p>
          <a:p>
            <a:pPr lvl="1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Movie Application</a:t>
            </a:r>
          </a:p>
          <a:p>
            <a:pPr lvl="1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↓</a:t>
            </a:r>
          </a:p>
          <a:p>
            <a:pPr lvl="1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Recommendation</a:t>
            </a:r>
          </a:p>
        </p:txBody>
      </p:sp>
    </p:spTree>
    <p:extLst>
      <p:ext uri="{BB962C8B-B14F-4D97-AF65-F5344CB8AC3E}">
        <p14:creationId xmlns:p14="http://schemas.microsoft.com/office/powerpoint/2010/main" val="1207047202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5C5BC3D-F45C-3F7D-1BF5-1E476CEA0AEA}"/>
              </a:ext>
            </a:extLst>
          </p:cNvPr>
          <p:cNvSpPr txBox="1"/>
          <p:nvPr/>
        </p:nvSpPr>
        <p:spPr>
          <a:xfrm>
            <a:off x="0" y="0"/>
            <a:ext cx="12192000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4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SLIDE 50 — WHAT NEEDS TO MOVE TO THE APPLICATION?</a:t>
            </a:r>
          </a:p>
          <a:p>
            <a:pPr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Our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Streamlit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application needs access to:</a:t>
            </a:r>
          </a:p>
          <a:p>
            <a:pPr rtl="0"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Movie Data</a:t>
            </a:r>
          </a:p>
          <a:p>
            <a:pPr rtl="0"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</a:p>
          <a:p>
            <a:pPr rtl="0"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TF-IDF Vectorizer</a:t>
            </a:r>
          </a:p>
          <a:p>
            <a:pPr rtl="0"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</a:p>
          <a:p>
            <a:pPr rtl="0"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Similarity Matrix</a:t>
            </a:r>
          </a:p>
          <a:p>
            <a:pPr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Therefore, we need to save our processed work.</a:t>
            </a:r>
          </a:p>
        </p:txBody>
      </p:sp>
    </p:spTree>
    <p:extLst>
      <p:ext uri="{BB962C8B-B14F-4D97-AF65-F5344CB8AC3E}">
        <p14:creationId xmlns:p14="http://schemas.microsoft.com/office/powerpoint/2010/main" val="1324462139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6D9E7A2-60D7-BCA1-EA7A-4762EA9EADBD}"/>
              </a:ext>
            </a:extLst>
          </p:cNvPr>
          <p:cNvSpPr txBox="1"/>
          <p:nvPr/>
        </p:nvSpPr>
        <p:spPr>
          <a:xfrm>
            <a:off x="0" y="0"/>
            <a:ext cx="9144000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4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PART L — SAVE OUR ML COMPONENTS</a:t>
            </a:r>
          </a:p>
          <a:p>
            <a:pPr>
              <a:buNone/>
            </a:pPr>
            <a:r>
              <a:rPr lang="en-IN" sz="24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SLIDE 51 — SAVE THE TF-IDF VECTORIZER</a:t>
            </a:r>
          </a:p>
          <a:p>
            <a:pPr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Run:</a:t>
            </a:r>
          </a:p>
          <a:p>
            <a:pPr rtl="0">
              <a:buNone/>
            </a:pP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joblib.dump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    vectorizer,    "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vectorizer.pkl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")</a:t>
            </a:r>
          </a:p>
          <a:p>
            <a:pPr>
              <a:buNone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is this?</a:t>
            </a:r>
          </a:p>
          <a:p>
            <a:pPr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fitted TF-IDF vectorizer that learned our vocabulary and weights.</a:t>
            </a:r>
          </a:p>
        </p:txBody>
      </p:sp>
    </p:spTree>
    <p:extLst>
      <p:ext uri="{BB962C8B-B14F-4D97-AF65-F5344CB8AC3E}">
        <p14:creationId xmlns:p14="http://schemas.microsoft.com/office/powerpoint/2010/main" val="4183473835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4BFF9CF-5978-078E-5377-E1A4928DE7DD}"/>
              </a:ext>
            </a:extLst>
          </p:cNvPr>
          <p:cNvSpPr txBox="1"/>
          <p:nvPr/>
        </p:nvSpPr>
        <p:spPr>
          <a:xfrm>
            <a:off x="0" y="0"/>
            <a:ext cx="9144000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4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SLIDE 52 — SAVE THE SIMILARITY MATRIX</a:t>
            </a:r>
          </a:p>
          <a:p>
            <a:pPr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Run:</a:t>
            </a:r>
          </a:p>
          <a:p>
            <a:pPr rtl="0">
              <a:buNone/>
            </a:pP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joblib.dump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    similarity,    "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similarity.pkl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")</a:t>
            </a:r>
          </a:p>
          <a:p>
            <a:pPr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Now our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Streamlit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app can load the precomputed similarity matrix.</a:t>
            </a:r>
          </a:p>
        </p:txBody>
      </p:sp>
    </p:spTree>
    <p:extLst>
      <p:ext uri="{BB962C8B-B14F-4D97-AF65-F5344CB8AC3E}">
        <p14:creationId xmlns:p14="http://schemas.microsoft.com/office/powerpoint/2010/main" val="3400342613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9A504E4-7263-19D4-0D5C-E6C5CE04C606}"/>
              </a:ext>
            </a:extLst>
          </p:cNvPr>
          <p:cNvSpPr txBox="1"/>
          <p:nvPr/>
        </p:nvSpPr>
        <p:spPr>
          <a:xfrm>
            <a:off x="0" y="0"/>
            <a:ext cx="12192000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4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SLIDE 53 — SAVE PROCESSED MOVIE DATA</a:t>
            </a:r>
          </a:p>
          <a:p>
            <a:pPr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Run:</a:t>
            </a:r>
          </a:p>
          <a:p>
            <a:pPr rtl="0"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df.to_csv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    "movies_processed.csv",    index=False)</a:t>
            </a:r>
          </a:p>
          <a:p>
            <a:pPr>
              <a:buNone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Important</a:t>
            </a:r>
          </a:p>
          <a:p>
            <a:pPr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 are creating a processed application file.</a:t>
            </a:r>
          </a:p>
          <a:p>
            <a:pPr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original source remains:</a:t>
            </a:r>
          </a:p>
          <a:p>
            <a:pPr lvl="1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Hugging Face</a:t>
            </a:r>
          </a:p>
          <a:p>
            <a:pPr lvl="1"/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Pablinho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/movies-dataset</a:t>
            </a:r>
          </a:p>
        </p:txBody>
      </p:sp>
    </p:spTree>
    <p:extLst>
      <p:ext uri="{BB962C8B-B14F-4D97-AF65-F5344CB8AC3E}">
        <p14:creationId xmlns:p14="http://schemas.microsoft.com/office/powerpoint/2010/main" val="4232967768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A16D03F-BE21-2E3F-D436-AA8F794EE73B}"/>
              </a:ext>
            </a:extLst>
          </p:cNvPr>
          <p:cNvSpPr txBox="1"/>
          <p:nvPr/>
        </p:nvSpPr>
        <p:spPr>
          <a:xfrm>
            <a:off x="0" y="0"/>
            <a:ext cx="9144000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4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SLIDE 54 — FILES WE NEED</a:t>
            </a:r>
          </a:p>
          <a:p>
            <a:pPr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Download these from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Colab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rtl="0">
              <a:buNone/>
            </a:pP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MovieRecommendation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</a:p>
          <a:p>
            <a:pPr rtl="0"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│</a:t>
            </a:r>
          </a:p>
          <a:p>
            <a:pPr rtl="0"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├── app.py</a:t>
            </a:r>
          </a:p>
          <a:p>
            <a:pPr rtl="0"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├── movies_processed.csv</a:t>
            </a:r>
          </a:p>
          <a:p>
            <a:pPr rtl="0"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├──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vectorizer.pkl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rtl="0"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└──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similarity.pkl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app.py will be created in VS Code.</a:t>
            </a:r>
          </a:p>
        </p:txBody>
      </p:sp>
    </p:spTree>
    <p:extLst>
      <p:ext uri="{BB962C8B-B14F-4D97-AF65-F5344CB8AC3E}">
        <p14:creationId xmlns:p14="http://schemas.microsoft.com/office/powerpoint/2010/main" val="2906341390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3870E1F-52EE-57BF-E6C1-19457D929600}"/>
              </a:ext>
            </a:extLst>
          </p:cNvPr>
          <p:cNvSpPr txBox="1"/>
          <p:nvPr/>
        </p:nvSpPr>
        <p:spPr>
          <a:xfrm>
            <a:off x="0" y="0"/>
            <a:ext cx="12192000" cy="38935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4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PART M — STREAMLIT</a:t>
            </a:r>
          </a:p>
          <a:p>
            <a:pPr>
              <a:buNone/>
            </a:pPr>
            <a:r>
              <a:rPr lang="en-IN" sz="24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SLIDE 55 — OPEN VS CODE</a:t>
            </a:r>
          </a:p>
          <a:p>
            <a:pPr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Create:</a:t>
            </a:r>
          </a:p>
          <a:p>
            <a:pPr rtl="0"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MovieRecommendation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Open this folder in VS Code.</a:t>
            </a:r>
          </a:p>
          <a:p>
            <a:pPr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Place:</a:t>
            </a:r>
          </a:p>
          <a:p>
            <a:pPr lvl="1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movies_processed.csv</a:t>
            </a:r>
          </a:p>
          <a:p>
            <a:pPr lvl="1"/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vectorizer.pkl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similarity.pkl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inside the folder.</a:t>
            </a:r>
          </a:p>
        </p:txBody>
      </p:sp>
    </p:spTree>
    <p:extLst>
      <p:ext uri="{BB962C8B-B14F-4D97-AF65-F5344CB8AC3E}">
        <p14:creationId xmlns:p14="http://schemas.microsoft.com/office/powerpoint/2010/main" val="2941515880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630E024-B14F-4949-2FD6-4D3936A0CA9C}"/>
              </a:ext>
            </a:extLst>
          </p:cNvPr>
          <p:cNvSpPr txBox="1"/>
          <p:nvPr/>
        </p:nvSpPr>
        <p:spPr>
          <a:xfrm>
            <a:off x="0" y="0"/>
            <a:ext cx="9144000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4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SLIDE 56 — INSTALL STREAMLIT</a:t>
            </a:r>
          </a:p>
          <a:p>
            <a:pPr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Open the VS Code terminal.</a:t>
            </a:r>
          </a:p>
          <a:p>
            <a:pPr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Run:</a:t>
            </a:r>
          </a:p>
          <a:p>
            <a:pPr rtl="0"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python -m pip install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streamlit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pandas scikit-learn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joblib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required:</a:t>
            </a:r>
          </a:p>
          <a:p>
            <a:pPr rtl="0">
              <a:buNone/>
            </a:pP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py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-m pip install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streamlit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pandas scikit-learn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joblib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83923888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B7F350A-2EA1-6257-AF76-0E9BC5134375}"/>
              </a:ext>
            </a:extLst>
          </p:cNvPr>
          <p:cNvSpPr txBox="1"/>
          <p:nvPr/>
        </p:nvSpPr>
        <p:spPr>
          <a:xfrm>
            <a:off x="0" y="0"/>
            <a:ext cx="12192000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4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SLIDE 57 — CREATE app.py</a:t>
            </a:r>
          </a:p>
          <a:p>
            <a:pPr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Create:</a:t>
            </a:r>
          </a:p>
          <a:p>
            <a:pPr rtl="0"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app.py</a:t>
            </a:r>
          </a:p>
          <a:p>
            <a:pPr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First test:</a:t>
            </a:r>
          </a:p>
          <a:p>
            <a:pPr rtl="0"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import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streamlit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as st</a:t>
            </a:r>
          </a:p>
          <a:p>
            <a:pPr rtl="0"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st.title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    "🎬 Movie Recommendation System")</a:t>
            </a:r>
          </a:p>
          <a:p>
            <a:pPr rtl="0"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st.write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    "Welcome to our Movie AI application!")</a:t>
            </a:r>
          </a:p>
        </p:txBody>
      </p:sp>
    </p:spTree>
    <p:extLst>
      <p:ext uri="{BB962C8B-B14F-4D97-AF65-F5344CB8AC3E}">
        <p14:creationId xmlns:p14="http://schemas.microsoft.com/office/powerpoint/2010/main" val="3353795965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75F26BB-803F-1B18-A1D3-A1F4979AF9A9}"/>
              </a:ext>
            </a:extLst>
          </p:cNvPr>
          <p:cNvSpPr txBox="1"/>
          <p:nvPr/>
        </p:nvSpPr>
        <p:spPr>
          <a:xfrm>
            <a:off x="0" y="0"/>
            <a:ext cx="9144000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4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SLIDE 58 — RUN STREAMLIT</a:t>
            </a:r>
          </a:p>
          <a:p>
            <a:pPr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the terminal:</a:t>
            </a:r>
          </a:p>
          <a:p>
            <a:pPr rtl="0"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python -m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streamlit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run app.py</a:t>
            </a:r>
          </a:p>
          <a:p>
            <a:pPr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Open:</a:t>
            </a:r>
          </a:p>
          <a:p>
            <a:pPr rtl="0"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http://localhost:8501</a:t>
            </a:r>
          </a:p>
          <a:p>
            <a:pPr>
              <a:buNone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Checkpoint</a:t>
            </a:r>
          </a:p>
          <a:p>
            <a:pPr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you see:</a:t>
            </a:r>
          </a:p>
          <a:p>
            <a:pPr rtl="0"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🎬 Movie Recommendation System</a:t>
            </a:r>
          </a:p>
          <a:p>
            <a:pPr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your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Streamlit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setup works.</a:t>
            </a:r>
          </a:p>
        </p:txBody>
      </p:sp>
    </p:spTree>
    <p:extLst>
      <p:ext uri="{BB962C8B-B14F-4D97-AF65-F5344CB8AC3E}">
        <p14:creationId xmlns:p14="http://schemas.microsoft.com/office/powerpoint/2010/main" val="2481505314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754282B-D492-ABC2-DF7C-D908C9104DA0}"/>
              </a:ext>
            </a:extLst>
          </p:cNvPr>
          <p:cNvSpPr txBox="1"/>
          <p:nvPr/>
        </p:nvSpPr>
        <p:spPr>
          <a:xfrm>
            <a:off x="0" y="117987"/>
            <a:ext cx="9144000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4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PART N — LOAD OUR ML SYSTEM</a:t>
            </a:r>
          </a:p>
          <a:p>
            <a:pPr>
              <a:buNone/>
            </a:pPr>
            <a:r>
              <a:rPr lang="en-IN" sz="24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SLIDE 59 — IMPORT LIBRARIES</a:t>
            </a:r>
          </a:p>
          <a:p>
            <a:pPr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Update app.py:</a:t>
            </a:r>
          </a:p>
          <a:p>
            <a:pPr lvl="1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import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streamlit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as st</a:t>
            </a:r>
          </a:p>
          <a:p>
            <a:pPr lvl="1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import pandas as pd</a:t>
            </a:r>
          </a:p>
          <a:p>
            <a:pPr lvl="1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import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joblib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38307599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6753605-EE05-8B5C-BE46-A90F2B098C43}"/>
              </a:ext>
            </a:extLst>
          </p:cNvPr>
          <p:cNvSpPr txBox="1"/>
          <p:nvPr/>
        </p:nvSpPr>
        <p:spPr>
          <a:xfrm>
            <a:off x="0" y="0"/>
            <a:ext cx="9144000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4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SLIDE 60 — LOAD MOVIE DATA</a:t>
            </a:r>
          </a:p>
          <a:p>
            <a:pPr rtl="0">
              <a:buNone/>
            </a:pP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df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pd.read_csv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    "movies_processed.csv")</a:t>
            </a:r>
          </a:p>
          <a:p>
            <a:pPr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Check:</a:t>
            </a:r>
          </a:p>
          <a:p>
            <a:pPr rtl="0">
              <a:buNone/>
            </a:pP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st.write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   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df.head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())</a:t>
            </a:r>
          </a:p>
          <a:p>
            <a:pPr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Run the application.</a:t>
            </a:r>
          </a:p>
          <a:p>
            <a:pPr>
              <a:buNone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IN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Streamlit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app can now access our movie data.</a:t>
            </a:r>
          </a:p>
        </p:txBody>
      </p:sp>
    </p:spTree>
    <p:extLst>
      <p:ext uri="{BB962C8B-B14F-4D97-AF65-F5344CB8AC3E}">
        <p14:creationId xmlns:p14="http://schemas.microsoft.com/office/powerpoint/2010/main" val="3920115160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1701982-8658-55A3-9DD5-ACB029A2AEFB}"/>
              </a:ext>
            </a:extLst>
          </p:cNvPr>
          <p:cNvSpPr txBox="1"/>
          <p:nvPr/>
        </p:nvSpPr>
        <p:spPr>
          <a:xfrm>
            <a:off x="0" y="0"/>
            <a:ext cx="9144000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4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SLIDE 61 — LOAD THE SIMILARITY MATRIX</a:t>
            </a:r>
          </a:p>
          <a:p>
            <a:pPr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Add:</a:t>
            </a:r>
          </a:p>
          <a:p>
            <a:pPr rtl="0"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similarity =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joblib.load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    "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similarity.pkl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")</a:t>
            </a:r>
          </a:p>
          <a:p>
            <a:pPr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Now:</a:t>
            </a:r>
          </a:p>
          <a:p>
            <a:pPr rtl="0">
              <a:buNone/>
            </a:pP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Streamlit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rtl="0"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↓</a:t>
            </a:r>
          </a:p>
          <a:p>
            <a:pPr rtl="0"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Movie Data</a:t>
            </a:r>
          </a:p>
          <a:p>
            <a:pPr rtl="0"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+</a:t>
            </a:r>
          </a:p>
          <a:p>
            <a:pPr rtl="0"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Similarity Matrix</a:t>
            </a:r>
          </a:p>
        </p:txBody>
      </p:sp>
    </p:spTree>
    <p:extLst>
      <p:ext uri="{BB962C8B-B14F-4D97-AF65-F5344CB8AC3E}">
        <p14:creationId xmlns:p14="http://schemas.microsoft.com/office/powerpoint/2010/main" val="2153178388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F77CD76-D71F-6E13-9A5A-A2C4CD73F6E9}"/>
              </a:ext>
            </a:extLst>
          </p:cNvPr>
          <p:cNvSpPr txBox="1"/>
          <p:nvPr/>
        </p:nvSpPr>
        <p:spPr>
          <a:xfrm>
            <a:off x="0" y="0"/>
            <a:ext cx="9144000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4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SLIDE 62 — LOAD TF-IDF VECTORIZER</a:t>
            </a:r>
          </a:p>
          <a:p>
            <a:pPr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Add:</a:t>
            </a:r>
          </a:p>
          <a:p>
            <a:pPr rtl="0"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vectorizer =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joblib.load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    "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vectorizer.pkl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")</a:t>
            </a:r>
          </a:p>
          <a:p>
            <a:pPr>
              <a:buNone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Our application now has the important ML components.</a:t>
            </a:r>
          </a:p>
        </p:txBody>
      </p:sp>
    </p:spTree>
    <p:extLst>
      <p:ext uri="{BB962C8B-B14F-4D97-AF65-F5344CB8AC3E}">
        <p14:creationId xmlns:p14="http://schemas.microsoft.com/office/powerpoint/2010/main" val="302147860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98A15D7-3F97-7CAE-88C2-7C2E36D8A666}"/>
              </a:ext>
            </a:extLst>
          </p:cNvPr>
          <p:cNvSpPr txBox="1"/>
          <p:nvPr/>
        </p:nvSpPr>
        <p:spPr>
          <a:xfrm>
            <a:off x="0" y="0"/>
            <a:ext cx="9144000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4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PART O — BUILD THE STREAMLIT UI</a:t>
            </a:r>
          </a:p>
          <a:p>
            <a:pPr>
              <a:buNone/>
            </a:pPr>
            <a:r>
              <a:rPr lang="en-IN" sz="24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SLIDE 63 — CREATE THE TITLE</a:t>
            </a:r>
          </a:p>
          <a:p>
            <a:pPr rtl="0">
              <a:buNone/>
            </a:pP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st.title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    "🎬 Movie Recommendation System")</a:t>
            </a:r>
          </a:p>
          <a:p>
            <a:pPr rtl="0">
              <a:buNone/>
            </a:pP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st.write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    "Select a movie and discover similar movies.")</a:t>
            </a:r>
          </a:p>
        </p:txBody>
      </p:sp>
    </p:spTree>
    <p:extLst>
      <p:ext uri="{BB962C8B-B14F-4D97-AF65-F5344CB8AC3E}">
        <p14:creationId xmlns:p14="http://schemas.microsoft.com/office/powerpoint/2010/main" val="2410574585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20E8C0B-0397-B22E-2F5E-38405CA3B125}"/>
              </a:ext>
            </a:extLst>
          </p:cNvPr>
          <p:cNvSpPr txBox="1"/>
          <p:nvPr/>
        </p:nvSpPr>
        <p:spPr>
          <a:xfrm>
            <a:off x="0" y="0"/>
            <a:ext cx="9144000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4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SLIDE 64 — MOVIE DROPDOWN</a:t>
            </a:r>
          </a:p>
          <a:p>
            <a:pPr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Create:</a:t>
            </a:r>
          </a:p>
          <a:p>
            <a:pPr rtl="0"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movie =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st.selectbox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    "Select a movie",   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df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["Title"].values)</a:t>
            </a:r>
          </a:p>
          <a:p>
            <a:pPr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user sees:</a:t>
            </a:r>
          </a:p>
          <a:p>
            <a:pPr lvl="1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Select a movie:</a:t>
            </a:r>
          </a:p>
          <a:p>
            <a:pPr lvl="1"/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 Inception ▼ ]</a:t>
            </a:r>
          </a:p>
        </p:txBody>
      </p:sp>
    </p:spTree>
    <p:extLst>
      <p:ext uri="{BB962C8B-B14F-4D97-AF65-F5344CB8AC3E}">
        <p14:creationId xmlns:p14="http://schemas.microsoft.com/office/powerpoint/2010/main" val="535668893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1FAD086-1083-414F-7749-F278B3D2151C}"/>
              </a:ext>
            </a:extLst>
          </p:cNvPr>
          <p:cNvSpPr txBox="1"/>
          <p:nvPr/>
        </p:nvSpPr>
        <p:spPr>
          <a:xfrm>
            <a:off x="0" y="0"/>
            <a:ext cx="9144000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4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SLIDE 65 — ADD THE BUTTON</a:t>
            </a:r>
          </a:p>
          <a:p>
            <a:pPr rtl="0"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st.button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    "🎬 Recommend Movies"):   </a:t>
            </a:r>
          </a:p>
          <a:p>
            <a:pPr rtl="0"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st.write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        "Finding similar movies..."    )</a:t>
            </a:r>
          </a:p>
          <a:p>
            <a:pPr>
              <a:buNone/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Now our UI can respond to user actions.</a:t>
            </a:r>
          </a:p>
        </p:txBody>
      </p:sp>
    </p:spTree>
    <p:extLst>
      <p:ext uri="{BB962C8B-B14F-4D97-AF65-F5344CB8AC3E}">
        <p14:creationId xmlns:p14="http://schemas.microsoft.com/office/powerpoint/2010/main" val="3159729641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08E0F09-5E25-2C74-5905-6D525DA6EA32}"/>
              </a:ext>
            </a:extLst>
          </p:cNvPr>
          <p:cNvSpPr txBox="1"/>
          <p:nvPr/>
        </p:nvSpPr>
        <p:spPr>
          <a:xfrm>
            <a:off x="0" y="0"/>
            <a:ext cx="9144000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4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PART P — CONNECT STREAMLIT TO OUR ML LOGIC</a:t>
            </a:r>
          </a:p>
          <a:p>
            <a:pPr>
              <a:buNone/>
            </a:pPr>
            <a:r>
              <a:rPr lang="en-IN" sz="24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SLIDE 66 — FIND SELECTED MOVIE</a:t>
            </a:r>
          </a:p>
          <a:p>
            <a:pPr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Inside the button:</a:t>
            </a:r>
          </a:p>
          <a:p>
            <a:pPr rtl="0"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index =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df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   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df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["Title"] == movie].index[0]</a:t>
            </a:r>
          </a:p>
          <a:p>
            <a:pPr rtl="0">
              <a:buNone/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Now we know which movie the user selected.</a:t>
            </a:r>
          </a:p>
        </p:txBody>
      </p:sp>
    </p:spTree>
    <p:extLst>
      <p:ext uri="{BB962C8B-B14F-4D97-AF65-F5344CB8AC3E}">
        <p14:creationId xmlns:p14="http://schemas.microsoft.com/office/powerpoint/2010/main" val="2275937565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095E479-82A2-48D7-DB51-600A2D081602}"/>
              </a:ext>
            </a:extLst>
          </p:cNvPr>
          <p:cNvSpPr txBox="1"/>
          <p:nvPr/>
        </p:nvSpPr>
        <p:spPr>
          <a:xfrm>
            <a:off x="0" y="0"/>
            <a:ext cx="9144000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4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SLIDE 67 — GET SIMILAR MOVIES</a:t>
            </a:r>
          </a:p>
          <a:p>
            <a:pPr rtl="0"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scores = list(    enumerate(similarity[index]))</a:t>
            </a:r>
          </a:p>
          <a:p>
            <a:pPr>
              <a:buNone/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Sort:</a:t>
            </a:r>
          </a:p>
          <a:p>
            <a:pPr rtl="0"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scores = sorted(    scores,    key=lambda x: x[1],    reverse=True)</a:t>
            </a:r>
          </a:p>
          <a:p>
            <a:pPr>
              <a:buNone/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Remove selected movie:</a:t>
            </a:r>
          </a:p>
          <a:p>
            <a:pPr rtl="0"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scores = scores[1:6]</a:t>
            </a:r>
          </a:p>
        </p:txBody>
      </p:sp>
    </p:spTree>
    <p:extLst>
      <p:ext uri="{BB962C8B-B14F-4D97-AF65-F5344CB8AC3E}">
        <p14:creationId xmlns:p14="http://schemas.microsoft.com/office/powerpoint/2010/main" val="2109721376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90A596C-F433-659F-BCF7-22386DECCA5C}"/>
              </a:ext>
            </a:extLst>
          </p:cNvPr>
          <p:cNvSpPr txBox="1"/>
          <p:nvPr/>
        </p:nvSpPr>
        <p:spPr>
          <a:xfrm>
            <a:off x="0" y="-1"/>
            <a:ext cx="12192000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4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SLIDE 68 — DISPLAY RECOMMENDATIONS</a:t>
            </a:r>
          </a:p>
          <a:p>
            <a:pPr rtl="0">
              <a:buNone/>
            </a:pP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st.subheader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    "You may also like:")</a:t>
            </a:r>
          </a:p>
          <a:p>
            <a:pPr rtl="0"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movie_index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score in scores:    </a:t>
            </a:r>
          </a:p>
          <a:p>
            <a:pPr rtl="0"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movie_name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df.iloc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       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movie_index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]["Title"]  </a:t>
            </a:r>
          </a:p>
          <a:p>
            <a:pPr rtl="0"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st.write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        "🎬",       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movie_name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)</a:t>
            </a:r>
          </a:p>
        </p:txBody>
      </p:sp>
    </p:spTree>
    <p:extLst>
      <p:ext uri="{BB962C8B-B14F-4D97-AF65-F5344CB8AC3E}">
        <p14:creationId xmlns:p14="http://schemas.microsoft.com/office/powerpoint/2010/main" val="1630889974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136BA98-118E-C6A1-32B9-2C1ADA90CE26}"/>
              </a:ext>
            </a:extLst>
          </p:cNvPr>
          <p:cNvSpPr txBox="1"/>
          <p:nvPr/>
        </p:nvSpPr>
        <p:spPr>
          <a:xfrm>
            <a:off x="0" y="0"/>
            <a:ext cx="9144000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4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PART Q — ADD MOVIE INFORMATION</a:t>
            </a:r>
          </a:p>
          <a:p>
            <a:pPr>
              <a:buNone/>
            </a:pPr>
            <a:r>
              <a:rPr lang="en-IN" sz="24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SLIDE 69 — SHOW GENRE</a:t>
            </a:r>
          </a:p>
          <a:p>
            <a:pPr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Inside the loop:</a:t>
            </a:r>
          </a:p>
          <a:p>
            <a:pPr rtl="0"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genre =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df.iloc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   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movie_index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]["Genre"]</a:t>
            </a:r>
          </a:p>
          <a:p>
            <a:pPr rtl="0">
              <a:buNone/>
            </a:pP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st.write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    "Genre:",    genre)</a:t>
            </a:r>
          </a:p>
        </p:txBody>
      </p:sp>
    </p:spTree>
    <p:extLst>
      <p:ext uri="{BB962C8B-B14F-4D97-AF65-F5344CB8AC3E}">
        <p14:creationId xmlns:p14="http://schemas.microsoft.com/office/powerpoint/2010/main" val="2144520016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2AAC46F-3054-5708-245D-C42F6FC777FC}"/>
              </a:ext>
            </a:extLst>
          </p:cNvPr>
          <p:cNvSpPr txBox="1"/>
          <p:nvPr/>
        </p:nvSpPr>
        <p:spPr>
          <a:xfrm>
            <a:off x="0" y="0"/>
            <a:ext cx="91440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4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SLIDE 70 — SHOW RATING</a:t>
            </a:r>
          </a:p>
          <a:p>
            <a:pPr rtl="0"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rating =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df.iloc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   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movie_index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]["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Vote_Average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"]</a:t>
            </a:r>
          </a:p>
          <a:p>
            <a:pPr rtl="0">
              <a:buNone/>
            </a:pP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st.write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    f"⭐ Rating: {rating}")</a:t>
            </a:r>
          </a:p>
        </p:txBody>
      </p:sp>
    </p:spTree>
    <p:extLst>
      <p:ext uri="{BB962C8B-B14F-4D97-AF65-F5344CB8AC3E}">
        <p14:creationId xmlns:p14="http://schemas.microsoft.com/office/powerpoint/2010/main" val="2619753701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BF0264D-F798-E39F-A8C0-F0CC2A7BA137}"/>
              </a:ext>
            </a:extLst>
          </p:cNvPr>
          <p:cNvSpPr txBox="1"/>
          <p:nvPr/>
        </p:nvSpPr>
        <p:spPr>
          <a:xfrm>
            <a:off x="0" y="0"/>
            <a:ext cx="6656439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4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SLIDE 71 — SHOW SIMILARITY</a:t>
            </a:r>
          </a:p>
          <a:p>
            <a:pPr rtl="0">
              <a:buNone/>
            </a:pP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st.write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   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f"Similarity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{score:.2f}")</a:t>
            </a:r>
          </a:p>
          <a:p>
            <a:pPr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</a:t>
            </a:r>
          </a:p>
          <a:p>
            <a:pPr rtl="0"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🎬 Interstellar</a:t>
            </a:r>
          </a:p>
          <a:p>
            <a:pPr rtl="0">
              <a:buNone/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rtl="0"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Genre: Science Fiction</a:t>
            </a:r>
          </a:p>
          <a:p>
            <a:pPr rtl="0"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⭐ Rating: 8.4</a:t>
            </a:r>
          </a:p>
          <a:p>
            <a:pPr rtl="0"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Similarity: 0.82</a:t>
            </a:r>
          </a:p>
        </p:txBody>
      </p:sp>
    </p:spTree>
    <p:extLst>
      <p:ext uri="{BB962C8B-B14F-4D97-AF65-F5344CB8AC3E}">
        <p14:creationId xmlns:p14="http://schemas.microsoft.com/office/powerpoint/2010/main" val="493916514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ADA9F81-48B2-C1EE-7280-F50B528E836B}"/>
              </a:ext>
            </a:extLst>
          </p:cNvPr>
          <p:cNvSpPr txBox="1"/>
          <p:nvPr/>
        </p:nvSpPr>
        <p:spPr>
          <a:xfrm>
            <a:off x="0" y="0"/>
            <a:ext cx="9141487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4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PART R — ADD POSTER</a:t>
            </a:r>
          </a:p>
          <a:p>
            <a:pPr>
              <a:buNone/>
            </a:pPr>
            <a:r>
              <a:rPr lang="en-IN" sz="24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SLIDE 72 — USE POSTER_URL</a:t>
            </a:r>
          </a:p>
          <a:p>
            <a:pPr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Our dataset contains:</a:t>
            </a:r>
          </a:p>
          <a:p>
            <a:pPr rtl="0">
              <a:buNone/>
            </a:pP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Poster_Url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Get it:</a:t>
            </a:r>
          </a:p>
          <a:p>
            <a:pPr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</a:p>
          <a:p>
            <a:pPr rtl="0"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poster =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df.iloc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   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movie_index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]["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Poster_Url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"]</a:t>
            </a:r>
          </a:p>
        </p:txBody>
      </p:sp>
    </p:spTree>
    <p:extLst>
      <p:ext uri="{BB962C8B-B14F-4D97-AF65-F5344CB8AC3E}">
        <p14:creationId xmlns:p14="http://schemas.microsoft.com/office/powerpoint/2010/main" val="1237170966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CC8583C-0799-A467-3F0A-74D6D88754BD}"/>
              </a:ext>
            </a:extLst>
          </p:cNvPr>
          <p:cNvSpPr txBox="1"/>
          <p:nvPr/>
        </p:nvSpPr>
        <p:spPr>
          <a:xfrm>
            <a:off x="0" y="0"/>
            <a:ext cx="91440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4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SLIDE 73 — DISPLAY POSTER</a:t>
            </a:r>
          </a:p>
          <a:p>
            <a:pPr rtl="0">
              <a:buNone/>
            </a:pP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st.image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    poster,    width=180)</a:t>
            </a:r>
          </a:p>
          <a:p>
            <a:pPr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Now the recommendation looks more like a real application.</a:t>
            </a:r>
          </a:p>
        </p:txBody>
      </p:sp>
    </p:spTree>
    <p:extLst>
      <p:ext uri="{BB962C8B-B14F-4D97-AF65-F5344CB8AC3E}">
        <p14:creationId xmlns:p14="http://schemas.microsoft.com/office/powerpoint/2010/main" val="3388238927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131DE34-0712-1D03-E1C6-8229E465809E}"/>
              </a:ext>
            </a:extLst>
          </p:cNvPr>
          <p:cNvSpPr txBox="1"/>
          <p:nvPr/>
        </p:nvSpPr>
        <p:spPr>
          <a:xfrm>
            <a:off x="0" y="1"/>
            <a:ext cx="9144000" cy="60016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4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PART S — IMPROVE THE USER EXPERIENCE</a:t>
            </a:r>
          </a:p>
          <a:p>
            <a:pPr>
              <a:buNone/>
            </a:pPr>
            <a:r>
              <a:rPr lang="en-IN" sz="24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SLIDE 74 — RECOMMENDATION CARD</a:t>
            </a:r>
          </a:p>
          <a:p>
            <a:pPr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Each recommendation can show:</a:t>
            </a:r>
          </a:p>
          <a:p>
            <a:pPr rtl="0"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🎬 Interstellar</a:t>
            </a:r>
          </a:p>
          <a:p>
            <a:pPr rtl="0">
              <a:buNone/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rtl="0"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[POSTER]</a:t>
            </a:r>
          </a:p>
          <a:p>
            <a:pPr rtl="0">
              <a:buNone/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rtl="0"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Genre:</a:t>
            </a:r>
          </a:p>
          <a:p>
            <a:pPr rtl="0"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Science Fiction, Drama</a:t>
            </a:r>
          </a:p>
          <a:p>
            <a:pPr rtl="0">
              <a:buNone/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rtl="0"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⭐ Rating: 8.4</a:t>
            </a:r>
          </a:p>
          <a:p>
            <a:pPr rtl="0">
              <a:buNone/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rtl="0"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Similarity: 0.82</a:t>
            </a:r>
          </a:p>
          <a:p>
            <a:pPr>
              <a:buNone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Goal:</a:t>
            </a:r>
          </a:p>
          <a:p>
            <a:pPr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Don't just show data.</a:t>
            </a:r>
          </a:p>
          <a:p>
            <a:pPr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Create a useful user experience.</a:t>
            </a:r>
          </a:p>
        </p:txBody>
      </p:sp>
    </p:spTree>
    <p:extLst>
      <p:ext uri="{BB962C8B-B14F-4D97-AF65-F5344CB8AC3E}">
        <p14:creationId xmlns:p14="http://schemas.microsoft.com/office/powerpoint/2010/main" val="670904721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300D11B-32F5-F928-C548-049E21D62ADA}"/>
              </a:ext>
            </a:extLst>
          </p:cNvPr>
          <p:cNvSpPr txBox="1"/>
          <p:nvPr/>
        </p:nvSpPr>
        <p:spPr>
          <a:xfrm>
            <a:off x="0" y="-88490"/>
            <a:ext cx="9144000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4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SLIDE 75 — ADD MOVIE OVERVIEW</a:t>
            </a:r>
          </a:p>
          <a:p>
            <a:pPr>
              <a:buNone/>
            </a:pPr>
            <a:endParaRPr lang="en-IN" sz="2400" b="1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rtl="0"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overview =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df.iloc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   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movie_index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]["Overview"]</a:t>
            </a:r>
          </a:p>
          <a:p>
            <a:pPr rtl="0">
              <a:buNone/>
            </a:pP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st.write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    overview)</a:t>
            </a:r>
          </a:p>
          <a:p>
            <a:pPr rtl="0">
              <a:buNone/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Now users can understand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why the recommendation may be interesting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606687563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B6A53CA-7293-8415-B589-37E79A2ADA31}"/>
              </a:ext>
            </a:extLst>
          </p:cNvPr>
          <p:cNvSpPr txBox="1"/>
          <p:nvPr/>
        </p:nvSpPr>
        <p:spPr>
          <a:xfrm>
            <a:off x="0" y="1"/>
            <a:ext cx="9144000" cy="4893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4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PART T — HANDLE ERRORS</a:t>
            </a:r>
          </a:p>
          <a:p>
            <a:pPr>
              <a:buNone/>
            </a:pPr>
            <a:r>
              <a:rPr lang="en-IN" sz="24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SLIDE 76 — WHAT IF DATA IS MISSING?</a:t>
            </a:r>
          </a:p>
          <a:p>
            <a:pPr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Some movie records may have:</a:t>
            </a:r>
          </a:p>
          <a:p>
            <a:pPr rtl="0"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Missing Poster</a:t>
            </a:r>
          </a:p>
          <a:p>
            <a:pPr rtl="0"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Missing Overview</a:t>
            </a:r>
          </a:p>
          <a:p>
            <a:pPr rtl="0"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Missing Genre</a:t>
            </a:r>
          </a:p>
          <a:p>
            <a:pPr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Our application should not crash.</a:t>
            </a:r>
          </a:p>
          <a:p>
            <a:pPr>
              <a:buNone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Good application:</a:t>
            </a:r>
          </a:p>
          <a:p>
            <a:pPr rtl="0"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Missing Data</a:t>
            </a:r>
          </a:p>
          <a:p>
            <a:pPr rtl="0"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↓</a:t>
            </a:r>
          </a:p>
          <a:p>
            <a:pPr rtl="0"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Handle Gracefully</a:t>
            </a:r>
          </a:p>
          <a:p>
            <a:pPr rtl="0"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↓</a:t>
            </a:r>
          </a:p>
          <a:p>
            <a:pPr rtl="0"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Continue Application</a:t>
            </a:r>
          </a:p>
        </p:txBody>
      </p:sp>
    </p:spTree>
    <p:extLst>
      <p:ext uri="{BB962C8B-B14F-4D97-AF65-F5344CB8AC3E}">
        <p14:creationId xmlns:p14="http://schemas.microsoft.com/office/powerpoint/2010/main" val="2857603624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6311B4B-6071-D9B8-C0A3-2B8915EB565F}"/>
              </a:ext>
            </a:extLst>
          </p:cNvPr>
          <p:cNvSpPr txBox="1"/>
          <p:nvPr/>
        </p:nvSpPr>
        <p:spPr>
          <a:xfrm>
            <a:off x="0" y="0"/>
            <a:ext cx="9144000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4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SLIDE 77 — CHECK POSTER</a:t>
            </a:r>
          </a:p>
          <a:p>
            <a:pPr rtl="0"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poster:   </a:t>
            </a:r>
          </a:p>
          <a:p>
            <a:pPr rtl="0"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st.image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        poster,        width=180    )</a:t>
            </a:r>
          </a:p>
          <a:p>
            <a:pPr rtl="0">
              <a:buNone/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Otherwise:</a:t>
            </a:r>
          </a:p>
          <a:p>
            <a:pPr rtl="0">
              <a:buNone/>
            </a:pP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st.write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    "Poster not available")</a:t>
            </a:r>
          </a:p>
        </p:txBody>
      </p:sp>
    </p:spTree>
    <p:extLst>
      <p:ext uri="{BB962C8B-B14F-4D97-AF65-F5344CB8AC3E}">
        <p14:creationId xmlns:p14="http://schemas.microsoft.com/office/powerpoint/2010/main" val="3158899365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052EEC96-847A-56AB-D2ED-EA5E507CCEF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81548050"/>
              </p:ext>
            </p:extLst>
          </p:nvPr>
        </p:nvGraphicFramePr>
        <p:xfrm>
          <a:off x="226142" y="1061884"/>
          <a:ext cx="11225982" cy="4948139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612991">
                  <a:extLst>
                    <a:ext uri="{9D8B030D-6E8A-4147-A177-3AD203B41FA5}">
                      <a16:colId xmlns:a16="http://schemas.microsoft.com/office/drawing/2014/main" val="1857851642"/>
                    </a:ext>
                  </a:extLst>
                </a:gridCol>
                <a:gridCol w="5612991">
                  <a:extLst>
                    <a:ext uri="{9D8B030D-6E8A-4147-A177-3AD203B41FA5}">
                      <a16:colId xmlns:a16="http://schemas.microsoft.com/office/drawing/2014/main" val="3501688143"/>
                    </a:ext>
                  </a:extLst>
                </a:gridCol>
              </a:tblGrid>
              <a:tr h="70687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Test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Expected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66097146"/>
                  </a:ext>
                </a:extLst>
              </a:tr>
              <a:tr h="70687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Select valid movie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Recommendations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52504038"/>
                  </a:ext>
                </a:extLst>
              </a:tr>
              <a:tr h="70687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Select another movie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Different recommendations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42181"/>
                  </a:ext>
                </a:extLst>
              </a:tr>
              <a:tr h="70687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Poster exists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Poster displayed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1774179"/>
                  </a:ext>
                </a:extLst>
              </a:tr>
              <a:tr h="70687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Poster missing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App should continue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36907251"/>
                  </a:ext>
                </a:extLst>
              </a:tr>
              <a:tr h="70687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Missing genre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App should continue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53830478"/>
                  </a:ext>
                </a:extLst>
              </a:tr>
              <a:tr h="70687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Missing overview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App should continue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41142368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7E6FD3C5-A3D7-8C1E-9CDB-EB9BE1CAC383}"/>
              </a:ext>
            </a:extLst>
          </p:cNvPr>
          <p:cNvSpPr txBox="1"/>
          <p:nvPr/>
        </p:nvSpPr>
        <p:spPr>
          <a:xfrm>
            <a:off x="0" y="0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4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SLIDE 81 — TEST CASES</a:t>
            </a:r>
          </a:p>
        </p:txBody>
      </p:sp>
    </p:spTree>
    <p:extLst>
      <p:ext uri="{BB962C8B-B14F-4D97-AF65-F5344CB8AC3E}">
        <p14:creationId xmlns:p14="http://schemas.microsoft.com/office/powerpoint/2010/main" val="125864496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532</TotalTime>
  <Words>3377</Words>
  <Application>Microsoft Office PowerPoint</Application>
  <PresentationFormat>Widescreen</PresentationFormat>
  <Paragraphs>721</Paragraphs>
  <Slides>80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80</vt:i4>
      </vt:variant>
    </vt:vector>
  </HeadingPairs>
  <TitlesOfParts>
    <vt:vector size="85" baseType="lpstr">
      <vt:lpstr>Aptos</vt:lpstr>
      <vt:lpstr>Aptos Display</vt:lpstr>
      <vt:lpstr>Arial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faraz alam</dc:creator>
  <cp:lastModifiedBy>faraz alam</cp:lastModifiedBy>
  <cp:revision>204</cp:revision>
  <dcterms:created xsi:type="dcterms:W3CDTF">2026-09-28T10:11:10Z</dcterms:created>
  <dcterms:modified xsi:type="dcterms:W3CDTF">2026-10-11T04:56:43Z</dcterms:modified>
</cp:coreProperties>
</file>