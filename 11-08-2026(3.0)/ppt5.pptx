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94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95" r:id="rId27"/>
    <p:sldId id="280" r:id="rId28"/>
    <p:sldId id="281" r:id="rId29"/>
    <p:sldId id="296" r:id="rId30"/>
    <p:sldId id="282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504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bycroft.net/llm" TargetMode="External"/><Relationship Id="rId2" Type="http://schemas.openxmlformats.org/officeDocument/2006/relationships/hyperlink" Target="https://poloclub.github.io/transformer-explaine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81000"/>
            <a:ext cx="7848600" cy="365760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MODULE 3 — Transformers &amp; LLM</a:t>
            </a:r>
          </a:p>
          <a:p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Session :8 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       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Why Transformers Changed Everything</a:t>
            </a:r>
          </a:p>
          <a:p>
            <a:endParaRPr lang="en-US" sz="2800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81534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SLIDE 1:- Why Transformers Changed Everything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From Sequential Memory to Attention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RNN → Attention → Self-Attention → Transformers → LLMs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Question for Students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How can ChatGPT understand a 10-page document and connect information from different parts?</a:t>
            </a:r>
          </a:p>
          <a:p>
            <a:pPr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Today's session answers this question.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 — The Big Hook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 You Remember This?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student who joined the AI Bootcamp in July and completed Python, Machine Learning, Deep Learning and NLP sessions successfully submitted his final project yesterday."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Q- What did the student submit?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Q- Who submitted the final project?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To understand a sentence, we often need to connect information that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far apart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was difficult for older sequential models.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Students: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Final project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Students: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student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5 students to stand in a line.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Take one word each: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The → student → from → BCA → succeeded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first student passes information to the second.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Each student can only communicate with the next student.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was the first word?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They may forget or distort information.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 Point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similar to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sequential information flow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Imagine you could directly look at every word.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That is closer to the main idea behind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Attention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 — Before Transformers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How Did Earlier Language Models Process Text?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One popular approach was: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RNN — Recurrent Neural Network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 → love → learning → Artificial → Intelligence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Previous information flows forward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 every step: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Current Word + Previous Memory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Next Hidden State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Important Idea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RNN processes text one step at a time.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4 — What Is Sequential Processing?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Sentence: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 love learning Artificial Intelligence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RNN processes: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1 → I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2 → love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3 → learning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4 → Artificial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5 → Intelligence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Question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 Step 5 happen before Step 4?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❌ No.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RNN must wait.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7010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5100" b="1" u="sng" dirty="0" smtClean="0">
                <a:latin typeface="Times New Roman" pitchFamily="18" charset="0"/>
                <a:cs typeface="Times New Roman" pitchFamily="18" charset="0"/>
              </a:rPr>
              <a:t>ACTIVITY 2 — Human RNN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Students sit in a row.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Given sentence: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         “Artificial Intelligence will transform the future of software development.”</a:t>
            </a:r>
          </a:p>
          <a:p>
            <a:pPr>
              <a:buNone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Rules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Student 1 reads the first word.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Student 2 receives: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             Word 2 + Memory from Student 1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Student 3 receives: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             Word 3 + Memory from Student 2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Continue.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Ask: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           What happens if Student 5 makes a mistake?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Answer: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        The incorrect information can affect later students.</a:t>
            </a:r>
          </a:p>
          <a:p>
            <a:pPr>
              <a:buNone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Key Point</a:t>
            </a:r>
          </a:p>
          <a:p>
            <a:pPr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                             Sequential processing can create </a:t>
            </a: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information bottlenecks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5 — Problem 1: Long-Term Dependencies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Consider This Sentence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AI student who attended the bootcamp for three months and completed many projects ... was successful.“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Ask: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Who was successful?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Answer: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AI student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But "AI student" and "was successful" are far apart.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model needs to remember important information over a long distance.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called a: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Long-Term Dependency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81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3 — Find the Connection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girl who studied Python, Java, Machine Learning, Deep Learning, NLP and Transformers for several months became an AI developer.“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Things to connect: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girl ─────────────────────→ AI developer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How many words are between these related concepts?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Explain: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Older sequential models may struggle when important information is far apart.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6 — Problems With RNNs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Sequential Processing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Must process: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Word 1 → Word 2 → Word 3 → Word 4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Cannot easily process all words simultaneously.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 Long-Term Dependency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Information from earlier words may become weaker over long sequences.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3. Slow Training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a sentence with 100 words: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2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3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...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100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The next computation depends on the previous one.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 Information Bottleneck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Important information has to travel through hidden states.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7 — RNN Visualization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Word 1 → [Memory] → Word 2 → [Memory] → Word 3 → [Memory] → Word 4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Question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What if Word 4 needs information directly from Word 1?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RNN: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Word 1 → Word 2 → Word 3 → Word 4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travels through everything.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This is inefficient.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8 — The Solution: Attention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If the Model Could Look Directly at Important Words?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Instead of: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Word 1 → Word 2 → Word 3 → Word 4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Imagine: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Word 4 ─────────→ Word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└────→ Word 2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     └─→ Word 3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model decides: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Which information should I focus on?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the basic intuition behind: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ATTENTION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SLIDE 9 — Human Attention Example</a:t>
            </a:r>
          </a:p>
          <a:p>
            <a:pPr>
              <a:buNone/>
            </a:pPr>
            <a:endParaRPr lang="en-US" sz="36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Read this question: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100" b="1" dirty="0" err="1" smtClean="0">
                <a:latin typeface="Times New Roman" pitchFamily="18" charset="0"/>
                <a:cs typeface="Times New Roman" pitchFamily="18" charset="0"/>
              </a:rPr>
              <a:t>Shashank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 Sir teaches Artificial Intelligence to BCA students."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Question: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Who teaches AI?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Your brain focuses mainly on:</a:t>
            </a:r>
          </a:p>
          <a:p>
            <a:pPr>
              <a:buNone/>
            </a:pPr>
            <a:r>
              <a:rPr lang="en-IN" sz="3100" b="1" dirty="0" err="1" smtClean="0">
                <a:latin typeface="Times New Roman" pitchFamily="18" charset="0"/>
                <a:cs typeface="Times New Roman" pitchFamily="18" charset="0"/>
              </a:rPr>
              <a:t>Shashank</a:t>
            </a:r>
            <a:r>
              <a:rPr lang="en-IN" sz="3100" b="1" dirty="0" smtClean="0">
                <a:latin typeface="Times New Roman" pitchFamily="18" charset="0"/>
                <a:cs typeface="Times New Roman" pitchFamily="18" charset="0"/>
              </a:rPr>
              <a:t> sir</a:t>
            </a:r>
            <a:endParaRPr lang="en-US" sz="31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It does not give equal importance to every word.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Question:</a:t>
            </a:r>
          </a:p>
          <a:p>
            <a:pPr lvl="1"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Who are being taught?</a:t>
            </a:r>
          </a:p>
          <a:p>
            <a:pPr lvl="1"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Your focus changes to: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BCA students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Teaching Point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question/context changes what we pay attention to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AI Attention works similarly: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Focus more on relevant information.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4 — Attention Game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AI engineer built a powerful model using a large dataset in the research lab.“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Question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Who built the model?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Question 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was used to build the model?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Question 3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Where was it built?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943088" cy="6172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Question 1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Who built the model?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Students highlight: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 AI engineer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Question 2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What was used to build the model?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Students highlight: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  large dataset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Question 3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Where was it built?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Students highlight: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 research lab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Important Point</a:t>
            </a:r>
          </a:p>
          <a:p>
            <a:pPr lvl="1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Same sentence.</a:t>
            </a:r>
          </a:p>
          <a:p>
            <a:pPr lvl="1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Different question.</a:t>
            </a:r>
          </a:p>
          <a:p>
            <a:pPr lvl="1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Different attention.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10 — Attention Scores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The model does not simply say: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 Important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gives different levels of importance.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Question: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Who built the model?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19200" y="228600"/>
          <a:ext cx="771525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7625"/>
                <a:gridCol w="385762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Attention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0.02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0.30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0.65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built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0.10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0.05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0.03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66800" y="4419600"/>
            <a:ext cx="784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are simplified example values.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Real models learn attention weights mathematically.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76200"/>
            <a:ext cx="7848600" cy="6248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11 — From Attention to Self-Attention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Attention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Focus on relevant information.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Self-Attention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Every word can look at other words in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same input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"The bank approved the loan.“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word: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bank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looks at: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approved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loan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helps understand: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Bank = Financial institution</a:t>
            </a:r>
          </a:p>
          <a:p>
            <a:pPr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12 — Why Self-Attention Is Powerful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animal didn't cross the road because it was too tired."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does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refer to?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Answer: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animal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model needs to connect: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─────────→ animal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Self-Attention helps a word identify which other words are most relevant.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5 — What Does "It" Mean?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Display sentences.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Sentence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The robot stopped because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had no battery.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What is "it"?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Sentence 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computer processed the image because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was high quality.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What is "it"?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Sentence 3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students submitted the project after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completed testing.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Who are "they"?</a:t>
            </a:r>
          </a:p>
          <a:p>
            <a:pPr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2400"/>
            <a:ext cx="77906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→ Robot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→ Image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→ Students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Understanding these relationships is a language problem.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Self-Attention helps models learn them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13 — Self-Attention Visualization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Sentence: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The cat sat on the mat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Focus on: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cat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may pay attention to: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The   cat   sat   on     the    mat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0.1   0.4   0.3  0.05  0.05   0.1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Focus on: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Attention can be different.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The   cat    sat    on     the   mat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0.05   0.2   0.2   0.15  0.1   0.3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Idea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Every word can have a different attention pattern.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ACTIVITY 6 — Build an Attention Map</a:t>
            </a:r>
          </a:p>
          <a:p>
            <a:pPr>
              <a:buNone/>
            </a:pPr>
            <a:endParaRPr lang="en-US" sz="36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Sentence:- 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                       The student solved the difficult AI problem.</a:t>
            </a:r>
          </a:p>
          <a:p>
            <a:pPr>
              <a:buNone/>
            </a:pP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Focus on: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student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Which words are most related?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Focus on: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solved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Which words are most related?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C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Focus on: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problem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Which words are most related?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 ← solved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 ← AI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problem ← difficult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problem ← AI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real Transformer learns these relationships automatically.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914400"/>
          <a:ext cx="763905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525"/>
                <a:gridCol w="3819525"/>
              </a:tblGrid>
              <a:tr h="13716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Attention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Self-Attention</a:t>
                      </a:r>
                    </a:p>
                  </a:txBody>
                  <a:tcPr anchor="ctr"/>
                </a:tc>
              </a:tr>
              <a:tr h="38766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Focuses on relevant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Each token focuses on other tokens in the same input</a:t>
                      </a:r>
                    </a:p>
                  </a:txBody>
                  <a:tcPr anchor="ctr"/>
                </a:tc>
              </a:tr>
              <a:tr h="38766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Often relates one sequence/context to another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Relationships are learned within one sequence</a:t>
                      </a:r>
                    </a:p>
                  </a:txBody>
                  <a:tcPr anchor="ctr"/>
                </a:tc>
              </a:tr>
              <a:tr h="38766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Selects important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Creates context-aware token representations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990600" y="152400"/>
            <a:ext cx="63444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14 — Attention vs Self-Attention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990600" y="3947268"/>
            <a:ext cx="9525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Simple Analogy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Attention: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    "Look at the important page."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Self-Attention: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     "Every word looks at the other words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decides which ones matter."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295400"/>
          </a:xfrm>
        </p:spPr>
        <p:txBody>
          <a:bodyPr>
            <a:no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SLIDE 15 — The Transformer Idea</a:t>
            </a:r>
            <a:br>
              <a:rPr lang="en-US" sz="2800" b="1" u="sng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85800"/>
            <a:ext cx="7943088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Stop Processing Everything Strictly One-by-One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Instead: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Input Tokens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All Tokens Processed Together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Self-Attention Finds Relationships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Context-Aware Representations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love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learning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AI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A Transformer can compare relationships between tokens through attention mechanisms rather than passing information only step-by-step.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0600" y="137145"/>
            <a:ext cx="8153400" cy="6124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ACTIVITY 7 — Sequential vs Parallel Race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tudents into two groups.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Group A — RNN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Give one student: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          Artificial Intelligence is changing the world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They pass each word one by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1 → 2 → 3 → 4 → 5 →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Group B — Transformer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Give each student one word at the same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They can see the complete sentence and identify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Ask: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Which approach has more direct access to the full sentence?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Transformer-style self-attention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8153400" cy="68580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4000" b="1" u="sng" dirty="0" smtClean="0">
                <a:latin typeface="Times New Roman" pitchFamily="18" charset="0"/>
                <a:cs typeface="Times New Roman" pitchFamily="18" charset="0"/>
              </a:rPr>
              <a:t>SLIDE 16 — Why Transformers Changed Everything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1. Better Long-Range Relationships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word can directly relate to distant words.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 More Parallelizable Computation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Tokens can be processed together during training.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 Scales Better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Transformers can be trained with: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More data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More parameters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More computing power 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4. Works Across Many Modalities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Transformers are used for: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Text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Images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Audio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Video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Multimodal AI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91440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SLIDE 17 — RNN vs Transformer</a:t>
            </a:r>
            <a:endParaRPr lang="en-US" sz="2800" b="1" u="sng" dirty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90599" y="838199"/>
          <a:ext cx="7943850" cy="6004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7950"/>
                <a:gridCol w="2647950"/>
                <a:gridCol w="2647950"/>
              </a:tblGrid>
              <a:tr h="50886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RNN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Transformer</a:t>
                      </a:r>
                    </a:p>
                  </a:txBody>
                  <a:tcPr anchor="ctr"/>
                </a:tc>
              </a:tr>
              <a:tr h="508861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Sequential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Parallelizable</a:t>
                      </a:r>
                    </a:p>
                  </a:txBody>
                  <a:tcPr anchor="ctr"/>
                </a:tc>
              </a:tr>
              <a:tr h="91595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Long-distance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More 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Direct attention connections</a:t>
                      </a:r>
                    </a:p>
                  </a:txBody>
                  <a:tcPr anchor="ctr"/>
                </a:tc>
              </a:tr>
              <a:tr h="1323039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Training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Less parallelizable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Highly parallelizable on modern hardware</a:t>
                      </a:r>
                    </a:p>
                  </a:txBody>
                  <a:tcPr anchor="ctr"/>
                </a:tc>
              </a:tr>
              <a:tr h="91595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Main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Recurrence / hidden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Self-Attention</a:t>
                      </a:r>
                    </a:p>
                  </a:txBody>
                  <a:tcPr anchor="ctr"/>
                </a:tc>
              </a:tr>
              <a:tr h="1323039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More limited for large language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Foundation of modern LLMs</a:t>
                      </a:r>
                    </a:p>
                  </a:txBody>
                  <a:tcPr anchor="ctr"/>
                </a:tc>
              </a:tr>
              <a:tr h="508861"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18 — Visualization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RNN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          A → B → C → D → E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To connect A and E: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           A → B → C → D → E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Transformer</a:t>
            </a:r>
          </a:p>
          <a:p>
            <a:pPr lvl="1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───────────── E </a:t>
            </a:r>
          </a:p>
          <a:p>
            <a:pPr lvl="1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│ ╲ 			     ╱ │ </a:t>
            </a:r>
          </a:p>
          <a:p>
            <a:pPr lvl="1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│   ╲                              ╱  │</a:t>
            </a:r>
          </a:p>
          <a:p>
            <a:pPr lvl="1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──── C ───----------- D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Tokens can build relationships through attention.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This is a simplified visualization, not the complete mathematical architecture.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943088" cy="6781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19 — From Transformers to LLMs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Architecture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Train on Huge Amounts of Data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Billions of Parameters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Large Language Model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 / Gemini / Claude / etc.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Examples of Transformer-Based Models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GPT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BERT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T5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Gemini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Claude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SLIDE 20 — Real-World Connection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Example: ChatGPT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type: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Explain Machine Learning with a student example.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Simplified process: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Prompt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Tokenization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Transformer Layers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Self-Attention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Context Understanding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Next Token Prediction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lvl="1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Response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11200" b="1" u="sng" dirty="0" smtClean="0">
                <a:latin typeface="Times New Roman" pitchFamily="18" charset="0"/>
                <a:cs typeface="Times New Roman" pitchFamily="18" charset="0"/>
              </a:rPr>
              <a:t>ACTIVITY 8 — Become a Transformer</a:t>
            </a:r>
          </a:p>
          <a:p>
            <a:pPr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Sentence:</a:t>
            </a:r>
          </a:p>
          <a:p>
            <a:pPr lvl="1">
              <a:buNone/>
            </a:pPr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"The BCA student studied Transformers because the technology powers modern AI models."</a:t>
            </a:r>
            <a:endParaRPr lang="en-US" sz="72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Assign one student to each important word:</a:t>
            </a:r>
          </a:p>
          <a:p>
            <a:pPr lvl="2"/>
            <a:r>
              <a:rPr lang="en-US" sz="6800" dirty="0" smtClean="0">
                <a:latin typeface="Times New Roman" pitchFamily="18" charset="0"/>
                <a:cs typeface="Times New Roman" pitchFamily="18" charset="0"/>
              </a:rPr>
              <a:t>BCA </a:t>
            </a:r>
          </a:p>
          <a:p>
            <a:pPr lvl="2"/>
            <a:r>
              <a:rPr lang="en-US" sz="6800" dirty="0" smtClean="0">
                <a:latin typeface="Times New Roman" pitchFamily="18" charset="0"/>
                <a:cs typeface="Times New Roman" pitchFamily="18" charset="0"/>
              </a:rPr>
              <a:t>student </a:t>
            </a:r>
          </a:p>
          <a:p>
            <a:pPr lvl="2"/>
            <a:r>
              <a:rPr lang="en-US" sz="6800" dirty="0" smtClean="0">
                <a:latin typeface="Times New Roman" pitchFamily="18" charset="0"/>
                <a:cs typeface="Times New Roman" pitchFamily="18" charset="0"/>
              </a:rPr>
              <a:t>studied </a:t>
            </a:r>
          </a:p>
          <a:p>
            <a:pPr lvl="2"/>
            <a:r>
              <a:rPr lang="en-US" sz="6800" dirty="0" smtClean="0">
                <a:latin typeface="Times New Roman" pitchFamily="18" charset="0"/>
                <a:cs typeface="Times New Roman" pitchFamily="18" charset="0"/>
              </a:rPr>
              <a:t>Transformers </a:t>
            </a:r>
          </a:p>
          <a:p>
            <a:pPr lvl="2"/>
            <a:r>
              <a:rPr lang="en-US" sz="6800" dirty="0" smtClean="0">
                <a:latin typeface="Times New Roman" pitchFamily="18" charset="0"/>
                <a:cs typeface="Times New Roman" pitchFamily="18" charset="0"/>
              </a:rPr>
              <a:t>technology </a:t>
            </a:r>
          </a:p>
          <a:p>
            <a:pPr lvl="2"/>
            <a:r>
              <a:rPr lang="en-US" sz="6800" dirty="0" smtClean="0">
                <a:latin typeface="Times New Roman" pitchFamily="18" charset="0"/>
                <a:cs typeface="Times New Roman" pitchFamily="18" charset="0"/>
              </a:rPr>
              <a:t>powers </a:t>
            </a:r>
          </a:p>
          <a:p>
            <a:pPr lvl="2"/>
            <a:r>
              <a:rPr lang="en-US" sz="6800" dirty="0" smtClean="0">
                <a:latin typeface="Times New Roman" pitchFamily="18" charset="0"/>
                <a:cs typeface="Times New Roman" pitchFamily="18" charset="0"/>
              </a:rPr>
              <a:t>AI </a:t>
            </a:r>
          </a:p>
          <a:p>
            <a:pPr lvl="2"/>
            <a:r>
              <a:rPr lang="en-US" sz="6800" dirty="0" smtClean="0">
                <a:latin typeface="Times New Roman" pitchFamily="18" charset="0"/>
                <a:cs typeface="Times New Roman" pitchFamily="18" charset="0"/>
              </a:rPr>
              <a:t>models </a:t>
            </a:r>
          </a:p>
          <a:p>
            <a:pPr lvl="1">
              <a:buNone/>
            </a:pPr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If your word is "Transformers", which other words matter most?</a:t>
            </a:r>
          </a:p>
          <a:p>
            <a:pPr lvl="1"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Likely:</a:t>
            </a:r>
          </a:p>
          <a:p>
            <a:pPr lvl="1"/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studied </a:t>
            </a:r>
          </a:p>
          <a:p>
            <a:pPr lvl="1"/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technology </a:t>
            </a:r>
          </a:p>
          <a:p>
            <a:pPr lvl="1"/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powers </a:t>
            </a:r>
          </a:p>
          <a:p>
            <a:pPr lvl="1"/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AI </a:t>
            </a:r>
          </a:p>
          <a:p>
            <a:pPr lvl="1"/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models </a:t>
            </a:r>
          </a:p>
          <a:p>
            <a:pPr lvl="1"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Students draw arrows between themselves.</a:t>
            </a:r>
          </a:p>
          <a:p>
            <a:pPr lvl="1">
              <a:buNone/>
            </a:pPr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Explain</a:t>
            </a:r>
          </a:p>
          <a:p>
            <a:pPr lvl="1">
              <a:buNone/>
            </a:pP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This classroom network is a simplified representation of how self-attention connects information.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8153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SLIDE 21 — Knowledge Check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 Why is RNN sequential?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processes information step-by-step and uses previous hidden information.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 What is a long-term dependency?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information far apart in a sequence needs to be connected.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3. What is Attention?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mechanism that helps the model focus more on relevant information.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 What is Self-Attention?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Tokens in the same sequence can determine which other tokens are important.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5. Why did Transformers become important?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model relationships effectively and are highly parallelizable, making large-scale training practical.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FINAL SLIDE — Key Takeaways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RNN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Sequential Processing Problem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Long-Term Dependency Problem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Attention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Self-Attention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Large-Scale Training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LLMs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 / Modern Generative AI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https://poloclub.github.io/transformer-explainer/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https://bbycroft.net/llm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693</TotalTime>
  <Words>1989</Words>
  <Application>Microsoft Office PowerPoint</Application>
  <PresentationFormat>On-screen Show (4:3)</PresentationFormat>
  <Paragraphs>507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Solstice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15 — The Transformer Idea </vt:lpstr>
      <vt:lpstr>Slide 29</vt:lpstr>
      <vt:lpstr>Slide 30</vt:lpstr>
      <vt:lpstr>Slide 31</vt:lpstr>
      <vt:lpstr>SLIDE 17 — RNN vs Transformer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50</cp:revision>
  <dcterms:created xsi:type="dcterms:W3CDTF">2006-08-16T00:00:00Z</dcterms:created>
  <dcterms:modified xsi:type="dcterms:W3CDTF">2026-08-13T14:18:36Z</dcterms:modified>
</cp:coreProperties>
</file>