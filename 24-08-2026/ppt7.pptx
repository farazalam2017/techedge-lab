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57" r:id="rId4"/>
    <p:sldId id="266" r:id="rId5"/>
    <p:sldId id="265" r:id="rId6"/>
    <p:sldId id="264" r:id="rId7"/>
    <p:sldId id="263" r:id="rId8"/>
    <p:sldId id="262" r:id="rId9"/>
    <p:sldId id="261" r:id="rId10"/>
    <p:sldId id="260" r:id="rId11"/>
    <p:sldId id="259" r:id="rId12"/>
    <p:sldId id="25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7" r:id="rId40"/>
    <p:sldId id="296" r:id="rId41"/>
    <p:sldId id="295" r:id="rId42"/>
    <p:sldId id="299" r:id="rId43"/>
    <p:sldId id="298" r:id="rId44"/>
    <p:sldId id="294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457200"/>
            <a:ext cx="80772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Session 9: How GPT Works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Topics: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Decoder • Prediction • Temperature • Hallucination • Reasoning • Demo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session should move from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"How does GPT generate one word?" → "How does it generate an entire answer?" → "Why can it be wrong?"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1.Recap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2.Decoder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3.Prediction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4.Temperature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5. Context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6. Hallucination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Reasoning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8. GPT complete workflow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9. Live demo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1 — How GPT Works</a:t>
            </a:r>
          </a:p>
          <a:p>
            <a:pPr>
              <a:buNone/>
            </a:pPr>
            <a:endParaRPr lang="en-US" sz="3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From Prompt to Response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Today we will understand: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How GPT processes a prompt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Decoder-only architecture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Next-token prediction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Probability distribution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Temperature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Why GPT can hallucinate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What "reasoning" means in LLMs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Practical GPT experiments 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Today's Question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              When we ask ChatGPT a question, how does it decide what to say next?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2 — Where GPT Fits</a:t>
            </a:r>
          </a:p>
          <a:p>
            <a:pPr>
              <a:buNone/>
            </a:pPr>
            <a:endParaRPr lang="en-US" sz="4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Artificial Intelligence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Machine Learning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Deep Learning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Transformer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Large Language Model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GPT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304800"/>
            <a:ext cx="7638288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GPT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Generative Pre-trained Transformer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Generative → Generates content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Pre-trained → Trained before being used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→ Based on Transformer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818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 — GPT Is a Decoder-Only Transformer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GPT Architecture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Prompt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 Embeddings + Position Information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Decoder Blocks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Output Scores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Probability Distribution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Next Token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Point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uses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decoder-only Transformer architecture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designed for autoregressive text generation.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66800" y="196334"/>
            <a:ext cx="80772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4 — What Does the Decoder Do?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Decoder's Main Job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Use the previous context to predict what token should come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"The capital of India is"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model predicts a distribution over possible next tokens.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Delhi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Mumbai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Kolkata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Lucknow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One token is selected.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5 — Autoregressive Generation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GPT Generates One Token at a Time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capital of India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 next token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Delhi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capital of India is Delhi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 next token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generated token becomes part of the context for the next prediction.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Slide 6 — Activity: You Are GPT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Complete the Sentence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Ask students: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"The sun rises in the ______."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Expected: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east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Now: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"I drink tea with ______."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Possible: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milk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sugar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biscuits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friends 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Why can there be multiple reasonable answers?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Because language has probability, not only one fixed answer.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Slide 7 — GPT Does Not Simply "Look Up" an Answer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GPT receives: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"What is the capital of France?“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processes the context and calculates scores/probabilities for possible next tokens.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28600"/>
            <a:ext cx="7714488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Conceptually: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Paris → High probability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	London → Lower probability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Berlin → Lower probability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 Madrid → Lower probability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generates text by repeatedly predicting the next token.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8 — Probability Distribution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"The sky is"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next tokens: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2286000"/>
          <a:ext cx="6096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Example Probability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70%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cloudy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15%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10%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3%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0.1%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43000" y="5334000"/>
            <a:ext cx="6781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These numbers are illustrative, not actual GPT probabilities.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Which token is most likely?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blue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9 — From Probability to Sentence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repeats the process: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Predict next token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Add token to context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Predict next token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Add token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Repeat...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changing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changing the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changing the way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AI is changing the way we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...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Result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complete response emerges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token by token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10 — Activity: Next Token Challenge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"Python is a ______"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best way to learn programming is ______"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"Machine learning learns patterns from ______"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smartphone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without a battery is ______"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 possible next tokens/words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Which one is most likely?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Could more than one answer be correct?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11 — What Is Temperature?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Temperature controls how strongly the model favors high-probability choices during sampling.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Low Temperature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predictable output.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High-probability tokens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consistent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Higher Temperature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randomness/diversity.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possible tokens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varied output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7790688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Core Differences</a:t>
            </a:r>
          </a:p>
          <a:p>
            <a:pPr>
              <a:buNone/>
            </a:pP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Low Temperature (0.0 to 0.3)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Makes outputs predictable. The model chooses the most likely words.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High Temperature (0.7 to 1.0+)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Makes outputs diverse. The model chooses less common words.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When to Use Low Temperature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Code requires exact syntax.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Extraction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Pulling facts from a text.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Mathematical Tasks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Calculations need one right answer.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Q&amp;A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Explaining factual concepts.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When to Use High Temperature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Creative Writing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Brainstorming stories, poems, or marketing copy.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Idea Generation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Creating unique naming options or angles.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Alternative Phrasing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Rewriting text to sound completely different.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76200"/>
            <a:ext cx="7866888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12 — Temperature Example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"Write a slogan for a college."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Low Temperature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"Learn Today, Lead Tomorrow."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Higher Temperature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outputs may become more varied or unusual.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"Where Curiosity Becomes Your Career."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Higher temperature does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mean: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"The model becomes more intelligent."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changes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sampling behavior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800" b="1" u="sng" dirty="0" smtClean="0">
                <a:latin typeface="Times New Roman" pitchFamily="18" charset="0"/>
                <a:cs typeface="Times New Roman" pitchFamily="18" charset="0"/>
              </a:rPr>
              <a:t>Slide 13 — Temperature Activity</a:t>
            </a:r>
          </a:p>
          <a:p>
            <a:pPr>
              <a:buNone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"Write a one-line slogan for our BCA department.“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  1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Imagine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 temperature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  2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Imagine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medium temperature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 3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Imagine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high temperature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Similarity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Creativity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Predictability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Unexpected answers 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Q- When would you prefer predictable output?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Q- When would you prefer creative output?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14 — GPT Uses Context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Conversation: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Student: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My name is Rahul.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GPT: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Nice to meet you, Rahul.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Student: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What is my name?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can use the previous conversation context: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Rahul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Concept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uses the available context when generating the next token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599" y="228600"/>
            <a:ext cx="8153401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15 — Context Window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Context Window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amount of tokenized information a model can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as context for a particular request.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It can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Current prompt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Previous conversation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Instructions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Attached/retrieved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Other available context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Context window ≠ permanent memory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0" y="235086"/>
            <a:ext cx="80010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16 — What Is AI Hallucination?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Hallucination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When an AI system produces information that </a:t>
            </a:r>
            <a:r>
              <a:rPr kumimoji="0" lang="en-US" sz="24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sounds plausible but is incorrect,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unsupported, or fabricated</a:t>
            </a: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"Who wrote the book The AI Programming Handbook of Mars?“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 model might generate a convincing-looking author and publication details even </a:t>
            </a:r>
            <a:r>
              <a:rPr kumimoji="0" lang="en-US" sz="2400" b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though the book does not exist.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17 — Why Can GPT Hallucinate?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Remember: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GPT is fundamentally generating text.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does not automatically guarantee: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"Everything I say is factually verified.“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causes include: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Ambiguous prompts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Missing information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Insufficient context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Unreliable source material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producing a plausible continuation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Errors in multi-step generation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Lesson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Fluent ≠ Correct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18 — Activity: Fact or Hallucination?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Statement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Earth revolves around the Sun."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Statement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capital of Australia is Sydney."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Statement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"Python was created by Guido van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Rossum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Statement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programming language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ZetaPython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was created in 1972.“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Fact / False / Need Verification?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should learn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verify AI-generated information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19 — Hallucination Experiment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Q- "Give me 5 research papers written by Professor XYZ on AI."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a fictional professor name.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Observe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Does the model: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Admit insufficient information?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 for clarification?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Produce citations?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"/>
            <a:ext cx="77906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Discussion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 should we verify AI-generated references?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Industry Skill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Never blindly trust AI-generated facts, citations, statistics or code.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20 — What Do We Mean by "Reasoning"?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student has ₹100.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 spends ₹35 on a book.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much money remains?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₹65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needs to transform the information through multiple steps to produce the answer.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21 — Simple Reasoning Example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class has 60 students.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25 are present.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many are absent?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Total = 60 Present = 25 Absent = 60 - 25 Answer = 35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GPT simply need to recognize the words?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 did it need to perform a sequence of operations?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Reasoning involves intermediate steps/transformations.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22 — Reasoning ≠ Human Thinking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we say an AI model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"reasons"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don't automatically assume it thinks exactly like a human.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perform complex computations and generate useful multi-step solutions.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 reasoning is an engineering/model behavior, not proof of human-like consciousness or understanding.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23 — Reasoning Activity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A pen costs ₹20.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notebook costs ₹50.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student buys 3 pens and 2 notebooks.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is the total cost?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 solve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without AI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ask GPT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Compare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Method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Explanation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Mistakes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8 — GPT COMPLETE WORKFLOW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24 — From Prompt to Response</a:t>
            </a:r>
          </a:p>
          <a:p>
            <a:pPr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 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POSITION INFORMATION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DECODER BLOCKS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CONTEXTUAL REPRESENTATION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VOCABULARY SCORES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PROBABILITY DISTRIBUTION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SAMPLING / TOKEN SELECTION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NEXT TOKEN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REPEAT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 RESPONSE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9 — LIVE DEMO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25 — Demo 1: Next Token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Prediction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 ChatGPT.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Complete this sentence in one word:</a:t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opposite of hot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______.“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ask: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 did you predict that word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Explain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produces a likely continuation based on learned patterns and context.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26 — Demo 2: Change the Context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 Apple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is a fruit. What is Apple?"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B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Apple released a new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iPhone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What is Apple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?“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Q- Why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the answer/context change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Concept:-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 changes interpretation and prediction.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705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27 — Demo 3: Temperature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Use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interface/API that exposes temperature settings.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        "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Write a creative two-line description of rain."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Run with: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Low temperature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Higher temperature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Observe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Repetition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Predictability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Creativity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Variation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629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28 — Demo 4: Hallucination Test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"Give me the complete biography of [fictional person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].“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Observe whether the model confidently invents information.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ask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"How confident are you? What evidence supports your answer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good AI workflow includes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verification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not blind acceptance.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78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10 — INDUSTRY CONNECTION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29 — How Developers Use GPT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can be integrated into applications such as: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Customer Support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User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Chatbot → LLM → Response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Resume Analyzer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Resume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LLM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Skills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Missing Skills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Suggestions</a:t>
            </a:r>
            <a:endParaRPr lang="en-US" sz="3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Study Assistant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LLM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Explanation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Quiz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Feedback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Email Generator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 Intent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LLM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Professional Email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30 — Prompt Engineering Connection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output depends heavily on: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Input Quality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A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Explain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Explain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loops to a BCA 3rd-year student using one real-world example, one code example and 3 practice questions.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Which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gives better control?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Prompt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Industry Skill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Learn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communicate clearly with AI systems.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31 — Mini Project Activity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Build a Prompt-Based AI Assistant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hoose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ONE:</a:t>
            </a:r>
          </a:p>
          <a:p>
            <a:pPr lvl="1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Option 1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Study Assistant</a:t>
            </a:r>
          </a:p>
          <a:p>
            <a:pPr lvl="1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Option 2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Resume Reviewer</a:t>
            </a:r>
          </a:p>
          <a:p>
            <a:pPr lvl="1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Option 3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Email Generator</a:t>
            </a:r>
          </a:p>
          <a:p>
            <a:pPr lvl="1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Option 4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Interview Question Generator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Requirement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Write:-     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role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Expected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 example input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 example output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32 — Challenge: Break GPT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Try to create prompts that cause problems.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me a fact about a completely fictional technology.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a citation for an imaginary research paper.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 this ambiguous question without asking for clarification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Then ask: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How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can we reduce the risk of incorrect output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 prompts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context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Reliable sources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Retrieval/RAG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Verification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Human review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Structured outputs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33 — GPT: What It Does vs Doesn't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Guarantee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400" y="1142999"/>
          <a:ext cx="7696200" cy="4656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/>
                <a:gridCol w="3848100"/>
              </a:tblGrid>
              <a:tr h="11848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GPT 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GPT Does Not Automatically Guarantee</a:t>
                      </a:r>
                    </a:p>
                  </a:txBody>
                  <a:tcPr anchor="ctr"/>
                </a:tc>
              </a:tr>
              <a:tr h="45570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Generate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Factual accuracy</a:t>
                      </a:r>
                    </a:p>
                  </a:txBody>
                  <a:tcPr anchor="ctr"/>
                </a:tc>
              </a:tr>
              <a:tr h="45570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Summarize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Perfect reasoning</a:t>
                      </a:r>
                    </a:p>
                  </a:txBody>
                  <a:tcPr anchor="ctr"/>
                </a:tc>
              </a:tr>
              <a:tr h="45570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Translate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Current information</a:t>
                      </a:r>
                    </a:p>
                  </a:txBody>
                  <a:tcPr anchor="ctr"/>
                </a:tc>
              </a:tr>
              <a:tr h="45570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Generate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Bug-free code</a:t>
                      </a:r>
                    </a:p>
                  </a:txBody>
                  <a:tcPr anchor="ctr"/>
                </a:tc>
              </a:tr>
              <a:tr h="820271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Explain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Correctness in every situation</a:t>
                      </a:r>
                    </a:p>
                  </a:txBody>
                  <a:tcPr anchor="ctr"/>
                </a:tc>
              </a:tr>
              <a:tr h="820271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Analyze provided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Reliable sources unless provided/connected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95400" y="6019800"/>
            <a:ext cx="6096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1" dirty="0" smtClean="0">
                <a:latin typeface="Times New Roman" pitchFamily="18" charset="0"/>
                <a:cs typeface="Times New Roman" pitchFamily="18" charset="0"/>
              </a:rPr>
              <a:t>Golden Rule</a:t>
            </a:r>
          </a:p>
          <a:p>
            <a:r>
              <a:rPr lang="it-IT" sz="2000" b="1" dirty="0" smtClean="0">
                <a:latin typeface="Times New Roman" pitchFamily="18" charset="0"/>
                <a:cs typeface="Times New Roman" pitchFamily="18" charset="0"/>
              </a:rPr>
              <a:t>Use AI → Verify AI → Improve AI Outpu</a:t>
            </a:r>
            <a:endParaRPr lang="it-IT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34 — Final Activity: Explain GPT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cenario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                 User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"Write a Python program to calculate student grades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."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Tokens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Context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Transformer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Next-token prediction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Token selection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Next-token prediction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code                         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Where can things go wrong?</a:t>
            </a:r>
          </a:p>
          <a:p>
            <a:pPr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Missing context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Hallucination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Incorrect code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Wrong assumptions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0" y="1"/>
            <a:ext cx="10099816" cy="7236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35 — Final Takeaways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Remember: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GPT is a Transformer-based language model.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Tokens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Decoder Transformer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Predict Next Token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Select Token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Repeat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Response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Three Important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Concepts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Prediction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What token comes next?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Temperature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How predictable vs varied should sampling be?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Hallucination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What happens when generated information is incorrect or unsupported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Industry Rule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smtClean="0">
                <a:latin typeface="Times New Roman" pitchFamily="18" charset="0"/>
                <a:cs typeface="Times New Roman" pitchFamily="18" charset="0"/>
              </a:rPr>
              <a:t>			Don't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just learn to use ChatGPT. Learn to understand, test, verify and integrate AI into applications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270</TotalTime>
  <Words>1816</Words>
  <Application>Microsoft Office PowerPoint</Application>
  <PresentationFormat>On-screen Show (4:3)</PresentationFormat>
  <Paragraphs>606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Solstice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26</cp:revision>
  <dcterms:created xsi:type="dcterms:W3CDTF">2006-08-16T00:00:00Z</dcterms:created>
  <dcterms:modified xsi:type="dcterms:W3CDTF">2026-08-17T14:09:33Z</dcterms:modified>
</cp:coreProperties>
</file>