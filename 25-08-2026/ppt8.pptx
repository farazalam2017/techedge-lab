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69" r:id="rId4"/>
    <p:sldId id="275" r:id="rId5"/>
    <p:sldId id="258" r:id="rId6"/>
    <p:sldId id="276" r:id="rId7"/>
    <p:sldId id="268" r:id="rId8"/>
    <p:sldId id="277" r:id="rId9"/>
    <p:sldId id="267" r:id="rId10"/>
    <p:sldId id="278" r:id="rId11"/>
    <p:sldId id="266" r:id="rId12"/>
    <p:sldId id="265" r:id="rId13"/>
    <p:sldId id="279" r:id="rId14"/>
    <p:sldId id="264" r:id="rId15"/>
    <p:sldId id="280" r:id="rId16"/>
    <p:sldId id="263" r:id="rId17"/>
    <p:sldId id="281" r:id="rId18"/>
    <p:sldId id="262" r:id="rId19"/>
    <p:sldId id="282" r:id="rId20"/>
    <p:sldId id="261" r:id="rId21"/>
    <p:sldId id="283" r:id="rId22"/>
    <p:sldId id="260" r:id="rId23"/>
    <p:sldId id="284" r:id="rId24"/>
    <p:sldId id="259" r:id="rId25"/>
    <p:sldId id="285" r:id="rId26"/>
    <p:sldId id="257" r:id="rId27"/>
    <p:sldId id="271" r:id="rId28"/>
    <p:sldId id="272" r:id="rId29"/>
    <p:sldId id="286" r:id="rId30"/>
    <p:sldId id="273" r:id="rId31"/>
    <p:sldId id="274" r:id="rId32"/>
    <p:sldId id="287" r:id="rId33"/>
    <p:sldId id="288" r:id="rId34"/>
    <p:sldId id="289" r:id="rId35"/>
    <p:sldId id="290" r:id="rId36"/>
    <p:sldId id="291" r:id="rId37"/>
    <p:sldId id="292" r:id="rId38"/>
    <p:sldId id="296" r:id="rId39"/>
    <p:sldId id="299" r:id="rId40"/>
    <p:sldId id="297" r:id="rId41"/>
    <p:sldId id="293" r:id="rId42"/>
    <p:sldId id="294" r:id="rId43"/>
    <p:sldId id="295" r:id="rId44"/>
    <p:sldId id="300" r:id="rId45"/>
    <p:sldId id="301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b="1" u="sng" dirty="0">
                <a:effectLst/>
                <a:latin typeface="Times New Roman" pitchFamily="18" charset="0"/>
                <a:cs typeface="Times New Roman" pitchFamily="18" charset="0"/>
              </a:rPr>
              <a:t>Session: LLM Landscape — GPT, Claude, Gemini, DeepSeek, Llama &amp; Qwen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7406640" cy="17526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Focus: </a:t>
            </a:r>
          </a:p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Understand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 LLM ecosystem + compare models + practical exploration + high-temperature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228600"/>
            <a:ext cx="7714488" cy="601980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Revision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LLM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Model families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Closed vs open models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LLM comparison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Slide 1 — LLM Landscape</a:t>
            </a:r>
          </a:p>
          <a:p>
            <a:pPr>
              <a:buNone/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The Modern LLM Ecosystem</a:t>
            </a:r>
          </a:p>
          <a:p>
            <a:pPr>
              <a:buNone/>
            </a:pPr>
            <a:endParaRPr lang="en-US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Today we will explore: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GPT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Claude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Gemini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DeepSeek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Llama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Qwen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By the end of the session, 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Explain what an LLM is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Identify major LLM families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Understand closed vs open-weight models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Compare models using practical tests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Understand temperature and creativity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Select an appropriate model for a task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0"/>
            <a:ext cx="77906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PART 1 — WARM-UP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2 — One Question</a:t>
            </a:r>
          </a:p>
          <a:p>
            <a:pPr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Q- 	If ChatGPT disappeared tomorrow, would Generative AI disappear?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Students vote: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🟢 Yes         🔴 No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90600" y="476420"/>
            <a:ext cx="73152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There are many LLM families and providers.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                   LLM Ecosystem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                                    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┌────────────┼────────────┐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                                   ↓                                   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GPT                        Claude                            Gemini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 			↓			 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DeepSeek 		Llama 			Qwen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Slide 3 — What Is an LLM?</a:t>
            </a:r>
          </a:p>
          <a:p>
            <a:pPr>
              <a:buNone/>
            </a:pPr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Large Language Model</a:t>
            </a:r>
          </a:p>
          <a:p>
            <a:pPr>
              <a:buNone/>
            </a:pPr>
            <a:endParaRPr lang="en-US" sz="3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An LLM is a large neural-network model trained on huge amounts of data to process and generate language.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It can perform tasks such as: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Text generation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Summarization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Translation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Question answering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Coding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Classification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Reasoning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Content generation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76200"/>
            <a:ext cx="7790688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Key Idea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 LLM is a model. A chatbot is an application/interface built around a model and additional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76200"/>
            <a:ext cx="7866888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PART 2 — MODEL FAMILIES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4 — The LLM Family Tree</a:t>
            </a:r>
          </a:p>
          <a:p>
            <a:pPr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	Think of each model family as a different AI ecosystem.</a:t>
            </a:r>
          </a:p>
          <a:p>
            <a:pPr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GPT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Associated with OpenAI</a:t>
            </a:r>
          </a:p>
          <a:p>
            <a:pPr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Claude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Associated with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Anthropic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Gemini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Associated with Google</a:t>
            </a:r>
          </a:p>
          <a:p>
            <a:pPr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DeepSeek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Associated with DeepSeek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705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Llama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Associated with Meta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Qwen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Associated with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Alibaba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Cloud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Model families contain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multiple versions and sizes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Don't think of "GPT" or "Llama" as one single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5 — GPT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GPT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Commonly known for: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General-purpose AI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Text generation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Coding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Reasoning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Multimodal capabilities in some models/products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AI application/API integration 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Q- "Give me 5 situations where GPT-style models can be used in a business."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0"/>
            <a:ext cx="77906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6 — Claude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Claude</a:t>
            </a:r>
          </a:p>
          <a:p>
            <a:pPr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Associated with:</a:t>
            </a:r>
          </a:p>
          <a:p>
            <a:pPr>
              <a:buNone/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Anthropic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Commonly used for: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Writing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Document analysis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Coding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Long-form tasks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Reasoning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AI assistants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Student Activity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"Give me a difficult programming problem suitable for a BCA 3rd-year student and explain the expected solution.“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Compare Claude's response with another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u="sng" dirty="0">
                <a:latin typeface="Times New Roman" pitchFamily="18" charset="0"/>
                <a:cs typeface="Times New Roman" pitchFamily="18" charset="0"/>
              </a:rPr>
              <a:t>Slide 7 — Gemini</a:t>
            </a:r>
          </a:p>
          <a:p>
            <a:pPr>
              <a:buNone/>
            </a:pPr>
            <a:r>
              <a:rPr lang="en-US" sz="3000" b="1" u="sng" dirty="0">
                <a:latin typeface="Times New Roman" pitchFamily="18" charset="0"/>
                <a:cs typeface="Times New Roman" pitchFamily="18" charset="0"/>
              </a:rPr>
              <a:t>Gemini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Associated with: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Google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Used across Google's AI ecosystem and available for developers through Google's AI platforms/APIs.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Common areas: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Text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Coding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Multimodal AI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Document understanding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AI applications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"/>
            <a:ext cx="78668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"Explain how Generative AI can be used in Google Workspace.“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Discuss the answer.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8 — DeepSeek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DeepSeek</a:t>
            </a:r>
          </a:p>
          <a:p>
            <a:pPr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major LLM family known for models focused on: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Reasoning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Coding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General language tasks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52400"/>
            <a:ext cx="7714488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"Write a Python program that checks whether a number is Armstrong number. Explain the logic.“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Compare: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Code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Explanation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Edge cases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Readability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9 — Llama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Llama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Associated with: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Meta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Important concept: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Open-weight models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Some Llama models can be downloaded and run using compatible infrastructure.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creates opportunities for: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Local AI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Custom applications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Research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Fine-tuning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Private deployments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Question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Why might a company want to run an LLM locally instead of sending data to an external API?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Privacy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Control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Customization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Cost considerations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Compliance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0"/>
            <a:ext cx="77906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10 — Qwen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Qwen</a:t>
            </a:r>
          </a:p>
          <a:p>
            <a:pPr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Associated with:</a:t>
            </a:r>
          </a:p>
          <a:p>
            <a:pPr>
              <a:buNone/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Alibaba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Cloud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Qwen is a family of models covering tasks such as: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Text generation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Coding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Reasoning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Multilingual applications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Multimodal tasks in some variants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76200"/>
            <a:ext cx="7866888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"Explain Python functions to a beginner using an Indian classroom example.“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Then compare the explanation with another model.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PART 3 — CLOSED VS OPEN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11 — Closed vs Open-Weight</a:t>
            </a:r>
          </a:p>
          <a:p>
            <a:pPr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Closed / Hosted Models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Generally accessed through: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Web applications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APIs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Managed services 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Examples include many commercial model offerings.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228600"/>
            <a:ext cx="7924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Open-Weight Models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Model weights may be available for users/developers under their respective licenses.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Examples include: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Llama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Some Qwen models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Some DeepSeek models </a:t>
            </a:r>
          </a:p>
          <a:p>
            <a:pPr>
              <a:buFont typeface="Arial" pitchFamily="34" charset="0"/>
              <a:buChar char="•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Open-weight does not automatically mean "completely free" or "no restrictions.“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Licensing matters.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12 — Why Does This Matter?</a:t>
            </a:r>
          </a:p>
          <a:p>
            <a:pPr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Imagine a company has sensitive customer information.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Option A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Send everything to an external AI API.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Option B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Run a suitable model within controlled infrastructure.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Which would you consider for: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Banking?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College student chatbot?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Personal AI assistant?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Public marketing content? 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is no single correct answer.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You must consider: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Privacy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Cost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Performance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Latency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Infrastructure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Licensing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Security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8580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800" b="1" u="sng" dirty="0">
                <a:latin typeface="Times New Roman" pitchFamily="18" charset="0"/>
                <a:cs typeface="Times New Roman" pitchFamily="18" charset="0"/>
              </a:rPr>
              <a:t>PART 4 — LLM COMPARISON</a:t>
            </a:r>
          </a:p>
          <a:p>
            <a:pPr>
              <a:buNone/>
            </a:pPr>
            <a:r>
              <a:rPr lang="en-US" sz="3800" b="1" u="sng" dirty="0">
                <a:latin typeface="Times New Roman" pitchFamily="18" charset="0"/>
                <a:cs typeface="Times New Roman" pitchFamily="18" charset="0"/>
              </a:rPr>
              <a:t>Slide 13 — Don't Ask "Which AI Is Best?"</a:t>
            </a:r>
          </a:p>
          <a:p>
            <a:pPr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Instead ask:</a:t>
            </a:r>
          </a:p>
          <a:p>
            <a:pPr>
              <a:buNone/>
            </a:pP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	Best for WHAT?</a:t>
            </a:r>
          </a:p>
          <a:p>
            <a:pPr>
              <a:buNone/>
            </a:pPr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Possible criteria:</a:t>
            </a:r>
          </a:p>
          <a:p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Coding </a:t>
            </a:r>
          </a:p>
          <a:p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Reasoning </a:t>
            </a:r>
          </a:p>
          <a:p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Writing </a:t>
            </a:r>
          </a:p>
          <a:p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Speed </a:t>
            </a:r>
          </a:p>
          <a:p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Cost </a:t>
            </a:r>
          </a:p>
          <a:p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Multimodal input </a:t>
            </a:r>
          </a:p>
          <a:p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Context capacity </a:t>
            </a:r>
          </a:p>
          <a:p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Privacy </a:t>
            </a:r>
          </a:p>
          <a:p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Deployment </a:t>
            </a:r>
          </a:p>
          <a:p>
            <a:r>
              <a:rPr lang="en-US" sz="3800" dirty="0">
                <a:latin typeface="Times New Roman" pitchFamily="18" charset="0"/>
                <a:cs typeface="Times New Roman" pitchFamily="18" charset="0"/>
              </a:rPr>
              <a:t>API availability </a:t>
            </a:r>
          </a:p>
          <a:p>
            <a:pPr>
              <a:buNone/>
            </a:pP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Industry Mindset</a:t>
            </a:r>
          </a:p>
          <a:p>
            <a:pPr>
              <a:buNone/>
            </a:pP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		There is no universally best LLM. There is a model that is appropriate for a particular task and constraint.</a:t>
            </a:r>
            <a:endParaRPr lang="en-US" sz="3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/>
          <a:lstStyle/>
          <a:p>
            <a:pPr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Slide 14 — Model Comparison Framework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533404"/>
          <a:ext cx="7848600" cy="5344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532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Criterion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Model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Model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Model 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322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322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322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Reasoning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322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Creativity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322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5322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5322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81581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Multimodal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66800" y="593467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Activity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fill it using your own experiments.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PART 5 — THE BIG EXPERIMENT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15 — Same Prompt, Different LLMs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Prompt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	"Explain Artificial Intelligence to a BCA 3rd-year student in exactly 100 words using a real-world example."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Run the same prompt on: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GPT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Claude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Gemini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DeepSeek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Llama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Qwen 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Students evaluate: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Accuracy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Simplicity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Length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Structure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/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16 — Scoring Activity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Give every model a score from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1–5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990602"/>
          <a:ext cx="8153400" cy="4795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916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533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GPT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533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Claude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533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Gemini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DeepSeek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533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Llama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533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Qwen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/5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9533"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914400" y="5757818"/>
            <a:ext cx="8077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This is a classroom experiment,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not a permanent ranking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Model versions change.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PART 6 — TEMPERATURE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17 — What Is Temperature?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Temperature affects 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randomness/diversity of token selection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during sampling.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Low Temperature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More predictable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↓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More consistent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Higher Temperature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More varied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More creative / unpredictable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Important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Temperature does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make a model smarter.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PART  7 — CODING COMPARISON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23 — Same Coding Task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Give all models: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"Write a Python program to read student marks and calculate grade. Handle invalid marks."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Compare: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Correctness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Input validation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Code quality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Explanation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Edge cases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Test the code.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Don't simply judge it from the response.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858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24 — AI Code Review Activity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Take one model's code.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Ask another model: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"Review this Python code. Find bugs, edge cases and security problems. Do not rewrite it yet.“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Then: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"Now improve the code."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Industry Workflow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Generate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Test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Review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Improve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Test Again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PART 9 — MODEL SELECTION</a:t>
            </a:r>
          </a:p>
          <a:p>
            <a:pPr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Slide 25 — Which Model Would You Choose?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Scenario 1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Generate college advertisement ideas.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Scenario 2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Analyze a long document.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Scenario 3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Build a coding assistant.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Scenario 4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Run an AI model locally.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Scenario 5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Build an AI application using an API.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Scenario 6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Create multilingual content.</a:t>
            </a:r>
          </a:p>
          <a:p>
            <a:pPr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Choose a model and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justify their choice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Slide 26 — The 6-Question Framework</a:t>
            </a:r>
          </a:p>
          <a:p>
            <a:pPr>
              <a:buNone/>
            </a:pPr>
            <a:endParaRPr lang="en-US" sz="2400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Before selecting an LLM, ask: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1. What is my task?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2. How accurate does it need to be?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3. How much does it cost?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4. How fast does it need to respond?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5. What data am I sending?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6. Where will the model run?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PART 10 — INDUSTRY SKILL</a:t>
            </a:r>
          </a:p>
          <a:p>
            <a:pPr>
              <a:buNone/>
            </a:pPr>
            <a:r>
              <a:rPr lang="en-US" sz="2800" b="1" u="sng" dirty="0">
                <a:latin typeface="Times New Roman" pitchFamily="18" charset="0"/>
                <a:cs typeface="Times New Roman" pitchFamily="18" charset="0"/>
              </a:rPr>
              <a:t>Slide 27 — LLM ≠ Application</a:t>
            </a:r>
          </a:p>
          <a:p>
            <a:pPr>
              <a:buNone/>
            </a:pP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model alone isn't the entire AI application.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LLM + Prompt + Data + Tools + Application Logic + User Interface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AI Application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Resume Analyzer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Resume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 Application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↓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 LLM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Skills Analysis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Recommendations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6200"/>
            <a:ext cx="7943088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AI Customer Support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Customer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Application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Knowledge Base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LLM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Response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90600" y="-277489"/>
            <a:ext cx="7550144" cy="7048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Slide 28 — Model + API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sz="2800" b="1" u="sng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Developers can interact with LLMs through APIs.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Python / 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API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LLM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Response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Application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Industry Skill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Students should understand: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API key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Request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Prompt/input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Model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Parameters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Response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Error handling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Usage/cost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u="sng" dirty="0">
                <a:latin typeface="Times New Roman" pitchFamily="18" charset="0"/>
                <a:cs typeface="Times New Roman" pitchFamily="18" charset="0"/>
              </a:rPr>
              <a:t>Slide 31 — Final Takeaways</a:t>
            </a:r>
          </a:p>
          <a:p>
            <a:pPr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GPT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General-purpose LLM family associated with OpenAI.</a:t>
            </a:r>
          </a:p>
          <a:p>
            <a:pPr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Claude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LLM family associated with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Anthropic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Gemini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Google's LLM family/ecosystem.</a:t>
            </a:r>
          </a:p>
          <a:p>
            <a:pPr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DeepSeek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LLM family with strong focus areas including reasoning and coding.</a:t>
            </a:r>
          </a:p>
          <a:p>
            <a:pPr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Llama</a:t>
            </a:r>
          </a:p>
          <a:p>
            <a:pPr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Meta's open-weight model family.</a:t>
            </a:r>
          </a:p>
          <a:p>
            <a:pPr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Qwen</a:t>
            </a:r>
          </a:p>
          <a:p>
            <a:pPr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Alibaba's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model family with multilingual, coding, reasoning and multimodal variants.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Most Important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Models evolve rapidly. Learn the concepts and evaluation skills, not just today's model rankings.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0"/>
            <a:ext cx="7866888" cy="6248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Slide 32 — Exit Quiz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 is an LLM?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Name six major LLM families discussed today.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3.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 is an open-weight model?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4.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Does higher temperature mean higher intelligence?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5.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Why can two LLMs give different answers to the same prompt?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0"/>
            <a:ext cx="7943088" cy="6248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6.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 factors should an AI engineer consider before choosing a model?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7.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Why should generated code be tested?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8.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 is the difference between an LLM and an AI application?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137</TotalTime>
  <Words>1600</Words>
  <Application>Microsoft Office PowerPoint</Application>
  <PresentationFormat>On-screen Show (4:3)</PresentationFormat>
  <Paragraphs>486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Gill Sans MT</vt:lpstr>
      <vt:lpstr>Times New Roman</vt:lpstr>
      <vt:lpstr>Verdana</vt:lpstr>
      <vt:lpstr>Wingdings 2</vt:lpstr>
      <vt:lpstr>Solstice</vt:lpstr>
      <vt:lpstr>Session: LLM Landscape — GPT, Claude, Gemini, DeepSeek, Llama &amp; Qwen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alam</dc:creator>
  <cp:lastModifiedBy>faraz alam</cp:lastModifiedBy>
  <cp:revision>39</cp:revision>
  <dcterms:created xsi:type="dcterms:W3CDTF">2006-08-16T00:00:00Z</dcterms:created>
  <dcterms:modified xsi:type="dcterms:W3CDTF">2026-09-17T01:27:08Z</dcterms:modified>
</cp:coreProperties>
</file>