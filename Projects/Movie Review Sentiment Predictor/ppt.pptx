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6" r:id="rId1"/>
  </p:sldMasterIdLst>
  <p:sldIdLst>
    <p:sldId id="318" r:id="rId2"/>
    <p:sldId id="319" r:id="rId3"/>
    <p:sldId id="320" r:id="rId4"/>
    <p:sldId id="321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02" r:id="rId61"/>
    <p:sldId id="312" r:id="rId62"/>
    <p:sldId id="313" r:id="rId63"/>
    <p:sldId id="314" r:id="rId64"/>
    <p:sldId id="315" r:id="rId65"/>
    <p:sldId id="316" r:id="rId66"/>
    <p:sldId id="317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21830D40-F322-4784-AD84-49ACDBD6371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007A4F61-7DD1-4AC1-97C9-4B2F99F27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889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0D40-F322-4784-AD84-49ACDBD6371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4F61-7DD1-4AC1-97C9-4B2F99F27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297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1830D40-F322-4784-AD84-49ACDBD6371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007A4F61-7DD1-4AC1-97C9-4B2F99F27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13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21830D40-F322-4784-AD84-49ACDBD6371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4F61-7DD1-4AC1-97C9-4B2F99F27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133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21830D40-F322-4784-AD84-49ACDBD6371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007A4F61-7DD1-4AC1-97C9-4B2F99F27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4469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0D40-F322-4784-AD84-49ACDBD6371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4F61-7DD1-4AC1-97C9-4B2F99F27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04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21830D40-F322-4784-AD84-49ACDBD6371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07A4F61-7DD1-4AC1-97C9-4B2F99F27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500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0D40-F322-4784-AD84-49ACDBD6371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4F61-7DD1-4AC1-97C9-4B2F99F27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418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0D40-F322-4784-AD84-49ACDBD6371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4F61-7DD1-4AC1-97C9-4B2F99F27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216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21830D40-F322-4784-AD84-49ACDBD6371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07A4F61-7DD1-4AC1-97C9-4B2F99F27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557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21830D40-F322-4784-AD84-49ACDBD6371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07A4F61-7DD1-4AC1-97C9-4B2F99F27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3019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21830D40-F322-4784-AD84-49ACDBD6371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007A4F61-7DD1-4AC1-97C9-4B2F99F27036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339965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21830D40-F322-4784-AD84-49ACDBD6371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07A4F61-7DD1-4AC1-97C9-4B2F99F27036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975276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21830D40-F322-4784-AD84-49ACDBD6371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007A4F61-7DD1-4AC1-97C9-4B2F99F27036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165525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1830D40-F322-4784-AD84-49ACDBD6371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07A4F61-7DD1-4AC1-97C9-4B2F99F27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3115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0D40-F322-4784-AD84-49ACDBD6371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4F61-7DD1-4AC1-97C9-4B2F99F27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0622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21830D40-F322-4784-AD84-49ACDBD6371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007A4F61-7DD1-4AC1-97C9-4B2F99F27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8616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0D40-F322-4784-AD84-49ACDBD6371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4F61-7DD1-4AC1-97C9-4B2F99F27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2988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830D40-F322-4784-AD84-49ACDBD6371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7A4F61-7DD1-4AC1-97C9-4B2F99F27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7005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0D40-F322-4784-AD84-49ACDBD6371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4F61-7DD1-4AC1-97C9-4B2F99F27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905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0D40-F322-4784-AD84-49ACDBD6371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4F61-7DD1-4AC1-97C9-4B2F99F27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1841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0D40-F322-4784-AD84-49ACDBD6371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4F61-7DD1-4AC1-97C9-4B2F99F27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4429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0D40-F322-4784-AD84-49ACDBD6371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4F61-7DD1-4AC1-97C9-4B2F99F27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3101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0D40-F322-4784-AD84-49ACDBD6371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4F61-7DD1-4AC1-97C9-4B2F99F27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072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0D40-F322-4784-AD84-49ACDBD6371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4F61-7DD1-4AC1-97C9-4B2F99F27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3536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0D40-F322-4784-AD84-49ACDBD6371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4F61-7DD1-4AC1-97C9-4B2F99F27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1114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0D40-F322-4784-AD84-49ACDBD6371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4F61-7DD1-4AC1-97C9-4B2F99F27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187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21830D40-F322-4784-AD84-49ACDBD6371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007A4F61-7DD1-4AC1-97C9-4B2F99F27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133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5" r:id="rId19"/>
    <p:sldLayoutId id="2147483736" r:id="rId20"/>
    <p:sldLayoutId id="2147483737" r:id="rId21"/>
    <p:sldLayoutId id="2147483738" r:id="rId22"/>
    <p:sldLayoutId id="2147483739" r:id="rId23"/>
    <p:sldLayoutId id="2147483740" r:id="rId24"/>
    <p:sldLayoutId id="2147483741" r:id="rId25"/>
    <p:sldLayoutId id="2147483742" r:id="rId26"/>
    <p:sldLayoutId id="2147483743" r:id="rId27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79342D-7DC6-A390-8649-7C3E6693E805}"/>
              </a:ext>
            </a:extLst>
          </p:cNvPr>
          <p:cNvSpPr txBox="1"/>
          <p:nvPr/>
        </p:nvSpPr>
        <p:spPr>
          <a:xfrm>
            <a:off x="-1" y="0"/>
            <a:ext cx="12192001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"Today we will learn Artificial Intelligence."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with: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 client has approached our company. They want an AI-powered product."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</a:t>
            </a:r>
          </a:p>
          <a:p>
            <a:pPr lvl="2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REQUIREMENT</a:t>
            </a:r>
          </a:p>
          <a:p>
            <a:pPr lvl="2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Movie Review Platform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receive thousands of movie reviews.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identify whether a review is positive or negative.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"Can we build this?"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Yes/No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"How?"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"Before we build it, you need to understand what is happening inside the AI."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gives you the justification for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AI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2581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0DD321-9A8A-5EA4-F780-BAE1910BA0F7}"/>
              </a:ext>
            </a:extLst>
          </p:cNvPr>
          <p:cNvSpPr txBox="1"/>
          <p:nvPr/>
        </p:nvSpPr>
        <p:spPr>
          <a:xfrm>
            <a:off x="1" y="0"/>
            <a:ext cx="9144000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🏢 OUR AI COMPANY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CLIENT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│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▼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REQUIREMENT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│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▼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🧠 CORE AI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│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Understand the engine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│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▼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🧪 COLAB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│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Train / Test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│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▼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613258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650043-F795-5287-560A-2D27A287B828}"/>
              </a:ext>
            </a:extLst>
          </p:cNvPr>
          <p:cNvSpPr txBox="1"/>
          <p:nvPr/>
        </p:nvSpPr>
        <p:spPr>
          <a:xfrm>
            <a:off x="0" y="0"/>
            <a:ext cx="9144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READY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│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▼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🛠️ APPLIED AI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│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┌──────────────┼──────────────┐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              ↓              ↓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Python       APIs        UI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│              │              │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└──────────────┼──────────────┘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↓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APPLICATION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│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▼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🧪 TESTING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│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▼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741506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19B47D-BD12-71DD-5BBD-53BE92BE7126}"/>
              </a:ext>
            </a:extLst>
          </p:cNvPr>
          <p:cNvSpPr txBox="1"/>
          <p:nvPr/>
        </p:nvSpPr>
        <p:spPr>
          <a:xfrm>
            <a:off x="0" y="0"/>
            <a:ext cx="9144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🐛 DEBUGGING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│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▼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RAG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│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▼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AGENTS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│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▼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🚀 FINAL PRODUCT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77306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59F158-FA30-DF72-9083-0881A1B3C792}"/>
              </a:ext>
            </a:extLst>
          </p:cNvPr>
          <p:cNvSpPr txBox="1"/>
          <p:nvPr/>
        </p:nvSpPr>
        <p:spPr>
          <a:xfrm>
            <a:off x="904568" y="1396181"/>
            <a:ext cx="10048567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Your First Machine Learning Project</a:t>
            </a:r>
          </a:p>
          <a:p>
            <a:endParaRPr lang="en-IN" sz="4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Hugging Face → Google Collab → Data Cleaning → Training → Prediction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390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8FFE71-D1B8-5B77-1AF2-87659272DC85}"/>
              </a:ext>
            </a:extLst>
          </p:cNvPr>
          <p:cNvSpPr txBox="1"/>
          <p:nvPr/>
        </p:nvSpPr>
        <p:spPr>
          <a:xfrm>
            <a:off x="0" y="0"/>
            <a:ext cx="1219200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 — TODAY'S PRACTICAL PROJECT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🎬 Movie Review Sentiment Predictor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problem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movie website receives thousands of reviews.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every review, we want a computer to automatically identify: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review Positive or Negative?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 we will build this ourselves.</a:t>
            </a:r>
          </a:p>
          <a:p>
            <a:pPr rtl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Review</a:t>
            </a:r>
          </a:p>
          <a:p>
            <a:pPr rtl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rtl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pPr rtl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rtl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  <a:p>
            <a:pPr rtl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rtl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/ Negative</a:t>
            </a:r>
          </a:p>
        </p:txBody>
      </p:sp>
    </p:spTree>
    <p:extLst>
      <p:ext uri="{BB962C8B-B14F-4D97-AF65-F5344CB8AC3E}">
        <p14:creationId xmlns:p14="http://schemas.microsoft.com/office/powerpoint/2010/main" val="2590714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6C9096-96B1-A304-7622-2F9155A77278}"/>
              </a:ext>
            </a:extLst>
          </p:cNvPr>
          <p:cNvSpPr txBox="1"/>
          <p:nvPr/>
        </p:nvSpPr>
        <p:spPr>
          <a:xfrm>
            <a:off x="304800" y="855406"/>
            <a:ext cx="88392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🐍 Python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☁️ Google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🤗 Hugging Face Dataset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🐼 Pandas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🤖 Scikit-learn</a:t>
            </a:r>
          </a:p>
        </p:txBody>
      </p:sp>
    </p:spTree>
    <p:extLst>
      <p:ext uri="{BB962C8B-B14F-4D97-AF65-F5344CB8AC3E}">
        <p14:creationId xmlns:p14="http://schemas.microsoft.com/office/powerpoint/2010/main" val="2499111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CBC54F-6333-DF72-2875-EBCB67ECB1F3}"/>
              </a:ext>
            </a:extLst>
          </p:cNvPr>
          <p:cNvSpPr txBox="1"/>
          <p:nvPr/>
        </p:nvSpPr>
        <p:spPr>
          <a:xfrm>
            <a:off x="0" y="0"/>
            <a:ext cx="11818374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 — WHAT WILL WE BUILD?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end of today's practical, you will be able to write:</a:t>
            </a:r>
          </a:p>
          <a:p>
            <a:pPr lvl="1"/>
            <a:r>
              <a:rPr lang="en-IN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predict_sentiment</a:t>
            </a: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lvl="1"/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"I really enjoyed this movie!"</a:t>
            </a:r>
          </a:p>
          <a:p>
            <a:pPr lvl="1"/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get:</a:t>
            </a:r>
          </a:p>
          <a:p>
            <a:pPr rtl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another review:</a:t>
            </a:r>
          </a:p>
          <a:p>
            <a:pPr lvl="1"/>
            <a:r>
              <a:rPr lang="en-IN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predict_sentiment</a:t>
            </a: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lvl="1"/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"The movie was boring and disappointing."</a:t>
            </a:r>
          </a:p>
          <a:p>
            <a:pPr lvl="1"/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may return:</a:t>
            </a:r>
          </a:p>
          <a:p>
            <a:pPr rtl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our mini ML project</a:t>
            </a:r>
          </a:p>
        </p:txBody>
      </p:sp>
    </p:spTree>
    <p:extLst>
      <p:ext uri="{BB962C8B-B14F-4D97-AF65-F5344CB8AC3E}">
        <p14:creationId xmlns:p14="http://schemas.microsoft.com/office/powerpoint/2010/main" val="533592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669A308-479D-59EE-2D99-6AD0E2B41844}"/>
              </a:ext>
            </a:extLst>
          </p:cNvPr>
          <p:cNvSpPr txBox="1"/>
          <p:nvPr/>
        </p:nvSpPr>
        <p:spPr>
          <a:xfrm>
            <a:off x="0" y="-1"/>
            <a:ext cx="9114503" cy="6858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 — THE COMPLETE JOURNEY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 we will follow this exact pipeline: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Find Dataset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Load Dataset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Understand Dataset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Clean Dataset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Separate Input &amp; Output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Split Training &amp; Testing Data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Convert Text → Numbers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Train ML Model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</p:txBody>
      </p:sp>
    </p:spTree>
    <p:extLst>
      <p:ext uri="{BB962C8B-B14F-4D97-AF65-F5344CB8AC3E}">
        <p14:creationId xmlns:p14="http://schemas.microsoft.com/office/powerpoint/2010/main" val="2539915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5759E3-3315-D963-646C-CDA455C93D28}"/>
              </a:ext>
            </a:extLst>
          </p:cNvPr>
          <p:cNvSpPr txBox="1"/>
          <p:nvPr/>
        </p:nvSpPr>
        <p:spPr>
          <a:xfrm>
            <a:off x="0" y="0"/>
            <a:ext cx="9144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Evaluate Model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Give New Input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Get Prediction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complete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step at a time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4056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4B95D87-4411-0A27-3ADB-3EFD450FF3CA}"/>
              </a:ext>
            </a:extLst>
          </p:cNvPr>
          <p:cNvSpPr txBox="1"/>
          <p:nvPr/>
        </p:nvSpPr>
        <p:spPr>
          <a:xfrm>
            <a:off x="0" y="1"/>
            <a:ext cx="121920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1 — STARTING THE PROJECT</a:t>
            </a:r>
          </a:p>
          <a:p>
            <a:pPr>
              <a:buNone/>
            </a:pP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 — OPEN GOOGLE COLAB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Open: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Create: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Notebook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Rename the notebook:</a:t>
            </a:r>
          </a:p>
          <a:p>
            <a:pPr rtl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Movie_Sentiment_ML_Project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are we using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>
              <a:buNone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don't need to install Python on every computer.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write and execute Python directly in the browser.</a:t>
            </a:r>
          </a:p>
        </p:txBody>
      </p:sp>
    </p:spTree>
    <p:extLst>
      <p:ext uri="{BB962C8B-B14F-4D97-AF65-F5344CB8AC3E}">
        <p14:creationId xmlns:p14="http://schemas.microsoft.com/office/powerpoint/2010/main" val="3862257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FEDC16-95DD-6C98-0336-6D404E602378}"/>
              </a:ext>
            </a:extLst>
          </p:cNvPr>
          <p:cNvSpPr txBox="1"/>
          <p:nvPr/>
        </p:nvSpPr>
        <p:spPr>
          <a:xfrm>
            <a:off x="-1" y="0"/>
            <a:ext cx="1209367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2 — GETTING REAL DATA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5 — WHERE WILL OUR DATA COME FROM?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don't want to manually create thousands of reviews.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Instead, we will use a dataset available through: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🤗 Hugging Face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Hugging Face provides datasets that can be loaded directly into Python.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dataset: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rotten_tomatoes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 movie-review text with sentiment labels.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I have used:-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https://huggingface.co/datasets/cornell-movie-review-data/rotten_tomatoes</a:t>
            </a:r>
          </a:p>
        </p:txBody>
      </p:sp>
    </p:spTree>
    <p:extLst>
      <p:ext uri="{BB962C8B-B14F-4D97-AF65-F5344CB8AC3E}">
        <p14:creationId xmlns:p14="http://schemas.microsoft.com/office/powerpoint/2010/main" val="329595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A124BAD-FC0B-1BE7-86CD-D2AE9C33F8B5}"/>
              </a:ext>
            </a:extLst>
          </p:cNvPr>
          <p:cNvSpPr txBox="1"/>
          <p:nvPr/>
        </p:nvSpPr>
        <p:spPr>
          <a:xfrm>
            <a:off x="0" y="0"/>
            <a:ext cx="12192000" cy="396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6 — INSTALL THE DATASET LIBRARY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this in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!pip install datasets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we installing?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Python package:</a:t>
            </a:r>
          </a:p>
          <a:p>
            <a:pPr lvl="1"/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gives us tools for loading datasets from Hugging Face.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CHECKPOINT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cell should finish without an installation error.</a:t>
            </a:r>
          </a:p>
        </p:txBody>
      </p:sp>
    </p:spTree>
    <p:extLst>
      <p:ext uri="{BB962C8B-B14F-4D97-AF65-F5344CB8AC3E}">
        <p14:creationId xmlns:p14="http://schemas.microsoft.com/office/powerpoint/2010/main" val="2853271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8110A8-738D-A242-6886-8F84F991DA93}"/>
              </a:ext>
            </a:extLst>
          </p:cNvPr>
          <p:cNvSpPr txBox="1"/>
          <p:nvPr/>
        </p:nvSpPr>
        <p:spPr>
          <a:xfrm>
            <a:off x="0" y="0"/>
            <a:ext cx="9144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7 — IMPORT THE DATASET FUNCTION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datasets import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load_dataset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did we do?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imported: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load_dataset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function will allow Python to load our dataset.</a:t>
            </a:r>
          </a:p>
        </p:txBody>
      </p:sp>
    </p:spTree>
    <p:extLst>
      <p:ext uri="{BB962C8B-B14F-4D97-AF65-F5344CB8AC3E}">
        <p14:creationId xmlns:p14="http://schemas.microsoft.com/office/powerpoint/2010/main" val="2808388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1D264B-4964-2B39-C728-571F2B89E507}"/>
              </a:ext>
            </a:extLst>
          </p:cNvPr>
          <p:cNvSpPr txBox="1"/>
          <p:nvPr/>
        </p:nvSpPr>
        <p:spPr>
          <a:xfrm>
            <a:off x="0" y="0"/>
            <a:ext cx="9144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8 — LOAD THE DATASET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rtl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= </a:t>
            </a:r>
            <a:r>
              <a:rPr lang="en-IN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load_dataset</a:t>
            </a: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IN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rotten_tomatoes</a:t>
            </a: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run:</a:t>
            </a:r>
          </a:p>
          <a:p>
            <a:pPr lvl="1"/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AND LOOK 	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Don't just move to the next slide.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 at the output.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different sections/splits can you see?</a:t>
            </a:r>
          </a:p>
        </p:txBody>
      </p:sp>
    </p:spTree>
    <p:extLst>
      <p:ext uri="{BB962C8B-B14F-4D97-AF65-F5344CB8AC3E}">
        <p14:creationId xmlns:p14="http://schemas.microsoft.com/office/powerpoint/2010/main" val="3231809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CD50CD-F126-DA29-949D-C2A43D30EFD0}"/>
              </a:ext>
            </a:extLst>
          </p:cNvPr>
          <p:cNvSpPr txBox="1"/>
          <p:nvPr/>
        </p:nvSpPr>
        <p:spPr>
          <a:xfrm>
            <a:off x="0" y="0"/>
            <a:ext cx="9144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9 — UNDERSTAND DATASET SPLITS</a:t>
            </a:r>
          </a:p>
          <a:p>
            <a:pPr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machine-learning dataset is often divided into different parts.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by the model to learn.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data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used while developing/tuning a model.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data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evaluate the final model.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today's simple project, we will work with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split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create our own train/test split.</a:t>
            </a:r>
          </a:p>
        </p:txBody>
      </p:sp>
    </p:spTree>
    <p:extLst>
      <p:ext uri="{BB962C8B-B14F-4D97-AF65-F5344CB8AC3E}">
        <p14:creationId xmlns:p14="http://schemas.microsoft.com/office/powerpoint/2010/main" val="3985417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25D8ED-7661-105D-E41E-DBC2C3F0D262}"/>
              </a:ext>
            </a:extLst>
          </p:cNvPr>
          <p:cNvSpPr txBox="1"/>
          <p:nvPr/>
        </p:nvSpPr>
        <p:spPr>
          <a:xfrm>
            <a:off x="9832" y="0"/>
            <a:ext cx="9144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10 — LOOK AT ONE RECORD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lvl="1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dataset["train"][0]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should see information about one movie review.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 for:</a:t>
            </a:r>
          </a:p>
          <a:p>
            <a:pPr lvl="1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</a:p>
          <a:p>
            <a:pPr lvl="1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</a:p>
          <a:p>
            <a:pPr lvl="1"/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 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one is the actual review?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one represents the answer?</a:t>
            </a:r>
          </a:p>
        </p:txBody>
      </p:sp>
    </p:spTree>
    <p:extLst>
      <p:ext uri="{BB962C8B-B14F-4D97-AF65-F5344CB8AC3E}">
        <p14:creationId xmlns:p14="http://schemas.microsoft.com/office/powerpoint/2010/main" val="3631023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52FAA3E-6576-189E-D78F-BC295BB5F234}"/>
              </a:ext>
            </a:extLst>
          </p:cNvPr>
          <p:cNvSpPr txBox="1"/>
          <p:nvPr/>
        </p:nvSpPr>
        <p:spPr>
          <a:xfrm>
            <a:off x="0" y="1"/>
            <a:ext cx="9144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11 — UNDERSTAND INPUT AND OUTPUT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our project: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Review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"This movie was excellent."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needs to predict: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terminology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→ Feature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 → Label / Target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140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BABDC6-66A1-AD71-401A-635BD48B5181}"/>
              </a:ext>
            </a:extLst>
          </p:cNvPr>
          <p:cNvSpPr txBox="1"/>
          <p:nvPr/>
        </p:nvSpPr>
        <p:spPr>
          <a:xfrm>
            <a:off x="0" y="0"/>
            <a:ext cx="914400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3 — WORKING WITH PANDAS</a:t>
            </a:r>
          </a:p>
          <a:p>
            <a:pPr>
              <a:buNone/>
            </a:pP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12 — CONVERT DATA INTO A TABLE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use Pandas because working with data becomes easier.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rtl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pandas as pd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Then:</a:t>
            </a:r>
          </a:p>
          <a:p>
            <a:pPr rtl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pd.DataFrame</a:t>
            </a: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(dataset["train"])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Now:</a:t>
            </a:r>
          </a:p>
          <a:p>
            <a:pPr rtl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df.head</a:t>
            </a: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should you see?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table containing:</a:t>
            </a:r>
          </a:p>
          <a:p>
            <a:pPr rtl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text</a:t>
            </a:r>
          </a:p>
          <a:p>
            <a:pPr rtl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label</a:t>
            </a:r>
          </a:p>
        </p:txBody>
      </p:sp>
    </p:spTree>
    <p:extLst>
      <p:ext uri="{BB962C8B-B14F-4D97-AF65-F5344CB8AC3E}">
        <p14:creationId xmlns:p14="http://schemas.microsoft.com/office/powerpoint/2010/main" val="311249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6E39D50-2F86-4605-58E3-26D70E585A4F}"/>
              </a:ext>
            </a:extLst>
          </p:cNvPr>
          <p:cNvSpPr txBox="1"/>
          <p:nvPr/>
        </p:nvSpPr>
        <p:spPr>
          <a:xfrm>
            <a:off x="0" y="0"/>
            <a:ext cx="9144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13 — WHAT IS A DATAFRAME?</a:t>
            </a:r>
          </a:p>
          <a:p>
            <a:pPr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table-like data structure.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 of it like an Excel spreadsheet inside Python.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                             label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------------------------------------------------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"This movie was excellent"          1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"This movie was boring"             0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"Great acting and story"            1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"Very disappointing"                0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our dataset is easier to inspect and manipulate.</a:t>
            </a:r>
          </a:p>
        </p:txBody>
      </p:sp>
    </p:spTree>
    <p:extLst>
      <p:ext uri="{BB962C8B-B14F-4D97-AF65-F5344CB8AC3E}">
        <p14:creationId xmlns:p14="http://schemas.microsoft.com/office/powerpoint/2010/main" val="39384860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307829-E84F-024D-DCF7-703357EA2C62}"/>
              </a:ext>
            </a:extLst>
          </p:cNvPr>
          <p:cNvSpPr txBox="1"/>
          <p:nvPr/>
        </p:nvSpPr>
        <p:spPr>
          <a:xfrm>
            <a:off x="0" y="0"/>
            <a:ext cx="9144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14 — HOW LARGE IS OUR DATA?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lvl="2"/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df.shape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 represents: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(number of rows, number of columns)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Remember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Rows = examples/reviews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 = information about each review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1765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47CBE47-9E4B-76C6-BDB3-9DEACAAC3138}"/>
              </a:ext>
            </a:extLst>
          </p:cNvPr>
          <p:cNvSpPr txBox="1"/>
          <p:nvPr/>
        </p:nvSpPr>
        <p:spPr>
          <a:xfrm>
            <a:off x="0" y="1"/>
            <a:ext cx="9144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15 — WHAT COLUMNS DO WE HAVE?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lvl="1"/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df.columns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should identify the columns that contain: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text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wanted to predict sentiment, which column should the model read?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what should it predict?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</a:p>
        </p:txBody>
      </p:sp>
    </p:spTree>
    <p:extLst>
      <p:ext uri="{BB962C8B-B14F-4D97-AF65-F5344CB8AC3E}">
        <p14:creationId xmlns:p14="http://schemas.microsoft.com/office/powerpoint/2010/main" val="32738403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6A0D98-1F4C-2401-9B9C-F6DE753DC907}"/>
              </a:ext>
            </a:extLst>
          </p:cNvPr>
          <p:cNvSpPr txBox="1"/>
          <p:nvPr/>
        </p:nvSpPr>
        <p:spPr>
          <a:xfrm>
            <a:off x="0" y="0"/>
            <a:ext cx="12192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16 — LOOK AT THE DATA TYPES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df.info()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gives us information about: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rows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names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we inspect data before training?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bad or unexpected data can cause problems later.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90556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469400B-20D5-009A-47AE-6E9F619F5EC7}"/>
              </a:ext>
            </a:extLst>
          </p:cNvPr>
          <p:cNvSpPr txBox="1"/>
          <p:nvPr/>
        </p:nvSpPr>
        <p:spPr>
          <a:xfrm>
            <a:off x="0" y="0"/>
            <a:ext cx="9144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4 — DATA EXPLORATION</a:t>
            </a: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17 — LOOK AT THE LABEL DISTRIBUTION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lvl="2"/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["label"].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value_counts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tells us how many examples belong to each label.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0 → ?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1 → ?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both classes represented?</a:t>
            </a:r>
          </a:p>
        </p:txBody>
      </p:sp>
    </p:spTree>
    <p:extLst>
      <p:ext uri="{BB962C8B-B14F-4D97-AF65-F5344CB8AC3E}">
        <p14:creationId xmlns:p14="http://schemas.microsoft.com/office/powerpoint/2010/main" val="35486619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D07006-0978-6674-D3DF-CD7FE1086A28}"/>
              </a:ext>
            </a:extLst>
          </p:cNvPr>
          <p:cNvSpPr txBox="1"/>
          <p:nvPr/>
        </p:nvSpPr>
        <p:spPr>
          <a:xfrm>
            <a:off x="0" y="0"/>
            <a:ext cx="9144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18 — READ REAL REVIEWS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lvl="2"/>
            <a:r>
              <a:rPr lang="en-IN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["text"].head(10)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the reviews carefully.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task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review, try to guess:</a:t>
            </a:r>
          </a:p>
          <a:p>
            <a:pPr rtl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Positive?</a:t>
            </a:r>
          </a:p>
          <a:p>
            <a:pPr rtl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Negative?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words or expressions helped you decide?</a:t>
            </a:r>
          </a:p>
        </p:txBody>
      </p:sp>
    </p:spTree>
    <p:extLst>
      <p:ext uri="{BB962C8B-B14F-4D97-AF65-F5344CB8AC3E}">
        <p14:creationId xmlns:p14="http://schemas.microsoft.com/office/powerpoint/2010/main" val="30089126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A365BC-2CAE-BD6E-F7A2-ECA2ACE70368}"/>
              </a:ext>
            </a:extLst>
          </p:cNvPr>
          <p:cNvSpPr txBox="1"/>
          <p:nvPr/>
        </p:nvSpPr>
        <p:spPr>
          <a:xfrm>
            <a:off x="0" y="0"/>
            <a:ext cx="9144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19 — MACHINE LEARNING STARTS WITH DATA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model does not magically know what “good” or “bad” means.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learns patterns from examples.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+ Label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Examples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Patterns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why the quality and preparation of the dataset matter.</a:t>
            </a:r>
          </a:p>
        </p:txBody>
      </p:sp>
    </p:spTree>
    <p:extLst>
      <p:ext uri="{BB962C8B-B14F-4D97-AF65-F5344CB8AC3E}">
        <p14:creationId xmlns:p14="http://schemas.microsoft.com/office/powerpoint/2010/main" val="18460838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BB6736D-6D78-49E8-8692-B5FAAB1B4E0E}"/>
              </a:ext>
            </a:extLst>
          </p:cNvPr>
          <p:cNvSpPr txBox="1"/>
          <p:nvPr/>
        </p:nvSpPr>
        <p:spPr>
          <a:xfrm>
            <a:off x="0" y="0"/>
            <a:ext cx="9144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5 — DATA CLEANING</a:t>
            </a: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20 — CHECK FOR MISSING VALUES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lvl="2"/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df.isnull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().sum()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does this tell us?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tells us how many missing values exist in each column.</a:t>
            </a:r>
          </a:p>
          <a:p>
            <a:pPr lvl="2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</a:t>
            </a:r>
          </a:p>
          <a:p>
            <a:pPr lvl="2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    0</a:t>
            </a:r>
          </a:p>
          <a:p>
            <a:pPr lvl="2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   0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 there are no missing values in those columns.</a:t>
            </a:r>
          </a:p>
        </p:txBody>
      </p:sp>
    </p:spTree>
    <p:extLst>
      <p:ext uri="{BB962C8B-B14F-4D97-AF65-F5344CB8AC3E}">
        <p14:creationId xmlns:p14="http://schemas.microsoft.com/office/powerpoint/2010/main" val="35590457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328ABC0-7BB1-D407-CBA8-2D8134742E42}"/>
              </a:ext>
            </a:extLst>
          </p:cNvPr>
          <p:cNvSpPr txBox="1"/>
          <p:nvPr/>
        </p:nvSpPr>
        <p:spPr>
          <a:xfrm>
            <a:off x="0" y="0"/>
            <a:ext cx="9144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21 — CHECK FOR DUPLICATES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lvl="2"/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df.duplicated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().sum()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duplicate?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record appearing more than once.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Duplicates may affect our analysis and training process.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necessary:</a:t>
            </a:r>
          </a:p>
          <a:p>
            <a:pPr lvl="2"/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df.drop_duplicates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3651426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7F9124-148D-1E93-805B-4C93D9EAE282}"/>
              </a:ext>
            </a:extLst>
          </p:cNvPr>
          <p:cNvSpPr txBox="1"/>
          <p:nvPr/>
        </p:nvSpPr>
        <p:spPr>
          <a:xfrm>
            <a:off x="0" y="127820"/>
            <a:ext cx="9144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22 — BASIC TEXT CLEANING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make the text more consistent.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lvl="2"/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["text"] =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["text"].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str.lower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Then:</a:t>
            </a:r>
          </a:p>
          <a:p>
            <a:pPr lvl="2"/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["text"] =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["text"].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str.strip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 THIS Movie Was GREAT  "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"this movie was great"</a:t>
            </a:r>
          </a:p>
        </p:txBody>
      </p:sp>
    </p:spTree>
    <p:extLst>
      <p:ext uri="{BB962C8B-B14F-4D97-AF65-F5344CB8AC3E}">
        <p14:creationId xmlns:p14="http://schemas.microsoft.com/office/powerpoint/2010/main" val="8082523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D20AC58-6C40-1012-A807-7238B2B7BFD4}"/>
              </a:ext>
            </a:extLst>
          </p:cNvPr>
          <p:cNvSpPr txBox="1"/>
          <p:nvPr/>
        </p:nvSpPr>
        <p:spPr>
          <a:xfrm>
            <a:off x="68827" y="127818"/>
            <a:ext cx="907517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23 — CHECK THE CLEANED TEXT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lvl="2"/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["text"].head()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cleaning: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"This Movie Was GREAT"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cleaning: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"this movie was great"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doesn't mean removing everything.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are simply preparing the data so it is more consistent.</a:t>
            </a:r>
          </a:p>
        </p:txBody>
      </p:sp>
    </p:spTree>
    <p:extLst>
      <p:ext uri="{BB962C8B-B14F-4D97-AF65-F5344CB8AC3E}">
        <p14:creationId xmlns:p14="http://schemas.microsoft.com/office/powerpoint/2010/main" val="8037210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BBABD3-B293-6A0D-968A-9961003CE634}"/>
              </a:ext>
            </a:extLst>
          </p:cNvPr>
          <p:cNvSpPr txBox="1"/>
          <p:nvPr/>
        </p:nvSpPr>
        <p:spPr>
          <a:xfrm>
            <a:off x="0" y="0"/>
            <a:ext cx="91440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24 — CHECKPOINT #1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moving forward, verify: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Dataset loaded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created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Columns identified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Dataset size checked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Labels inspected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Missing values checked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Duplicates checked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Text cleaned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all are working: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➡️ Continue.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something failed: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🛑 Fix it first.</a:t>
            </a:r>
          </a:p>
        </p:txBody>
      </p:sp>
    </p:spTree>
    <p:extLst>
      <p:ext uri="{BB962C8B-B14F-4D97-AF65-F5344CB8AC3E}">
        <p14:creationId xmlns:p14="http://schemas.microsoft.com/office/powerpoint/2010/main" val="8476029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A091438-7279-543E-C31F-AD7A32E3E877}"/>
              </a:ext>
            </a:extLst>
          </p:cNvPr>
          <p:cNvSpPr txBox="1"/>
          <p:nvPr/>
        </p:nvSpPr>
        <p:spPr>
          <a:xfrm>
            <a:off x="0" y="1"/>
            <a:ext cx="9144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6 — PREPARE DATA FOR ML</a:t>
            </a: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25 — SEPARATE INPUT AND TARGET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["text"]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["label"]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Remember:</a:t>
            </a:r>
          </a:p>
          <a:p>
            <a:pPr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What the model receives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What the model should predict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our project: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→ Movie Review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→ Sentiment Label</a:t>
            </a:r>
          </a:p>
        </p:txBody>
      </p:sp>
    </p:spTree>
    <p:extLst>
      <p:ext uri="{BB962C8B-B14F-4D97-AF65-F5344CB8AC3E}">
        <p14:creationId xmlns:p14="http://schemas.microsoft.com/office/powerpoint/2010/main" val="6669238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B3160C-2D58-44E8-B0FD-B0775448AEA6}"/>
              </a:ext>
            </a:extLst>
          </p:cNvPr>
          <p:cNvSpPr txBox="1"/>
          <p:nvPr/>
        </p:nvSpPr>
        <p:spPr>
          <a:xfrm>
            <a:off x="0" y="0"/>
            <a:ext cx="12192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26 — WHY DO WE NEED TRAINING AND TESTING DATA?</a:t>
            </a:r>
          </a:p>
          <a:p>
            <a:pPr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you study: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4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your teacher asks you exactly the same questions.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them correct doesn't tell us whether you can solve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questions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models need the same kind of test.</a:t>
            </a:r>
          </a:p>
        </p:txBody>
      </p:sp>
    </p:spTree>
    <p:extLst>
      <p:ext uri="{BB962C8B-B14F-4D97-AF65-F5344CB8AC3E}">
        <p14:creationId xmlns:p14="http://schemas.microsoft.com/office/powerpoint/2010/main" val="10186362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CEDECBD-9C24-7CCF-4199-EE1AF811A2D0}"/>
              </a:ext>
            </a:extLst>
          </p:cNvPr>
          <p:cNvSpPr txBox="1"/>
          <p:nvPr/>
        </p:nvSpPr>
        <p:spPr>
          <a:xfrm>
            <a:off x="0" y="0"/>
            <a:ext cx="9144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27 — SPLIT THE DATA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sklearn.model_selection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Then:</a:t>
            </a:r>
          </a:p>
          <a:p>
            <a:pPr lvl="4"/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lvl="4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X,</a:t>
            </a:r>
          </a:p>
          <a:p>
            <a:pPr lvl="4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y,</a:t>
            </a:r>
          </a:p>
          <a:p>
            <a:pPr lvl="4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test_size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=0.2,</a:t>
            </a:r>
          </a:p>
          <a:p>
            <a:pPr lvl="4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random_state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=42</a:t>
            </a:r>
          </a:p>
          <a:p>
            <a:pPr lvl="4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4"/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80% → Training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20% → Testing</a:t>
            </a:r>
          </a:p>
        </p:txBody>
      </p:sp>
    </p:spTree>
    <p:extLst>
      <p:ext uri="{BB962C8B-B14F-4D97-AF65-F5344CB8AC3E}">
        <p14:creationId xmlns:p14="http://schemas.microsoft.com/office/powerpoint/2010/main" val="33990033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F0733FA-6F36-EA00-EEAA-FE9C4F142875}"/>
              </a:ext>
            </a:extLst>
          </p:cNvPr>
          <p:cNvSpPr txBox="1"/>
          <p:nvPr/>
        </p:nvSpPr>
        <p:spPr>
          <a:xfrm>
            <a:off x="0" y="1"/>
            <a:ext cx="9144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28 — CHECK OUR SPLIT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print("Training examples:",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print("Testing examples:",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 yourself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the testing data kept separate?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we want to evaluate the model using examples that were not used during training.</a:t>
            </a:r>
          </a:p>
        </p:txBody>
      </p:sp>
    </p:spTree>
    <p:extLst>
      <p:ext uri="{BB962C8B-B14F-4D97-AF65-F5344CB8AC3E}">
        <p14:creationId xmlns:p14="http://schemas.microsoft.com/office/powerpoint/2010/main" val="1577981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D6D73D-A910-6040-1DAA-02606EB6565D}"/>
              </a:ext>
            </a:extLst>
          </p:cNvPr>
          <p:cNvSpPr txBox="1"/>
          <p:nvPr/>
        </p:nvSpPr>
        <p:spPr>
          <a:xfrm>
            <a:off x="0" y="1"/>
            <a:ext cx="9144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7 — TEXT TO NUMBERS</a:t>
            </a:r>
          </a:p>
          <a:p>
            <a:pPr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29 — THE PROBLEM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model cannot directly receive: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"This movie was fantastic"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ML algorithms need numerical features.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we need: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 we will use:</a:t>
            </a:r>
          </a:p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TF-IDF</a:t>
            </a:r>
          </a:p>
        </p:txBody>
      </p:sp>
    </p:spTree>
    <p:extLst>
      <p:ext uri="{BB962C8B-B14F-4D97-AF65-F5344CB8AC3E}">
        <p14:creationId xmlns:p14="http://schemas.microsoft.com/office/powerpoint/2010/main" val="13892270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6B6866-CD6C-5A45-B05F-6099F2E6E24F}"/>
              </a:ext>
            </a:extLst>
          </p:cNvPr>
          <p:cNvSpPr txBox="1"/>
          <p:nvPr/>
        </p:nvSpPr>
        <p:spPr>
          <a:xfrm>
            <a:off x="0" y="0"/>
            <a:ext cx="12192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30 — WHAT IS TF-IDF?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is a method for representing text numerically.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gives numerical importance to words based on their occurrence across documents.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today, remember only: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→ Numerical Features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don't need to calculate the mathematics manually.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library does it for us.</a:t>
            </a:r>
          </a:p>
        </p:txBody>
      </p:sp>
    </p:spTree>
    <p:extLst>
      <p:ext uri="{BB962C8B-B14F-4D97-AF65-F5344CB8AC3E}">
        <p14:creationId xmlns:p14="http://schemas.microsoft.com/office/powerpoint/2010/main" val="30024977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FF0DD5-17DD-5675-AFAF-3CF6E54E85E9}"/>
              </a:ext>
            </a:extLst>
          </p:cNvPr>
          <p:cNvSpPr txBox="1"/>
          <p:nvPr/>
        </p:nvSpPr>
        <p:spPr>
          <a:xfrm>
            <a:off x="0" y="0"/>
            <a:ext cx="1219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31 — IMPORT TF-IDF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sklearn.feature_extraction.text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TfidfVectorizer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create the vectorizer: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vectorizer =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TfidfVectorizer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vectorizer will learn how to represent our text numerically.</a:t>
            </a:r>
          </a:p>
        </p:txBody>
      </p:sp>
    </p:spTree>
    <p:extLst>
      <p:ext uri="{BB962C8B-B14F-4D97-AF65-F5344CB8AC3E}">
        <p14:creationId xmlns:p14="http://schemas.microsoft.com/office/powerpoint/2010/main" val="24487750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3845E0-D519-71AF-E5EE-36498B084C2B}"/>
              </a:ext>
            </a:extLst>
          </p:cNvPr>
          <p:cNvSpPr txBox="1"/>
          <p:nvPr/>
        </p:nvSpPr>
        <p:spPr>
          <a:xfrm>
            <a:off x="0" y="0"/>
            <a:ext cx="9144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32 — CONVERT TRAINING TEXT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lvl="1"/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X_train_vectorized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vectorizer.fit_transform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happened?</a:t>
            </a:r>
          </a:p>
          <a:p>
            <a:pPr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vectorizer: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Looked at the training text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the vocabulary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the reviews into numerical features</a:t>
            </a:r>
          </a:p>
        </p:txBody>
      </p:sp>
    </p:spTree>
    <p:extLst>
      <p:ext uri="{BB962C8B-B14F-4D97-AF65-F5344CB8AC3E}">
        <p14:creationId xmlns:p14="http://schemas.microsoft.com/office/powerpoint/2010/main" val="17589255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006186-CD4D-E694-83F8-90F116E8ED23}"/>
              </a:ext>
            </a:extLst>
          </p:cNvPr>
          <p:cNvSpPr txBox="1"/>
          <p:nvPr/>
        </p:nvSpPr>
        <p:spPr>
          <a:xfrm>
            <a:off x="0" y="0"/>
            <a:ext cx="9144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33 — CONVERT TESTING TEXT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lvl="2"/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X_test_vectorized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vectorizer.transform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difference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Training:</a:t>
            </a:r>
          </a:p>
          <a:p>
            <a:pPr lvl="3"/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fit_transform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Testing:</a:t>
            </a:r>
          </a:p>
          <a:p>
            <a:pPr lvl="3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transform()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learn the representation from the training data and then apply it to unseen test data.</a:t>
            </a:r>
          </a:p>
        </p:txBody>
      </p:sp>
    </p:spTree>
    <p:extLst>
      <p:ext uri="{BB962C8B-B14F-4D97-AF65-F5344CB8AC3E}">
        <p14:creationId xmlns:p14="http://schemas.microsoft.com/office/powerpoint/2010/main" val="6123306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1276FE-4700-DD14-1864-B16D6F811260}"/>
              </a:ext>
            </a:extLst>
          </p:cNvPr>
          <p:cNvSpPr txBox="1"/>
          <p:nvPr/>
        </p:nvSpPr>
        <p:spPr>
          <a:xfrm>
            <a:off x="0" y="0"/>
            <a:ext cx="9144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34 — LOOK AT THE NUMERICAL DATA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lvl="2"/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X_train_vectorized.shape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should now have something like: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(number of training reviews,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 of text features)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transformation: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"This movie was excellent"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TF-IDF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feature vector</a:t>
            </a:r>
          </a:p>
        </p:txBody>
      </p:sp>
    </p:spTree>
    <p:extLst>
      <p:ext uri="{BB962C8B-B14F-4D97-AF65-F5344CB8AC3E}">
        <p14:creationId xmlns:p14="http://schemas.microsoft.com/office/powerpoint/2010/main" val="35380738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07788C-E638-5C6A-3706-1751DE1B40C6}"/>
              </a:ext>
            </a:extLst>
          </p:cNvPr>
          <p:cNvSpPr txBox="1"/>
          <p:nvPr/>
        </p:nvSpPr>
        <p:spPr>
          <a:xfrm>
            <a:off x="0" y="0"/>
            <a:ext cx="12192000" cy="3765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8 — TRAIN THE MODEL</a:t>
            </a: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35 — CHOOSE A CLASSIFICATION MODEL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an algorithm that can classify reviews.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 we will use: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this practical, think of it as a classification algorithm that learns patterns in the numerical features and predicts a class.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classes: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→ One sentiment class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→ The other sentiment class</a:t>
            </a:r>
          </a:p>
        </p:txBody>
      </p:sp>
    </p:spTree>
    <p:extLst>
      <p:ext uri="{BB962C8B-B14F-4D97-AF65-F5344CB8AC3E}">
        <p14:creationId xmlns:p14="http://schemas.microsoft.com/office/powerpoint/2010/main" val="14712555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AF342E-7568-658E-62D7-D1EE265E0C30}"/>
              </a:ext>
            </a:extLst>
          </p:cNvPr>
          <p:cNvSpPr txBox="1"/>
          <p:nvPr/>
        </p:nvSpPr>
        <p:spPr>
          <a:xfrm>
            <a:off x="0" y="0"/>
            <a:ext cx="12192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36 — IMPORT LOGISTIC REGRESSION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lvl="1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sklearn.linear_model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LogisticRegression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the model:</a:t>
            </a:r>
          </a:p>
          <a:p>
            <a:pPr lvl="1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= LogisticRegression(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max_iter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=1000)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now created the model object.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it has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learned anything yet.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3369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2BABBE-0877-ADDB-59C3-A206FDCD5C13}"/>
              </a:ext>
            </a:extLst>
          </p:cNvPr>
          <p:cNvSpPr txBox="1"/>
          <p:nvPr/>
        </p:nvSpPr>
        <p:spPr>
          <a:xfrm>
            <a:off x="0" y="1"/>
            <a:ext cx="9144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37 — TRAIN THE MODEL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lvl="2"/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model.fit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X_train_vectorized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does fit() mean?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means: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patterns from the training data.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pipeline is now: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Reviews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+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Labels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MODEL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Patterns</a:t>
            </a:r>
          </a:p>
        </p:txBody>
      </p:sp>
    </p:spTree>
    <p:extLst>
      <p:ext uri="{BB962C8B-B14F-4D97-AF65-F5344CB8AC3E}">
        <p14:creationId xmlns:p14="http://schemas.microsoft.com/office/powerpoint/2010/main" val="3749122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D9CDB5-E7D7-62F2-1CD5-96236C7150EA}"/>
              </a:ext>
            </a:extLst>
          </p:cNvPr>
          <p:cNvSpPr txBox="1"/>
          <p:nvPr/>
        </p:nvSpPr>
        <p:spPr>
          <a:xfrm>
            <a:off x="0" y="0"/>
            <a:ext cx="9144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38 — 🎉 CHECKPOINT #2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have now: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Loaded real data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Cleaned the data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Selected X and y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Split the dataset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Converted text to numbers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Created an ML model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Trained the model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your first trained text-classification model.</a:t>
            </a:r>
          </a:p>
        </p:txBody>
      </p:sp>
    </p:spTree>
    <p:extLst>
      <p:ext uri="{BB962C8B-B14F-4D97-AF65-F5344CB8AC3E}">
        <p14:creationId xmlns:p14="http://schemas.microsoft.com/office/powerpoint/2010/main" val="3476973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ACADB6-23F1-95C1-CFC7-A9183E388442}"/>
              </a:ext>
            </a:extLst>
          </p:cNvPr>
          <p:cNvSpPr txBox="1"/>
          <p:nvPr/>
        </p:nvSpPr>
        <p:spPr>
          <a:xfrm>
            <a:off x="0" y="1"/>
            <a:ext cx="12192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9 — TEST THE MODEL</a:t>
            </a: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39 — MAKE PREDICTIONS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now give the model the testing data.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predictions =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model.predict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X_test_vectorized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Now: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predictions[:20]</a:t>
            </a:r>
          </a:p>
          <a:p>
            <a:pPr lvl="2"/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producing predicted labels.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how do we know whether they are correct?</a:t>
            </a:r>
          </a:p>
        </p:txBody>
      </p:sp>
    </p:spTree>
    <p:extLst>
      <p:ext uri="{BB962C8B-B14F-4D97-AF65-F5344CB8AC3E}">
        <p14:creationId xmlns:p14="http://schemas.microsoft.com/office/powerpoint/2010/main" val="15849849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C7C9DE8-41B5-FE71-EA9B-1A8A86E0A2C5}"/>
              </a:ext>
            </a:extLst>
          </p:cNvPr>
          <p:cNvSpPr txBox="1"/>
          <p:nvPr/>
        </p:nvSpPr>
        <p:spPr>
          <a:xfrm>
            <a:off x="0" y="0"/>
            <a:ext cx="9144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40 — COMPARE PREDICTIONS WITH REAL ANSWERS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have:</a:t>
            </a:r>
          </a:p>
          <a:p>
            <a:pPr lvl="2"/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actual labels.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And: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model's predictions.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compare them.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Actual Answer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vs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Prediction</a:t>
            </a:r>
          </a:p>
        </p:txBody>
      </p:sp>
    </p:spTree>
    <p:extLst>
      <p:ext uri="{BB962C8B-B14F-4D97-AF65-F5344CB8AC3E}">
        <p14:creationId xmlns:p14="http://schemas.microsoft.com/office/powerpoint/2010/main" val="8435812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30E152-4F5F-01B9-E0DA-CCB87855C076}"/>
              </a:ext>
            </a:extLst>
          </p:cNvPr>
          <p:cNvSpPr txBox="1"/>
          <p:nvPr/>
        </p:nvSpPr>
        <p:spPr>
          <a:xfrm>
            <a:off x="0" y="0"/>
            <a:ext cx="12192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41 — CALCULATE ACCURACY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sklearn.metrics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accuracy_score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Then: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=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accuracy_score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predictions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/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print("Accuracy:", accuracy)</a:t>
            </a:r>
          </a:p>
          <a:p>
            <a:pPr lvl="2"/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answers: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test examples did the model classify correctly?</a:t>
            </a:r>
          </a:p>
        </p:txBody>
      </p:sp>
    </p:spTree>
    <p:extLst>
      <p:ext uri="{BB962C8B-B14F-4D97-AF65-F5344CB8AC3E}">
        <p14:creationId xmlns:p14="http://schemas.microsoft.com/office/powerpoint/2010/main" val="17529901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2F8B4FC-B2B7-CF57-D1D3-56F24886A1E3}"/>
              </a:ext>
            </a:extLst>
          </p:cNvPr>
          <p:cNvSpPr txBox="1"/>
          <p:nvPr/>
        </p:nvSpPr>
        <p:spPr>
          <a:xfrm>
            <a:off x="0" y="1"/>
            <a:ext cx="9144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42 — DON'T WORSHIP THE ACCURACY NUMBER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get:</a:t>
            </a:r>
          </a:p>
          <a:p>
            <a:pPr lvl="1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= 0.84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Don't immediately conclude: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 AI is 84% intelligent.”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 not what accuracy means.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means the model correctly classified a certain proportion of the examples in this particular test set.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ask: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data?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test set?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metric?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4486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1E7DE7-7D7A-E99F-5FAC-C5AFBDD714EA}"/>
              </a:ext>
            </a:extLst>
          </p:cNvPr>
          <p:cNvSpPr txBox="1"/>
          <p:nvPr/>
        </p:nvSpPr>
        <p:spPr>
          <a:xfrm>
            <a:off x="0" y="0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43 — MORE DETAILED EVALUATION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sklearn.metrics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classification_report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Then: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classification_report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predictions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)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will see:</a:t>
            </a:r>
          </a:p>
          <a:p>
            <a:pPr lvl="3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</a:p>
          <a:p>
            <a:pPr lvl="3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</a:p>
          <a:p>
            <a:pPr lvl="3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</a:p>
          <a:p>
            <a:pPr lvl="3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Don't memorize these formulas.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 understand: There are multiple ways to evaluate a classification model.</a:t>
            </a:r>
          </a:p>
        </p:txBody>
      </p:sp>
    </p:spTree>
    <p:extLst>
      <p:ext uri="{BB962C8B-B14F-4D97-AF65-F5344CB8AC3E}">
        <p14:creationId xmlns:p14="http://schemas.microsoft.com/office/powerpoint/2010/main" val="3916870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5AD9D7-2D9C-7BDE-5C6F-519824FCA8D8}"/>
              </a:ext>
            </a:extLst>
          </p:cNvPr>
          <p:cNvSpPr txBox="1"/>
          <p:nvPr/>
        </p:nvSpPr>
        <p:spPr>
          <a:xfrm>
            <a:off x="0" y="0"/>
            <a:ext cx="9144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10 — GIVE THE MODEL NEW DATA</a:t>
            </a: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44 — NOW THE FUN PART 🚀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trained our model using existing reviews.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we will give it a review it has never seen.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"I really enjoyed this movie."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will our model predict?</a:t>
            </a:r>
          </a:p>
        </p:txBody>
      </p:sp>
    </p:spTree>
    <p:extLst>
      <p:ext uri="{BB962C8B-B14F-4D97-AF65-F5344CB8AC3E}">
        <p14:creationId xmlns:p14="http://schemas.microsoft.com/office/powerpoint/2010/main" val="36681333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89B2587-3A14-3F4A-A379-2AE335F69DFB}"/>
              </a:ext>
            </a:extLst>
          </p:cNvPr>
          <p:cNvSpPr txBox="1"/>
          <p:nvPr/>
        </p:nvSpPr>
        <p:spPr>
          <a:xfrm>
            <a:off x="0" y="0"/>
            <a:ext cx="9144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45 — CREATE A NEW REVIEW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lvl="2"/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new_review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[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"I really enjoyed this movie."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convert it using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vectorizer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2"/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new_review_vector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vectorizer.transform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new_review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711857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80750F-FFDA-A238-9C4F-8F9C5F6039FD}"/>
              </a:ext>
            </a:extLst>
          </p:cNvPr>
          <p:cNvSpPr txBox="1"/>
          <p:nvPr/>
        </p:nvSpPr>
        <p:spPr>
          <a:xfrm>
            <a:off x="0" y="0"/>
            <a:ext cx="91440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46 — ASK THE MODEL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lvl="3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 =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model.predict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lvl="3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new_review_vector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3"/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print(prediction)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completed: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TEXT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FEATURES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MODEL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</a:p>
        </p:txBody>
      </p:sp>
    </p:spTree>
    <p:extLst>
      <p:ext uri="{BB962C8B-B14F-4D97-AF65-F5344CB8AC3E}">
        <p14:creationId xmlns:p14="http://schemas.microsoft.com/office/powerpoint/2010/main" val="29757137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FBD037C-4EB4-DD6D-DDD5-9ED84F63F542}"/>
              </a:ext>
            </a:extLst>
          </p:cNvPr>
          <p:cNvSpPr txBox="1"/>
          <p:nvPr/>
        </p:nvSpPr>
        <p:spPr>
          <a:xfrm>
            <a:off x="9832" y="0"/>
            <a:ext cx="9144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11 — TURN IT INTO A FUNCTION</a:t>
            </a: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47 — MAKE OUR MODEL EASY TO USE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writing all the steps every time, let's create a function.</a:t>
            </a:r>
          </a:p>
          <a:p>
            <a:pPr lvl="3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predict_sentiment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(review):</a:t>
            </a:r>
          </a:p>
          <a:p>
            <a:pPr lvl="3"/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review_vector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vectorizer.transform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lvl="3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[review]</a:t>
            </a:r>
          </a:p>
          <a:p>
            <a:pPr lvl="3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)</a:t>
            </a:r>
          </a:p>
          <a:p>
            <a:pPr lvl="3"/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prediction =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model.predict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lvl="3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review_vector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)[0]</a:t>
            </a:r>
          </a:p>
          <a:p>
            <a:pPr lvl="3"/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 prediction == 1:</a:t>
            </a:r>
          </a:p>
          <a:p>
            <a:pPr lvl="3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"POSITIVE"</a:t>
            </a:r>
          </a:p>
          <a:p>
            <a:pPr lvl="3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</a:p>
          <a:p>
            <a:pPr lvl="3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"NEGATIVE"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our ML model has a simple interface.</a:t>
            </a:r>
          </a:p>
        </p:txBody>
      </p:sp>
    </p:spTree>
    <p:extLst>
      <p:ext uri="{BB962C8B-B14F-4D97-AF65-F5344CB8AC3E}">
        <p14:creationId xmlns:p14="http://schemas.microsoft.com/office/powerpoint/2010/main" val="37505463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BEB6B4-6DA9-8CA8-B453-C8CD94889011}"/>
              </a:ext>
            </a:extLst>
          </p:cNvPr>
          <p:cNvSpPr txBox="1"/>
          <p:nvPr/>
        </p:nvSpPr>
        <p:spPr>
          <a:xfrm>
            <a:off x="0" y="0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48 — TEST OUR FUNCTION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predict_sentiment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"I really loved this movie!"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)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another: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predict_sentiment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"This movie was boring and disappointing."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)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create your own.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predict_sentiment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"WRITE YOUR REVIEW HERE"</a:t>
            </a:r>
          </a:p>
          <a:p>
            <a:pPr lvl="2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))</a:t>
            </a:r>
          </a:p>
        </p:txBody>
      </p:sp>
    </p:spTree>
    <p:extLst>
      <p:ext uri="{BB962C8B-B14F-4D97-AF65-F5344CB8AC3E}">
        <p14:creationId xmlns:p14="http://schemas.microsoft.com/office/powerpoint/2010/main" val="18498809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DCE513-770E-9674-F500-D00083792365}"/>
              </a:ext>
            </a:extLst>
          </p:cNvPr>
          <p:cNvSpPr txBox="1"/>
          <p:nvPr/>
        </p:nvSpPr>
        <p:spPr>
          <a:xfrm>
            <a:off x="0" y="1"/>
            <a:ext cx="9144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49 — 🔥 BREAK YOUR OWN MODEL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stop copying.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team must create: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NEW REVIEWS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every review: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what the model should say.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the model.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its prediction.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whether you agree.</a:t>
            </a:r>
          </a:p>
        </p:txBody>
      </p:sp>
    </p:spTree>
    <p:extLst>
      <p:ext uri="{BB962C8B-B14F-4D97-AF65-F5344CB8AC3E}">
        <p14:creationId xmlns:p14="http://schemas.microsoft.com/office/powerpoint/2010/main" val="24027407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685A74-9EC0-2CBB-6323-A758EA194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072004"/>
              </p:ext>
            </p:extLst>
          </p:nvPr>
        </p:nvGraphicFramePr>
        <p:xfrm>
          <a:off x="137652" y="1533832"/>
          <a:ext cx="11438400" cy="35298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59600">
                  <a:extLst>
                    <a:ext uri="{9D8B030D-6E8A-4147-A177-3AD203B41FA5}">
                      <a16:colId xmlns:a16="http://schemas.microsoft.com/office/drawing/2014/main" val="2873053601"/>
                    </a:ext>
                  </a:extLst>
                </a:gridCol>
                <a:gridCol w="2859600">
                  <a:extLst>
                    <a:ext uri="{9D8B030D-6E8A-4147-A177-3AD203B41FA5}">
                      <a16:colId xmlns:a16="http://schemas.microsoft.com/office/drawing/2014/main" val="1337029797"/>
                    </a:ext>
                  </a:extLst>
                </a:gridCol>
                <a:gridCol w="2859600">
                  <a:extLst>
                    <a:ext uri="{9D8B030D-6E8A-4147-A177-3AD203B41FA5}">
                      <a16:colId xmlns:a16="http://schemas.microsoft.com/office/drawing/2014/main" val="2408911608"/>
                    </a:ext>
                  </a:extLst>
                </a:gridCol>
                <a:gridCol w="2859600">
                  <a:extLst>
                    <a:ext uri="{9D8B030D-6E8A-4147-A177-3AD203B41FA5}">
                      <a16:colId xmlns:a16="http://schemas.microsoft.com/office/drawing/2014/main" val="3984522737"/>
                    </a:ext>
                  </a:extLst>
                </a:gridCol>
              </a:tblGrid>
              <a:tr h="58830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Your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Correct?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2009451"/>
                  </a:ext>
                </a:extLst>
              </a:tr>
              <a:tr h="588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4002649"/>
                  </a:ext>
                </a:extLst>
              </a:tr>
              <a:tr h="588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6582383"/>
                  </a:ext>
                </a:extLst>
              </a:tr>
              <a:tr h="588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9307013"/>
                  </a:ext>
                </a:extLst>
              </a:tr>
              <a:tr h="588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2959006"/>
                  </a:ext>
                </a:extLst>
              </a:tr>
              <a:tr h="588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79237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EEDAE48-EBDE-098C-F140-3C4F584E7EC3}"/>
              </a:ext>
            </a:extLst>
          </p:cNvPr>
          <p:cNvSpPr txBox="1"/>
          <p:nvPr/>
        </p:nvSpPr>
        <p:spPr>
          <a:xfrm>
            <a:off x="0" y="0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50 — YOUR EXPERIMENT TABLE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Discuss: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did the model get some examples wrong?</a:t>
            </a:r>
          </a:p>
        </p:txBody>
      </p:sp>
    </p:spTree>
    <p:extLst>
      <p:ext uri="{BB962C8B-B14F-4D97-AF65-F5344CB8AC3E}">
        <p14:creationId xmlns:p14="http://schemas.microsoft.com/office/powerpoint/2010/main" val="127713619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58A4AF-C106-53EA-7724-FB50DE212287}"/>
              </a:ext>
            </a:extLst>
          </p:cNvPr>
          <p:cNvSpPr txBox="1"/>
          <p:nvPr/>
        </p:nvSpPr>
        <p:spPr>
          <a:xfrm>
            <a:off x="0" y="0"/>
            <a:ext cx="91440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51 — TRY DIFFICULT SENTENCES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Test:</a:t>
            </a:r>
          </a:p>
          <a:p>
            <a:pPr lvl="2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"The acting was amazing, but the movie was boring."</a:t>
            </a:r>
          </a:p>
          <a:p>
            <a:pPr lvl="2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 expected much more from this movie."</a:t>
            </a:r>
          </a:p>
          <a:p>
            <a:pPr lvl="2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"Not bad."</a:t>
            </a:r>
          </a:p>
          <a:p>
            <a:pPr lvl="2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"It was surprisingly good."</a:t>
            </a:r>
          </a:p>
          <a:p>
            <a:pPr lvl="2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"The movie wasn't terrible."</a:t>
            </a:r>
          </a:p>
          <a:p>
            <a:pPr lvl="2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"Great actors, terrible story."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the model understand the meaning perfectly?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Think: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makes these sentences difficult?</a:t>
            </a:r>
          </a:p>
        </p:txBody>
      </p:sp>
    </p:spTree>
    <p:extLst>
      <p:ext uri="{BB962C8B-B14F-4D97-AF65-F5344CB8AC3E}">
        <p14:creationId xmlns:p14="http://schemas.microsoft.com/office/powerpoint/2010/main" val="22359047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DB6BDC-E1EA-A0E5-F498-B8777F2CD737}"/>
              </a:ext>
            </a:extLst>
          </p:cNvPr>
          <p:cNvSpPr txBox="1"/>
          <p:nvPr/>
        </p:nvSpPr>
        <p:spPr>
          <a:xfrm>
            <a:off x="0" y="-68826"/>
            <a:ext cx="9144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52 — WHAT DID THE MODEL ACTUALLY LEARN?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question: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Did the model understand movies?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No—not in the human sense.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learned statistical patterns from the training examples and their labels.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Examples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 in Features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Model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an important distinction in machine learning.</a:t>
            </a:r>
          </a:p>
        </p:txBody>
      </p:sp>
    </p:spTree>
    <p:extLst>
      <p:ext uri="{BB962C8B-B14F-4D97-AF65-F5344CB8AC3E}">
        <p14:creationId xmlns:p14="http://schemas.microsoft.com/office/powerpoint/2010/main" val="28523102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994DF1-4D73-2498-B618-2A2B6A97A1B2}"/>
              </a:ext>
            </a:extLst>
          </p:cNvPr>
          <p:cNvSpPr txBox="1"/>
          <p:nvPr/>
        </p:nvSpPr>
        <p:spPr>
          <a:xfrm>
            <a:off x="0" y="0"/>
            <a:ext cx="121920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13 — OPTIONAL EXPERIMENT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53 — CHANGE THE TF-IDF SETTINGS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Try:</a:t>
            </a:r>
          </a:p>
          <a:p>
            <a:pPr lvl="2"/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vectorizer = </a:t>
            </a:r>
            <a:r>
              <a:rPr lang="en-I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TfidfVectorizer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lvl="2"/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stop_words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I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english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</a:t>
            </a:r>
          </a:p>
          <a:p>
            <a:pPr lvl="2"/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max_features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=5000</a:t>
            </a:r>
          </a:p>
          <a:p>
            <a:pPr lvl="2"/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repeat: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Transform training data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Transform test data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Train model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Predict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Calculate accuracy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Compare: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Before: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= ?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After: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= ?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Did changing the feature representation affect the result?</a:t>
            </a:r>
          </a:p>
        </p:txBody>
      </p:sp>
    </p:spTree>
    <p:extLst>
      <p:ext uri="{BB962C8B-B14F-4D97-AF65-F5344CB8AC3E}">
        <p14:creationId xmlns:p14="http://schemas.microsoft.com/office/powerpoint/2010/main" val="263560010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D770A4-C4B5-26AB-7F97-BFB08A178DFB}"/>
              </a:ext>
            </a:extLst>
          </p:cNvPr>
          <p:cNvSpPr txBox="1"/>
          <p:nvPr/>
        </p:nvSpPr>
        <p:spPr>
          <a:xfrm>
            <a:off x="0" y="0"/>
            <a:ext cx="914400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15 — FROM NOTEBOOK TO REAL APPLICATION</a:t>
            </a:r>
          </a:p>
          <a:p>
            <a:pPr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54 — WHAT WE BUILT TODAY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built: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🤗 Dataset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Pandas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🧹 Cleaning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✂️ Train/Test Split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🔢 TF-IDF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🤖 Logistic Regression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Evaluation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💬 New Review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Prediction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complete small ML pipeline.</a:t>
            </a:r>
          </a:p>
        </p:txBody>
      </p:sp>
    </p:spTree>
    <p:extLst>
      <p:ext uri="{BB962C8B-B14F-4D97-AF65-F5344CB8AC3E}">
        <p14:creationId xmlns:p14="http://schemas.microsoft.com/office/powerpoint/2010/main" val="191681127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36EC12-2944-95D2-0DB4-9E410E1B5CE9}"/>
              </a:ext>
            </a:extLst>
          </p:cNvPr>
          <p:cNvSpPr txBox="1"/>
          <p:nvPr/>
        </p:nvSpPr>
        <p:spPr>
          <a:xfrm>
            <a:off x="0" y="0"/>
            <a:ext cx="9144000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55 — BUT THIS IS NOT YET A PRODUCT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Currently:</a:t>
            </a:r>
          </a:p>
          <a:p>
            <a:pPr lvl="3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</a:p>
          <a:p>
            <a:pPr lvl="3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lvl="3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</a:t>
            </a:r>
          </a:p>
          <a:p>
            <a:pPr lvl="3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lvl="3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</a:t>
            </a:r>
          </a:p>
          <a:p>
            <a:pPr lvl="3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lvl="3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real application could become:</a:t>
            </a:r>
          </a:p>
          <a:p>
            <a:pPr lvl="3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</a:p>
          <a:p>
            <a:pPr lvl="3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lvl="3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</a:t>
            </a:r>
          </a:p>
          <a:p>
            <a:pPr lvl="3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lvl="3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Backend/API</a:t>
            </a:r>
          </a:p>
          <a:p>
            <a:pPr lvl="3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lvl="3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</a:t>
            </a:r>
          </a:p>
          <a:p>
            <a:pPr lvl="3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lvl="3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</a:p>
          <a:p>
            <a:pPr lvl="3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lvl="3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 where development begins.</a:t>
            </a:r>
          </a:p>
        </p:txBody>
      </p:sp>
    </p:spTree>
    <p:extLst>
      <p:ext uri="{BB962C8B-B14F-4D97-AF65-F5344CB8AC3E}">
        <p14:creationId xmlns:p14="http://schemas.microsoft.com/office/powerpoint/2010/main" val="18307804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EC08F8-9436-C82E-6C69-78BCA75100BC}"/>
              </a:ext>
            </a:extLst>
          </p:cNvPr>
          <p:cNvSpPr txBox="1"/>
          <p:nvPr/>
        </p:nvSpPr>
        <p:spPr>
          <a:xfrm>
            <a:off x="0" y="0"/>
            <a:ext cx="12192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16 — INDUSTRY CONNECTION</a:t>
            </a:r>
          </a:p>
          <a:p>
            <a:pPr>
              <a:buNone/>
            </a:pP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56 — WHERE COULD WE USE THIS IDEA?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basic concept can be adapted for: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Reviews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/ Negative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Classification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Spam / Not Spam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Support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Billing / Technical / Account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Analysis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/ Neutral / Negative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Tickets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Urgent / Normal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and model would change depending on the problem</a:t>
            </a:r>
          </a:p>
        </p:txBody>
      </p:sp>
    </p:spTree>
    <p:extLst>
      <p:ext uri="{BB962C8B-B14F-4D97-AF65-F5344CB8AC3E}">
        <p14:creationId xmlns:p14="http://schemas.microsoft.com/office/powerpoint/2010/main" val="6839838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2B2488-4808-F36F-A432-5F27A19882BB}"/>
              </a:ext>
            </a:extLst>
          </p:cNvPr>
          <p:cNvSpPr txBox="1"/>
          <p:nvPr/>
        </p:nvSpPr>
        <p:spPr>
          <a:xfrm>
            <a:off x="0" y="0"/>
            <a:ext cx="9144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🏁 SLIDE 57 — THE BIG PICTURE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started today knowing: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 have a dataset."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ended knowing how to: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data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data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data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 model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it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new input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a prediction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MACHINE LEARNING IN PRACTICE.</a:t>
            </a:r>
          </a:p>
        </p:txBody>
      </p:sp>
    </p:spTree>
    <p:extLst>
      <p:ext uri="{BB962C8B-B14F-4D97-AF65-F5344CB8AC3E}">
        <p14:creationId xmlns:p14="http://schemas.microsoft.com/office/powerpoint/2010/main" val="210347695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DF4BE2-50F6-7DC4-6BC8-9E3D9B20CCC7}"/>
              </a:ext>
            </a:extLst>
          </p:cNvPr>
          <p:cNvSpPr txBox="1"/>
          <p:nvPr/>
        </p:nvSpPr>
        <p:spPr>
          <a:xfrm>
            <a:off x="0" y="0"/>
            <a:ext cx="12192000" cy="5986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sz="2800" b="1" u="none" strike="noStrike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🟢 5 Positive Sentences (Label: 1)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800" b="0" u="none" strike="noStrike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"A warm, funny, and beautifully acted film that stays with you long after the credits roll."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800" b="0" u="none" strike="noStrike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"An incredibly inventive slice of filmmaking that balances heart and </a:t>
            </a:r>
            <a:r>
              <a:rPr lang="en-IN" sz="2800" b="0" u="none" strike="noStrike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humor</a:t>
            </a:r>
            <a:r>
              <a:rPr lang="en-IN" sz="2800" b="0" u="none" strike="noStrike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perfectly."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800" b="0" u="none" strike="noStrike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"A refreshing and thought-provoking experience that breathes new life into a tired genre."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800" b="0" u="none" strike="noStrike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"The performances are electrifying, anchoring a story that is both powerful and deeply human."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800" b="0" u="none" strike="noStrike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"It's a rare masterpiece that manages to be wildly entertaining while remaining emotionally complex."</a:t>
            </a:r>
          </a:p>
        </p:txBody>
      </p:sp>
    </p:spTree>
    <p:extLst>
      <p:ext uri="{BB962C8B-B14F-4D97-AF65-F5344CB8AC3E}">
        <p14:creationId xmlns:p14="http://schemas.microsoft.com/office/powerpoint/2010/main" val="358977937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00C54C-459A-EB0B-FF41-45263FB392F4}"/>
              </a:ext>
            </a:extLst>
          </p:cNvPr>
          <p:cNvSpPr txBox="1"/>
          <p:nvPr/>
        </p:nvSpPr>
        <p:spPr>
          <a:xfrm>
            <a:off x="0" y="0"/>
            <a:ext cx="12192000" cy="4570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sz="2400" b="1" u="none" strike="noStrike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🔴 5 Negative Sentences (Label: 0)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400" b="0" u="none" strike="noStrike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"A painfully dull and uninspired waste of time that completely squanders a talented cast."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400" b="0" u="none" strike="noStrike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"The plot is utterly predictable, the jokes fall flat, and the pacing drags to a near standstill."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400" b="0" u="none" strike="noStrike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"A chaotic and poorly structured mess that feels more like a chore to sit through than an entertainment."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400" b="0" u="none" strike="noStrike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"Despite a few visually striking scenes, the movie suffers from a completely hollow and unconvincing script."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400" b="0" u="none" strike="noStrike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"It relies so heavily on cheap clichés that it completely loses any sense of genuine tension or emotion."</a:t>
            </a:r>
            <a:endParaRPr lang="en-IN" sz="1600" b="0" u="none" strike="noStrike" dirty="0"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368419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374</TotalTime>
  <Words>3665</Words>
  <Application>Microsoft Office PowerPoint</Application>
  <PresentationFormat>Widescreen</PresentationFormat>
  <Paragraphs>814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0" baseType="lpstr">
      <vt:lpstr>Arial</vt:lpstr>
      <vt:lpstr>Neue Haas Grotesk Text Pro</vt:lpstr>
      <vt:lpstr>Times New Roman</vt:lpstr>
      <vt:lpstr>Helena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faraz alam</dc:creator>
  <cp:lastModifiedBy>faraz alam</cp:lastModifiedBy>
  <cp:revision>210</cp:revision>
  <dcterms:created xsi:type="dcterms:W3CDTF">2026-09-24T14:26:40Z</dcterms:created>
  <dcterms:modified xsi:type="dcterms:W3CDTF">2026-09-27T17:29:07Z</dcterms:modified>
</cp:coreProperties>
</file>