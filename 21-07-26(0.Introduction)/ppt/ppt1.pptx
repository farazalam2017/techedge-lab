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7" r:id="rId2"/>
    <p:sldId id="258" r:id="rId3"/>
    <p:sldId id="285" r:id="rId4"/>
    <p:sldId id="259" r:id="rId5"/>
    <p:sldId id="260" r:id="rId6"/>
    <p:sldId id="273" r:id="rId7"/>
    <p:sldId id="272" r:id="rId8"/>
    <p:sldId id="271" r:id="rId9"/>
    <p:sldId id="270" r:id="rId10"/>
    <p:sldId id="269" r:id="rId11"/>
    <p:sldId id="268" r:id="rId12"/>
    <p:sldId id="267" r:id="rId13"/>
    <p:sldId id="266" r:id="rId14"/>
    <p:sldId id="265" r:id="rId15"/>
    <p:sldId id="264" r:id="rId16"/>
    <p:sldId id="263" r:id="rId17"/>
    <p:sldId id="262" r:id="rId18"/>
    <p:sldId id="261" r:id="rId19"/>
    <p:sldId id="274" r:id="rId20"/>
    <p:sldId id="275" r:id="rId21"/>
    <p:sldId id="276" r:id="rId22"/>
    <p:sldId id="277" r:id="rId23"/>
    <p:sldId id="278" r:id="rId24"/>
    <p:sldId id="282" r:id="rId25"/>
    <p:sldId id="281" r:id="rId26"/>
    <p:sldId id="280" r:id="rId27"/>
    <p:sldId id="283" r:id="rId28"/>
    <p:sldId id="279" r:id="rId29"/>
    <p:sldId id="284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C76461D-E48F-41AD-92DA-35C5614111C7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F784514-72D5-4102-BC31-05D1A062C6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C76461D-E48F-41AD-92DA-35C5614111C7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F784514-72D5-4102-BC31-05D1A062C6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C76461D-E48F-41AD-92DA-35C5614111C7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F784514-72D5-4102-BC31-05D1A062C6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C76461D-E48F-41AD-92DA-35C5614111C7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F784514-72D5-4102-BC31-05D1A062C6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C76461D-E48F-41AD-92DA-35C5614111C7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F784514-72D5-4102-BC31-05D1A062C6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C76461D-E48F-41AD-92DA-35C5614111C7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F784514-72D5-4102-BC31-05D1A062C6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C76461D-E48F-41AD-92DA-35C5614111C7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F784514-72D5-4102-BC31-05D1A062C6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C76461D-E48F-41AD-92DA-35C5614111C7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F784514-72D5-4102-BC31-05D1A062C6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C76461D-E48F-41AD-92DA-35C5614111C7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F784514-72D5-4102-BC31-05D1A062C6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C76461D-E48F-41AD-92DA-35C5614111C7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F784514-72D5-4102-BC31-05D1A062C6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C76461D-E48F-41AD-92DA-35C5614111C7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F784514-72D5-4102-BC31-05D1A062C6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5C76461D-E48F-41AD-92DA-35C5614111C7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5F784514-72D5-4102-BC31-05D1A062C6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</a:t>
            </a:r>
            <a:r>
              <a:rPr lang="en-US" sz="4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Tech-Edge</a:t>
            </a:r>
            <a:r>
              <a:rPr lang="en-US" sz="4400" b="1" dirty="0" smtClean="0">
                <a:solidFill>
                  <a:schemeClr val="tx1"/>
                </a:solidFill>
              </a:rPr>
              <a:t> Lab</a:t>
            </a:r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		Topic: - </a:t>
            </a:r>
          </a:p>
          <a:p>
            <a:pPr>
              <a:buNone/>
            </a:pPr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	Generative AI &amp; Intelligent Application Development Bootcamp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		</a:t>
            </a:r>
          </a:p>
          <a:p>
            <a:pPr>
              <a:buNone/>
            </a:pPr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		Sub-topic:- </a:t>
            </a:r>
          </a:p>
          <a:p>
            <a:pPr>
              <a:buNone/>
            </a:pPr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	Industry-Oriented Training Program on LLMs, AI Tools, AI Agents &amp; Vibe Coding	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3648" y="260648"/>
            <a:ext cx="6881968" cy="634082"/>
          </a:xfrm>
        </p:spPr>
        <p:txBody>
          <a:bodyPr>
            <a:noAutofit/>
          </a:bodyPr>
          <a:lstStyle/>
          <a:p>
            <a:r>
              <a:rPr lang="en-US" sz="3600" u="sng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Instructions to follow carefully:-  </a:t>
            </a:r>
            <a:endParaRPr lang="en-US" sz="3600" u="sng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1196752"/>
            <a:ext cx="7498080" cy="4800600"/>
          </a:xfrm>
        </p:spPr>
        <p:txBody>
          <a:bodyPr>
            <a:no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Be curious and ready to learn beyond the classroom.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Bring your laptop and ensure a stable internet connection for practice.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Attend every session and participate actively.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Stay focused during class and complete all hands-on activities.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Practice regularly after each session.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Ask questions whenever you have doubts.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Work on mini-projects to strengthen your skills.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Maintain discipline and a positive learning attitude.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59632" y="1412776"/>
            <a:ext cx="734481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Module 1:-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AI industry and Careers</a:t>
            </a:r>
          </a:p>
          <a:p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Lecture 1:- </a:t>
            </a:r>
          </a:p>
          <a:p>
            <a:endParaRPr lang="en-IN" sz="28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Introduction to AI Era(Course Introduction, Why learn AI, AI Vs Programming, AI Jobs, AI salary, AI roadmap for BCA, What companies expect)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51920" y="0"/>
            <a:ext cx="13131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u="sng" dirty="0" smtClean="0">
                <a:latin typeface="Times New Roman" pitchFamily="18" charset="0"/>
                <a:cs typeface="Times New Roman" pitchFamily="18" charset="0"/>
              </a:rPr>
              <a:t>Index</a:t>
            </a:r>
            <a:endParaRPr lang="en-US" sz="3600" b="1" u="sng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115616" y="620688"/>
          <a:ext cx="7704856" cy="593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4173"/>
                <a:gridCol w="643068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S.No.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Topic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1.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Course</a:t>
                      </a:r>
                      <a:r>
                        <a:rPr lang="en-US" sz="18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Introduction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2. 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Why this</a:t>
                      </a:r>
                      <a:r>
                        <a:rPr lang="en-US" sz="18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Bootcamp? Learning Outcomes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3.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Welcome to the AI Era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4.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AI is Everywhere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5.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Why Learn AI?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6.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Why AI Matters for BCA Students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7.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AI </a:t>
                      </a:r>
                      <a:r>
                        <a:rPr lang="en-US" sz="18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vs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 Traditional Programming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8.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Can AI Replace Programmers?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9.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Evolution of software development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10.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Gen</a:t>
                      </a:r>
                      <a:r>
                        <a:rPr lang="en-US" sz="18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AI &amp; Examples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11.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AI Jobs,</a:t>
                      </a:r>
                      <a:r>
                        <a:rPr lang="en-US" sz="18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skills, salary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12.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AI Roadmap for BCA Students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13.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What Companies Expect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14.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Future software</a:t>
                      </a:r>
                      <a:r>
                        <a:rPr lang="en-US" sz="18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Developers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15.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Bootcamp Roadmap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1640" y="0"/>
            <a:ext cx="7498080" cy="548680"/>
          </a:xfrm>
        </p:spPr>
        <p:txBody>
          <a:bodyPr>
            <a:normAutofit fontScale="90000"/>
          </a:bodyPr>
          <a:lstStyle/>
          <a:p>
            <a:r>
              <a:rPr lang="en-US" sz="3200" b="1" u="sng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1. Introduction</a:t>
            </a:r>
            <a:endParaRPr lang="en-US" sz="3200" b="1" u="sng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620688"/>
            <a:ext cx="7890080" cy="6237312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What is this Bootcamp?</a:t>
            </a:r>
          </a:p>
          <a:p>
            <a:pPr lvl="1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This bootcamp is designed to prepare students for the rapidly changing software industry where Artificial Intelligence is becoming a core part of software development.</a:t>
            </a:r>
          </a:p>
          <a:p>
            <a:pPr lvl="1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program focuses on practical learning rather than theory. Students will learn how to use modern AI tools to increase productivity, automate tasks, and build intelligent applications.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0"/>
            <a:ext cx="79620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	What You Will Learn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Fundamentals of Artificial Intelligence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Generative AI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Large Language Models (LLMs)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Chatbots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Coding Assistants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Prompt Engineering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Agents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Intelligent Web Applications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API Integration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Vibe Coding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Project Development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Resume Building using AI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Industry Workflow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32" y="0"/>
            <a:ext cx="7498080" cy="548680"/>
          </a:xfrm>
        </p:spPr>
        <p:txBody>
          <a:bodyPr>
            <a:normAutofit/>
          </a:bodyPr>
          <a:lstStyle/>
          <a:p>
            <a:r>
              <a:rPr lang="en-US" sz="2800" b="1" u="sng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2. Why This Bootcamp?</a:t>
            </a:r>
            <a:endParaRPr lang="en-US" sz="2800" b="1" u="sng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5616" y="692696"/>
            <a:ext cx="7818072" cy="6165304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Today's software companies no longer expect developers to write every line of code manually.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Instead, they expect developers who can: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Use AI tools efficiently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Build applications faster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Automate repetitive tasks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Improve software quality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Increase productivity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Solve real-world problems using AI </a:t>
            </a:r>
          </a:p>
          <a:p>
            <a:pPr lvl="1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This bootcamp bridges the gap between college education and industry expectations.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1640" y="0"/>
            <a:ext cx="7498080" cy="476672"/>
          </a:xfrm>
        </p:spPr>
        <p:txBody>
          <a:bodyPr>
            <a:noAutofit/>
          </a:bodyPr>
          <a:lstStyle/>
          <a:p>
            <a:r>
              <a:rPr lang="en-US" sz="2800" b="1" u="sng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3. Learning Outcomes</a:t>
            </a:r>
            <a:endParaRPr lang="en-US" sz="2800" b="1" u="sng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476672"/>
            <a:ext cx="7848872" cy="6192688"/>
          </a:xfrm>
        </p:spPr>
        <p:txBody>
          <a:bodyPr>
            <a:noAutofit/>
          </a:bodyPr>
          <a:lstStyle/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After completing this bootcamp, students will be able to:-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✓ Understand AI fundamentals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✓ Use ChatGPT effectively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✓ Work with multiple AI tools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✓ Build AI-powered applications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✓ Use LLM APIs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✓ Create AI Agents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✓ Perform Prompt Engineering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✓ Develop projects faster using AI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✓ Prepare for AI-enabled software jobs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3648" y="0"/>
            <a:ext cx="7498080" cy="548680"/>
          </a:xfrm>
        </p:spPr>
        <p:txBody>
          <a:bodyPr>
            <a:normAutofit/>
          </a:bodyPr>
          <a:lstStyle/>
          <a:p>
            <a:r>
              <a:rPr lang="en-US" sz="2800" b="1" u="sng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4. Welcome to the AI Era</a:t>
            </a:r>
            <a:endParaRPr lang="en-US" sz="2800" b="1" u="sng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7624" y="476672"/>
            <a:ext cx="7746064" cy="6381328"/>
          </a:xfrm>
        </p:spPr>
        <p:txBody>
          <a:bodyPr>
            <a:normAutofit fontScale="25000" lnSpcReduction="20000"/>
          </a:bodyPr>
          <a:lstStyle/>
          <a:p>
            <a:pPr lvl="1"/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The Fourth Industrial Revolution</a:t>
            </a:r>
          </a:p>
          <a:p>
            <a:pPr lvl="3"/>
            <a:r>
              <a:rPr lang="en-US" sz="8400" dirty="0" smtClean="0">
                <a:latin typeface="Times New Roman" pitchFamily="18" charset="0"/>
                <a:cs typeface="Times New Roman" pitchFamily="18" charset="0"/>
              </a:rPr>
              <a:t>Earlier Revolutions</a:t>
            </a:r>
          </a:p>
          <a:p>
            <a:pPr lvl="3"/>
            <a:r>
              <a:rPr lang="en-US" sz="8400" dirty="0" smtClean="0">
                <a:latin typeface="Times New Roman" pitchFamily="18" charset="0"/>
                <a:cs typeface="Times New Roman" pitchFamily="18" charset="0"/>
              </a:rPr>
              <a:t>Steam Engine </a:t>
            </a:r>
          </a:p>
          <a:p>
            <a:pPr lvl="3"/>
            <a:r>
              <a:rPr lang="en-US" sz="8400" dirty="0" smtClean="0">
                <a:latin typeface="Times New Roman" pitchFamily="18" charset="0"/>
                <a:cs typeface="Times New Roman" pitchFamily="18" charset="0"/>
              </a:rPr>
              <a:t>Electricity </a:t>
            </a:r>
          </a:p>
          <a:p>
            <a:pPr lvl="3"/>
            <a:r>
              <a:rPr lang="en-US" sz="8400" dirty="0" smtClean="0">
                <a:latin typeface="Times New Roman" pitchFamily="18" charset="0"/>
                <a:cs typeface="Times New Roman" pitchFamily="18" charset="0"/>
              </a:rPr>
              <a:t>Computers &amp; Internet </a:t>
            </a:r>
          </a:p>
          <a:p>
            <a:pPr lvl="3"/>
            <a:r>
              <a:rPr lang="en-US" sz="8400" dirty="0" smtClean="0">
                <a:latin typeface="Times New Roman" pitchFamily="18" charset="0"/>
                <a:cs typeface="Times New Roman" pitchFamily="18" charset="0"/>
              </a:rPr>
              <a:t>Artificial Intelligence </a:t>
            </a:r>
          </a:p>
          <a:p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Today, AI is transforming every industry just like computers transformed businesses in the 1990s.</a:t>
            </a:r>
          </a:p>
          <a:p>
            <a:pPr lvl="2"/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Examples</a:t>
            </a:r>
          </a:p>
          <a:p>
            <a:pPr lvl="2"/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Healthcare </a:t>
            </a:r>
          </a:p>
          <a:p>
            <a:pPr lvl="2"/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Banking </a:t>
            </a:r>
          </a:p>
          <a:p>
            <a:pPr lvl="2"/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Education </a:t>
            </a:r>
          </a:p>
          <a:p>
            <a:pPr lvl="2"/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Agriculture </a:t>
            </a:r>
          </a:p>
          <a:p>
            <a:pPr lvl="2"/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Manufacturing </a:t>
            </a:r>
          </a:p>
          <a:p>
            <a:pPr lvl="2"/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Retail </a:t>
            </a:r>
          </a:p>
          <a:p>
            <a:pPr lvl="2"/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Government </a:t>
            </a:r>
          </a:p>
          <a:p>
            <a:pPr lvl="2"/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Entertainment </a:t>
            </a:r>
          </a:p>
          <a:p>
            <a:pPr lvl="2"/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Cyber security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08" y="0"/>
            <a:ext cx="7890080" cy="548680"/>
          </a:xfrm>
        </p:spPr>
        <p:txBody>
          <a:bodyPr>
            <a:normAutofit/>
          </a:bodyPr>
          <a:lstStyle/>
          <a:p>
            <a:r>
              <a:rPr lang="en-US" sz="2800" b="1" u="sng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5. AI is Everywhere</a:t>
            </a:r>
            <a:endParaRPr lang="en-US" sz="2800" b="1" u="sng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692696"/>
            <a:ext cx="7890080" cy="6165304"/>
          </a:xfrm>
        </p:spPr>
        <p:txBody>
          <a:bodyPr>
            <a:no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Examples of AI You Already Use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Google Search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YouTube Recommendations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Netflix Suggestions </a:t>
            </a:r>
          </a:p>
          <a:p>
            <a:pPr lvl="1"/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Instagram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Feed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Amazon Recommendations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Google Maps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ChatGPT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GitHub Copilot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Google Gemini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Claude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Perplexity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has become part of our daily life—even when we don't realize it.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7624" y="0"/>
            <a:ext cx="7746064" cy="620688"/>
          </a:xfrm>
        </p:spPr>
        <p:txBody>
          <a:bodyPr>
            <a:normAutofit/>
          </a:bodyPr>
          <a:lstStyle/>
          <a:p>
            <a:r>
              <a:rPr lang="en-US" sz="2800" b="1" u="sng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6. Why Learn AI?</a:t>
            </a:r>
            <a:endParaRPr lang="en-US" sz="2800" b="1" u="sng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5616" y="692696"/>
            <a:ext cx="7818072" cy="555570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According to industry reports,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is becoming one of the fastest-growing technologies.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Reasons to Learn AI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High demand in software companies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Better salary packages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Faster career growth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Increased productivity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Ability to automate work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Competitive advantage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Better freelancing opportunities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Startup opportunities 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1640" y="0"/>
            <a:ext cx="7498080" cy="836712"/>
          </a:xfrm>
        </p:spPr>
        <p:txBody>
          <a:bodyPr>
            <a:normAutofit/>
          </a:bodyPr>
          <a:lstStyle/>
          <a:p>
            <a:r>
              <a:rPr lang="en-US" sz="2800" b="1" u="sng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7. Why AI Matters for BCA Students</a:t>
            </a:r>
            <a:endParaRPr lang="en-US" sz="2800" b="1" u="sng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692696"/>
            <a:ext cx="7890080" cy="5555704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Traditional Skill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Write code manually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↓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Modern Skill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Use AI + Programming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↓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Future Skill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Build AI-powered products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Companies now expect graduates to know both programming and AI.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3648" y="0"/>
            <a:ext cx="7498080" cy="764704"/>
          </a:xfrm>
        </p:spPr>
        <p:txBody>
          <a:bodyPr>
            <a:normAutofit/>
          </a:bodyPr>
          <a:lstStyle/>
          <a:p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8. AI vs. Traditional Programming</a:t>
            </a:r>
            <a:endParaRPr lang="en-US" sz="2800" b="1" u="sng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187624" y="1052736"/>
          <a:ext cx="77470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3500"/>
                <a:gridCol w="38735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Traditional Programming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AI Programming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Human writes logic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AI generates logic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Manual coding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AI-assisted coding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Time consuming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Faster development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Fixed rules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Learns</a:t>
                      </a:r>
                      <a:r>
                        <a:rPr lang="en-US" sz="24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patterns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Programmer solves everything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AI assists developer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Less automation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High automation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331640" y="5013176"/>
            <a:ext cx="561662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Important: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does NOT replaces programming.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enhances programming.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43608" y="0"/>
            <a:ext cx="8100392" cy="68018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9. Can AI Replace Programmers?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Common Myth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"AI will replace software engineers."</a:t>
            </a: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Reality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AI replaces repetitive tasks—not problem-solving skills.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Companies still need developers who can: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Think logically 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Design software 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Understand requirements 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Debug systems 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Communicate with clients 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Review AI-generated code </a:t>
            </a:r>
          </a:p>
          <a:p>
            <a:pPr>
              <a:buFont typeface="Arial" pitchFamily="34" charset="0"/>
              <a:buChar char="•"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The future belongs to developers who know how to use AI effectively.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0"/>
            <a:ext cx="7962088" cy="764704"/>
          </a:xfrm>
        </p:spPr>
        <p:txBody>
          <a:bodyPr>
            <a:normAutofit/>
          </a:bodyPr>
          <a:lstStyle/>
          <a:p>
            <a:r>
              <a:rPr lang="en-US" sz="2800" b="1" u="sng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10. AI + Programmer = AI Enabled Programmers</a:t>
            </a:r>
            <a:endParaRPr lang="en-US" sz="2800" b="1" u="sng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692696"/>
            <a:ext cx="7890080" cy="5555704"/>
          </a:xfrm>
        </p:spPr>
        <p:txBody>
          <a:bodyPr>
            <a:no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Without AI </a:t>
            </a:r>
          </a:p>
          <a:p>
            <a:pPr lvl="2" algn="ctr"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 lvl="2" algn="ctr">
              <a:buNone/>
            </a:pP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lvl="2" algn="ctr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Idea 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lvl="2" algn="ctr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Coding 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lvl="2" algn="ctr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	Debugging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lvl="2" algn="ctr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Documentation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0"/>
            <a:ext cx="7498080" cy="6597352"/>
          </a:xfrm>
        </p:spPr>
        <p:txBody>
          <a:bodyPr>
            <a:no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With AI</a:t>
            </a:r>
          </a:p>
          <a:p>
            <a:pPr lvl="1" algn="ctr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Idea</a:t>
            </a:r>
            <a:br>
              <a:rPr lang="en-US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lvl="1" algn="ctr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Assistance</a:t>
            </a:r>
            <a:br>
              <a:rPr lang="en-US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lvl="1" algn="ctr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Coding</a:t>
            </a:r>
            <a:br>
              <a:rPr lang="en-US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↓a</a:t>
            </a:r>
          </a:p>
          <a:p>
            <a:pPr lvl="1" algn="ctr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Testing</a:t>
            </a:r>
            <a:br>
              <a:rPr lang="en-US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lvl="1" algn="ctr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Deployment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Result</a:t>
            </a:r>
          </a:p>
          <a:p>
            <a:pPr lvl="2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Faster Development</a:t>
            </a:r>
          </a:p>
          <a:p>
            <a:pPr lvl="2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Better Productivity</a:t>
            </a:r>
          </a:p>
          <a:p>
            <a:pPr lvl="2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Higher Quality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08" y="0"/>
            <a:ext cx="7890080" cy="764704"/>
          </a:xfrm>
        </p:spPr>
        <p:txBody>
          <a:bodyPr>
            <a:noAutofit/>
          </a:bodyPr>
          <a:lstStyle/>
          <a:p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11. Evolution of Software Development</a:t>
            </a:r>
            <a:endParaRPr lang="en-US" sz="2800" b="1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620688"/>
            <a:ext cx="7890080" cy="5627712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Past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Write every line manually.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Present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AI suggests code.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Future</a:t>
            </a: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Describe your idea.</a:t>
            </a: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↓</a:t>
            </a: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AI generates the application.</a:t>
            </a: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↓</a:t>
            </a: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Developer verifies and improves it.</a:t>
            </a:r>
          </a:p>
          <a:p>
            <a:pPr lvl="1"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This is called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AI-assisted software development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43608" y="0"/>
            <a:ext cx="8100392" cy="685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11. What is Generative AI?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Generative AI is a type of Artificial Intelligence that creates new content instead of only analyzing existing data.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can generate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Text 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Images 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Videos 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Audio 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Code 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Documents 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Presentations 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Websites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Examples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ChatGPT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Gemini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Claude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Midjourney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GitHub Copilot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71600" y="0"/>
            <a:ext cx="8172400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12. AI Jobs in 2026</a:t>
            </a:r>
          </a:p>
          <a:p>
            <a:pPr lvl="1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Popular Roles</a:t>
            </a:r>
          </a:p>
          <a:p>
            <a:pPr lvl="1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2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Engineer </a:t>
            </a:r>
          </a:p>
          <a:p>
            <a:pPr lvl="2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Prompt Engineer </a:t>
            </a:r>
          </a:p>
          <a:p>
            <a:pPr lvl="2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Machine Learning Engineer </a:t>
            </a:r>
          </a:p>
          <a:p>
            <a:pPr lvl="2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Data Scientist </a:t>
            </a:r>
          </a:p>
          <a:p>
            <a:pPr lvl="2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Application Developer </a:t>
            </a:r>
          </a:p>
          <a:p>
            <a:pPr lvl="2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Full Stack AI Developer </a:t>
            </a:r>
          </a:p>
          <a:p>
            <a:pPr lvl="2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LLM Engineer </a:t>
            </a:r>
          </a:p>
          <a:p>
            <a:pPr lvl="2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Automation Engineer </a:t>
            </a:r>
          </a:p>
          <a:p>
            <a:pPr lvl="2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Product Manager </a:t>
            </a:r>
          </a:p>
          <a:p>
            <a:pPr lvl="2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Research Engineer </a:t>
            </a:r>
          </a:p>
          <a:p>
            <a:pPr lvl="2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Consultant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43608" y="0"/>
            <a:ext cx="7128792" cy="71711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13. AI Skills Required by Companies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Problem Solving</a:t>
            </a:r>
            <a:endParaRPr lang="en-US" sz="2800" b="1" u="sng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Programming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Python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JavaScript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Java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Skills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Prompt Engineering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LLMs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APIs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Automation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Tools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Git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GitHub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VS Code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Cloud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Communication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Projects    , Portfolio</a:t>
            </a:r>
          </a:p>
          <a:p>
            <a:pPr>
              <a:buFont typeface="Arial" pitchFamily="34" charset="0"/>
              <a:buChar char="•"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08" y="-387424"/>
            <a:ext cx="7890080" cy="1224136"/>
          </a:xfrm>
        </p:spPr>
        <p:txBody>
          <a:bodyPr>
            <a:normAutofit/>
          </a:bodyPr>
          <a:lstStyle/>
          <a:p>
            <a:r>
              <a:rPr lang="en-US" sz="2800" b="1" u="sng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14. AI Salary (India)</a:t>
            </a:r>
            <a:endParaRPr lang="en-US" sz="2800" b="1" u="sng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5616" y="548680"/>
            <a:ext cx="7818072" cy="569972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Approximate Annual Salary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Freshers</a:t>
            </a:r>
          </a:p>
          <a:p>
            <a:pPr lvl="2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₹3 –10 LPA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1–3 Years</a:t>
            </a:r>
          </a:p>
          <a:p>
            <a:pPr lvl="2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₹10–20 LPA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Senior AI Engineer</a:t>
            </a:r>
          </a:p>
          <a:p>
            <a:pPr lvl="2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₹20–40+ LPA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Top Product Companies</a:t>
            </a:r>
          </a:p>
          <a:p>
            <a:pPr lvl="2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₹40 LPA to ₹1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Crore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+ (Total Compensation)</a:t>
            </a:r>
          </a:p>
          <a:p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Note: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Salaries vary based on skills, company, location, and experience.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1640" y="0"/>
            <a:ext cx="7498080" cy="764704"/>
          </a:xfrm>
        </p:spPr>
        <p:txBody>
          <a:bodyPr>
            <a:normAutofit/>
          </a:bodyPr>
          <a:lstStyle/>
          <a:p>
            <a:r>
              <a:rPr lang="en-US" sz="2800" b="1" u="sng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15. AI Roadmap for BCA Students</a:t>
            </a:r>
            <a:endParaRPr lang="en-US" sz="2800" b="1" u="sng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692696"/>
            <a:ext cx="7818072" cy="5976664"/>
          </a:xfrm>
        </p:spPr>
        <p:txBody>
          <a:bodyPr>
            <a:no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Step 1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Programming Fundamentals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↓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Step 2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Python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↓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Step 3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Data Structures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↓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Step 4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Web Development (SDLC)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↓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43608" y="0"/>
            <a:ext cx="5814392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Step 5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Git &amp; GitHub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↓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Step 6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Generative AI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↓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Step 7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LLMs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↓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Step 8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Prompt Engineering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↓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Step 9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AI APIs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↓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Step 10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AI Agents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03648" y="548680"/>
            <a:ext cx="545435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Step 11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Projects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↓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Step 12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Internship &amp; Placement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43608" y="0"/>
            <a:ext cx="8100392" cy="68018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16. What Companies Expect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i) Technical Skills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Programming 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Database 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APIs 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Git 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AI Tools 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Cloud Basics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ii) Professional Skills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Communication 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Teamwork 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Critical Thinking 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Problem Solving 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Adaptability 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Continuous Learning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iii) AI Skills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ChatGPT ,  Prompt Engineering 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AI Productivity,  LLM Integration,  AI Automation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59632" y="188640"/>
            <a:ext cx="5598368" cy="643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17. Future Software Developer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Traditional Developer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Writes Code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↓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Modern Developer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Writes Code + Uses AI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↓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Future Developer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Builds Intelligent Applications</a:t>
            </a:r>
          </a:p>
          <a:p>
            <a:pPr lvl="1">
              <a:buFont typeface="Arial" pitchFamily="34" charset="0"/>
              <a:buChar char="•"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Creates AI Agents</a:t>
            </a:r>
          </a:p>
          <a:p>
            <a:pPr lvl="1">
              <a:buFont typeface="Arial" pitchFamily="34" charset="0"/>
              <a:buChar char="•"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Automates Business Processes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43608" y="0"/>
            <a:ext cx="5958408" cy="68018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18. Bootcamp Roadmap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Module 1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Intro to AI Era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Module 2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Prompt Engineering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Module 3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Tools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Module 4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Large Language Models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Module 5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OpenAI APIs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Module 6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Building AI Applications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Module 7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Agents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Module 8:- Vibe Coding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Module 9:- Project Development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Module 10:- Resume + Interview Preparation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43608" y="0"/>
            <a:ext cx="8100392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19. Key Takeaways</a:t>
            </a:r>
          </a:p>
          <a:p>
            <a:endParaRPr lang="en-US" sz="2800" b="1" u="sng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is transforming every industry. 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is a powerful assistant, not a replacement for skilled developers. 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Generative AI creates text, code, images, audio, and more.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BCA students should combine programming skills with AI knowledge. 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Companies increasingly expect graduates to know AI tools, LLMs, and prompt engineering. 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Continuous learning and hands-on projects are essential for success in the AI era.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86000" y="3105835"/>
            <a:ext cx="4572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Thank You</a:t>
            </a:r>
          </a:p>
          <a:p>
            <a:endParaRPr lang="en-US" sz="2800" b="1" u="sng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Questions &amp; Discussion</a:t>
            </a:r>
            <a:endParaRPr lang="en-US" sz="2800" b="1" u="sng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87</TotalTime>
  <Words>987</Words>
  <Application>Microsoft Office PowerPoint</Application>
  <PresentationFormat>On-screen Show (4:3)</PresentationFormat>
  <Paragraphs>386</Paragraphs>
  <Slides>29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Solstice</vt:lpstr>
      <vt:lpstr>          Tech-Edge Lab</vt:lpstr>
      <vt:lpstr>Instructions to follow carefully:-  </vt:lpstr>
      <vt:lpstr>Slide 3</vt:lpstr>
      <vt:lpstr>Slide 4</vt:lpstr>
      <vt:lpstr>1. Introduction</vt:lpstr>
      <vt:lpstr>Slide 6</vt:lpstr>
      <vt:lpstr>2. Why This Bootcamp?</vt:lpstr>
      <vt:lpstr>3. Learning Outcomes</vt:lpstr>
      <vt:lpstr>4. Welcome to the AI Era</vt:lpstr>
      <vt:lpstr>5. AI is Everywhere</vt:lpstr>
      <vt:lpstr>6. Why Learn AI?</vt:lpstr>
      <vt:lpstr>7. Why AI Matters for BCA Students</vt:lpstr>
      <vt:lpstr>8. AI vs. Traditional Programming</vt:lpstr>
      <vt:lpstr>Slide 14</vt:lpstr>
      <vt:lpstr>10. AI + Programmer = AI Enabled Programmers</vt:lpstr>
      <vt:lpstr>Slide 16</vt:lpstr>
      <vt:lpstr>11. Evolution of Software Development</vt:lpstr>
      <vt:lpstr>Slide 18</vt:lpstr>
      <vt:lpstr>Slide 19</vt:lpstr>
      <vt:lpstr>Slide 20</vt:lpstr>
      <vt:lpstr>14. AI Salary (India)</vt:lpstr>
      <vt:lpstr>15. AI Roadmap for BCA Students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faraz alam</dc:creator>
  <cp:lastModifiedBy>faraz alam</cp:lastModifiedBy>
  <cp:revision>14</cp:revision>
  <dcterms:created xsi:type="dcterms:W3CDTF">2026-07-20T01:57:49Z</dcterms:created>
  <dcterms:modified xsi:type="dcterms:W3CDTF">2026-07-21T07:39:50Z</dcterms:modified>
</cp:coreProperties>
</file>