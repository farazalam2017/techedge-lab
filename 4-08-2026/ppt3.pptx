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6" r:id="rId5"/>
    <p:sldId id="265" r:id="rId6"/>
    <p:sldId id="292" r:id="rId7"/>
    <p:sldId id="264" r:id="rId8"/>
    <p:sldId id="263" r:id="rId9"/>
    <p:sldId id="262" r:id="rId10"/>
    <p:sldId id="259" r:id="rId11"/>
    <p:sldId id="258" r:id="rId12"/>
    <p:sldId id="267" r:id="rId13"/>
    <p:sldId id="268" r:id="rId14"/>
    <p:sldId id="269" r:id="rId15"/>
    <p:sldId id="272" r:id="rId16"/>
    <p:sldId id="270" r:id="rId17"/>
    <p:sldId id="293" r:id="rId18"/>
    <p:sldId id="271" r:id="rId19"/>
    <p:sldId id="274" r:id="rId20"/>
    <p:sldId id="294" r:id="rId21"/>
    <p:sldId id="273" r:id="rId22"/>
    <p:sldId id="275" r:id="rId23"/>
    <p:sldId id="276" r:id="rId24"/>
    <p:sldId id="277" r:id="rId25"/>
    <p:sldId id="295" r:id="rId26"/>
    <p:sldId id="278" r:id="rId27"/>
    <p:sldId id="296" r:id="rId28"/>
    <p:sldId id="281" r:id="rId29"/>
    <p:sldId id="280" r:id="rId30"/>
    <p:sldId id="279" r:id="rId31"/>
    <p:sldId id="282" r:id="rId32"/>
    <p:sldId id="297" r:id="rId33"/>
    <p:sldId id="286" r:id="rId34"/>
    <p:sldId id="285" r:id="rId35"/>
    <p:sldId id="283" r:id="rId36"/>
    <p:sldId id="289" r:id="rId37"/>
    <p:sldId id="288" r:id="rId38"/>
    <p:sldId id="298" r:id="rId39"/>
    <p:sldId id="287" r:id="rId40"/>
    <p:sldId id="299" r:id="rId41"/>
    <p:sldId id="300" r:id="rId42"/>
    <p:sldId id="301" r:id="rId43"/>
    <p:sldId id="284" r:id="rId44"/>
    <p:sldId id="290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>
      <p:cViewPr>
        <p:scale>
          <a:sx n="100" d="100"/>
          <a:sy n="100" d="100"/>
        </p:scale>
        <p:origin x="-1968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     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Tech-Edge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Lab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 tIns="0">
            <a:normAutofit/>
          </a:bodyPr>
          <a:lstStyle/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	Topic: - </a:t>
            </a:r>
          </a:p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Generative AI &amp; Intelligent Application Development Bootcamp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hade val="30000"/>
                  <a:satMod val="15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	</a:t>
            </a:r>
          </a:p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	Sub-topic:- </a:t>
            </a:r>
          </a:p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Industry-Oriented Training Program on LLMs, AI Tools, AI Agents &amp; Vibe Coding	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hade val="30000"/>
                  <a:satMod val="15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30000"/>
                  <a:satMod val="15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90600" y="1219200"/>
            <a:ext cx="8001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2:- AI Foundations</a:t>
            </a:r>
          </a:p>
          <a:p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Lecture 3:- How AI works(</a:t>
            </a:r>
          </a:p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	training, inference, datasets, parameters, tokens, context window, chatgpt token prediction)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762002"/>
          <a:ext cx="8153400" cy="5845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305"/>
                <a:gridCol w="6907095"/>
              </a:tblGrid>
              <a:tr h="68155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S.No.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Topic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Human learning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Vs AI learning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Data,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Datasets, training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Parameters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4.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Small Model Vs Large Model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5.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6.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Token,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token prediction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7.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Context window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8.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Complete AI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workflow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9.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Class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Challenge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10.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Industry Oriented patterns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943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11.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Activity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0" y="0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 smtClean="0">
                <a:latin typeface="Times New Roman" pitchFamily="18" charset="0"/>
                <a:cs typeface="Times New Roman" pitchFamily="18" charset="0"/>
              </a:rPr>
              <a:t>Index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990600" y="213825"/>
            <a:ext cx="8153400" cy="58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Recap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Yesterday we learned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AI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ML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DL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NLP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Computer Vision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Robotics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Generative AI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We know ChatGPT is AI...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But how does ChatGPT actually learn?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Activity 1 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Q- How did you learn to ride a bicycle?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Answers:-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Practice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Mistakes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Parents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Experience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Now connect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Humans learn from experience.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	AI learns from data.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91440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Human Learning vs AI Learning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1066800"/>
          <a:ext cx="786765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3825"/>
                <a:gridCol w="3933825"/>
              </a:tblGrid>
              <a:tr h="5207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AI</a:t>
                      </a:r>
                    </a:p>
                  </a:txBody>
                  <a:tcPr anchor="ctr"/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Dataset</a:t>
                      </a:r>
                    </a:p>
                  </a:txBody>
                  <a:tcPr anchor="ctr"/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Training</a:t>
                      </a:r>
                    </a:p>
                  </a:txBody>
                  <a:tcPr anchor="ctr"/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Parameters</a:t>
                      </a:r>
                    </a:p>
                  </a:txBody>
                  <a:tcPr anchor="ctr"/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Thinking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</a:p>
                  </a:txBody>
                  <a:tcPr anchor="ctr"/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Speaking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Generated Output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43000" y="4876800"/>
            <a:ext cx="746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AI model goes through a learning process just like students preparing for exams.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172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What is Data?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Images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Books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Websites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Videos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Audio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Code </a:t>
            </a: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Without data,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AI cannot learn.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Q- Can AI learn if no data exists?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A-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Yes/No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Dataset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A dataset is a collection of organized data used to train an AI model.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Millions of books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Wikipedia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Research papers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Source code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Images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Conversations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2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Think 20 images of cats and dogs (or simple examples).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How will AI distinguish cats from dogs?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faraz\Downloads\ChatGPT Image Jul 26, 2026, 07_15_18 AM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76" y="-152400"/>
            <a:ext cx="9159875" cy="7010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638288" cy="6858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Training</a:t>
            </a:r>
          </a:p>
          <a:p>
            <a:pPr>
              <a:buNone/>
            </a:pP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Training is the process where AI learns patterns from data.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Dataset                                       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Training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Model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Example:- </a:t>
            </a:r>
          </a:p>
          <a:p>
            <a:pPr lvl="6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Students</a:t>
            </a:r>
          </a:p>
          <a:p>
            <a:pPr lvl="6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6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Study books</a:t>
            </a:r>
          </a:p>
          <a:p>
            <a:pPr lvl="6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6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</a:t>
            </a:r>
          </a:p>
          <a:p>
            <a:pPr lvl="6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AI</a:t>
            </a:r>
          </a:p>
          <a:p>
            <a:pPr lvl="6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6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Reads dataset</a:t>
            </a:r>
          </a:p>
          <a:p>
            <a:pPr lvl="6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6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Learns patterns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How many times do students revise before exams?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“AI also repeats training many times.”	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Real Example:-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ChatGPT was trained on</a:t>
            </a:r>
          </a:p>
          <a:p>
            <a:pPr lvl="4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Books </a:t>
            </a:r>
          </a:p>
          <a:p>
            <a:pPr lvl="4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Websites </a:t>
            </a:r>
          </a:p>
          <a:p>
            <a:pPr lvl="4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Code </a:t>
            </a:r>
          </a:p>
          <a:p>
            <a:pPr lvl="4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Articles </a:t>
            </a:r>
          </a:p>
          <a:p>
            <a:pPr lvl="4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Research Papers </a:t>
            </a:r>
          </a:p>
          <a:p>
            <a:pPr lvl="4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Millions/Billions of examples.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Discussion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Why does ChatGPT know Java?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6294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Because someone programmed Java?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learned from huge datasets containing Java code.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Parameters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	Parameters are the values AI adjusts during training to improve predictions.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Simple terms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Parameters = AI's memory of what it has learned.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When you prepare for exams? What stays in your brain?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Knowledge.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Similarly,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AI stores learned patterns in parameters.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Small Model vs Large Model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Example-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Small model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	Knows basic English.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Large model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Knows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Programming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Medicine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Law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Mathematics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History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Multiple languages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Who can answer more questions?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5 student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BCA graduate?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Inference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Inference is the process of using learned knowledge to answer a new question.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Diagram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Training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Model Ready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User asks question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Inference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8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Try to think training happens once or every question?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A-?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Training:-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One huge process.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(example is that feeding a specific model to solve all data structure related coding machine round questions)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Inference:-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time you ask a specific question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(ask give some specific question on linked list asked in interviews)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Categorize following activity into training or inference?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2057400"/>
          <a:ext cx="609600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Reading textbooks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Writing</a:t>
                      </a:r>
                      <a:r>
                        <a:rPr lang="en-US" sz="2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exams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Chatgpt</a:t>
                      </a:r>
                      <a:r>
                        <a:rPr lang="en-US" sz="2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answering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Teaching a ChatGpt new model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95400" y="1524000"/>
          <a:ext cx="749935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/>
                <a:gridCol w="37496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Reading textbooks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Training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Writing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exams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Chatgpt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answering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Teaching a ChatGpt new model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Training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228600"/>
            <a:ext cx="152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Answers:-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Tokens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AI does not read words. It reads tokens.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"ChatGPT is amazing"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Break into:-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Amazing</a:t>
            </a: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(Not exact tokenization—just for understanding.)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plit different sentences of you choices into pieces (tokens).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compare with AI tokenization.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Token Prediction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ChatGPT predicts one token at a time.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Live Demo:-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Type:- "The capital of India is“ Stop.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Q- What comes next?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A-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Explain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ChatGPT predicts exactly like this.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Given five incomplete sentences. Predict next word.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The Incomplete Sentences:- </a:t>
            </a:r>
          </a:p>
          <a:p>
            <a:pPr lvl="4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dog barked at the..."</a:t>
            </a:r>
          </a:p>
          <a:p>
            <a:pPr lvl="4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"She lost her car..."</a:t>
            </a:r>
          </a:p>
          <a:p>
            <a:pPr lvl="4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"He took a deep..."</a:t>
            </a:r>
          </a:p>
          <a:p>
            <a:pPr lvl="4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"Please turn off the..."</a:t>
            </a:r>
          </a:p>
          <a:p>
            <a:pPr lvl="4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sun started to...“</a:t>
            </a:r>
          </a:p>
          <a:p>
            <a:pPr lvl="4">
              <a:buNone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ask ChatGPT.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Compare.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609600"/>
          <a:ext cx="7620000" cy="610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94734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sentences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Student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prediction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ChatGpt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prediction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368387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The dog barked at the..."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cat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mailman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squirrel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cat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mailman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squirrel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4734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She lost her car..."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keys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keys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4734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He took a deep..."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breath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sigh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breath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sigh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4734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Please turn off the..."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lights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TV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stove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lights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4734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The sun started to...“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set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rise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shine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set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rise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2400" b="1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shine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Context Window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Context Window is the amount of information AI can remember during one conversation.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lvl="1">
              <a:buNone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Conversation</a:t>
            </a:r>
          </a:p>
          <a:p>
            <a:pPr lvl="2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Question 1</a:t>
            </a:r>
          </a:p>
          <a:p>
            <a:pPr lvl="2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Question 2</a:t>
            </a:r>
          </a:p>
          <a:p>
            <a:pPr lvl="2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Question 3</a:t>
            </a:r>
          </a:p>
          <a:p>
            <a:pPr lvl="2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remembers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questions.</a:t>
            </a: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629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Memory Game: Hobby chain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Student 1: 	"I like cricket.”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Student 2: "I like cricket, ______.”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Student 3: "I like cricket, ______, and ______.“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Breakdown: Eventually, the list gets too long</a:t>
            </a:r>
          </a:p>
          <a:p>
            <a:pPr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Humans also have limited memory.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AI has context limits too.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8001000" cy="6705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Why ChatGPT Sometimes Forgets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Reasons:- 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Long conversations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Context limit reached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New chat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Incomplete prompt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Has anyone noticed ChatGPT forgetting earlier messages?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Live Demo of chatGpt forgets context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 ChatGPT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  "My name is Rahul."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"What is my name?"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Works.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Now open new chat.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Ask again.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It forgets.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 understand context.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400" b="1" u="sng" dirty="0" smtClean="0">
                <a:latin typeface="Times New Roman" pitchFamily="18" charset="0"/>
                <a:cs typeface="Times New Roman" pitchFamily="18" charset="0"/>
              </a:rPr>
              <a:t>Complete AI Workflow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Dataset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Training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Parameters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Trained Model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Inference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Token Prediction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4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Generated Answer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explain how complete AI workflow works in your own words.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Class Challenge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Give 5 scenarios. Identify these :</a:t>
            </a:r>
          </a:p>
          <a:p>
            <a:pPr lvl="8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Dataset </a:t>
            </a:r>
          </a:p>
          <a:p>
            <a:pPr lvl="8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Training </a:t>
            </a:r>
          </a:p>
          <a:p>
            <a:pPr lvl="8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Inference </a:t>
            </a:r>
          </a:p>
          <a:p>
            <a:pPr lvl="8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Tokens </a:t>
            </a:r>
          </a:p>
          <a:p>
            <a:pPr lvl="8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Context Window</a:t>
            </a:r>
          </a:p>
          <a:p>
            <a:pPr lvl="2">
              <a:buNone/>
            </a:pPr>
            <a:endParaRPr lang="en-US" sz="2600" b="1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Scenarios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:-  </a:t>
            </a:r>
          </a:p>
          <a:p>
            <a:pPr lvl="3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Translate</a:t>
            </a:r>
          </a:p>
          <a:p>
            <a:pPr lvl="3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</a:t>
            </a:r>
          </a:p>
          <a:p>
            <a:pPr lvl="3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Face Unlock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600" y="228600"/>
          <a:ext cx="87630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/>
                <a:gridCol w="1460500"/>
                <a:gridCol w="1372674"/>
                <a:gridCol w="1548326"/>
                <a:gridCol w="1460500"/>
                <a:gridCol w="1460500"/>
              </a:tblGrid>
              <a:tr h="993228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Scenarios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Dataset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Training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Tokens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Context window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07572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G translate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Millions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paired sentences translated by humans expert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 studies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these pairs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App instantly generates </a:t>
                      </a:r>
                      <a:r>
                        <a:rPr lang="en-IN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english</a:t>
                      </a:r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version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students text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Individual word or sub-words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Specific paragraph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being translated, to ensure words are </a:t>
                      </a:r>
                      <a:r>
                        <a:rPr lang="en-IN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interepreted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accordingly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6858000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ChatGpt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Terabytes of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public internet texts, books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r>
                        <a:rPr lang="en-IN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run in supermarket for months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The chatbot generates the functional code on the screen in real-time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Chunks of text or code (roughly 4 characters each) that the model reads and outputs.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The maximum length of the conversation history the chatbot can remember at once.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10306050" cy="697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675"/>
                <a:gridCol w="1717675"/>
                <a:gridCol w="1717675"/>
                <a:gridCol w="1717675"/>
                <a:gridCol w="1717675"/>
                <a:gridCol w="1717675"/>
              </a:tblGrid>
              <a:tr h="6974840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Face unlock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Generic facial databases used by manufacturers,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The phone's neural chip learns the permanent mathematical landmarks of the user's facial structure.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The front camera scans the face in the dark and decides whether to unlock.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Small pixel patches or coordinate coordinates mapped out across the user's eyes, nose, and jaw.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The single live camera frame or brief video burst captured at that exact moment.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Industry Connection</a:t>
            </a:r>
          </a:p>
          <a:p>
            <a:pPr lvl="3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Where are these concepts used?</a:t>
            </a:r>
          </a:p>
          <a:p>
            <a:pPr lvl="3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pPr lvl="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pPr lvl="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Claude </a:t>
            </a:r>
          </a:p>
          <a:p>
            <a:pPr lvl="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GitHub Copilot </a:t>
            </a:r>
          </a:p>
          <a:p>
            <a:pPr lvl="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Perplexity </a:t>
            </a:r>
          </a:p>
          <a:p>
            <a:pPr lvl="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Cursor </a:t>
            </a:r>
          </a:p>
          <a:p>
            <a:pPr lvl="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AI Agents </a:t>
            </a:r>
          </a:p>
          <a:p>
            <a:pPr lvl="3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All follow the same basic learning pipeline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Key Takeaways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lvl="5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learns from datasets. </a:t>
            </a:r>
          </a:p>
          <a:p>
            <a:pPr lvl="5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Training is learning. </a:t>
            </a:r>
          </a:p>
          <a:p>
            <a:pPr lvl="5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Inference is answering. </a:t>
            </a:r>
          </a:p>
          <a:p>
            <a:pPr lvl="5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Parameters store learned knowledge. </a:t>
            </a:r>
          </a:p>
          <a:p>
            <a:pPr lvl="5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Tokens are the units AI processes. </a:t>
            </a:r>
          </a:p>
          <a:p>
            <a:pPr lvl="5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Context Window determines how much AI remembers. </a:t>
            </a:r>
          </a:p>
          <a:p>
            <a:pPr lvl="5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predicts one token at a time.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200</TotalTime>
  <Words>776</Words>
  <Application>Microsoft Office PowerPoint</Application>
  <PresentationFormat>On-screen Show (4:3)</PresentationFormat>
  <Paragraphs>443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Solstice</vt:lpstr>
      <vt:lpstr>Slide 1</vt:lpstr>
      <vt:lpstr>Slide 2</vt:lpstr>
      <vt:lpstr>Slide 3</vt:lpstr>
      <vt:lpstr>Slide 4</vt:lpstr>
      <vt:lpstr>Slide 5</vt:lpstr>
      <vt:lpstr>Slide 6</vt:lpstr>
      <vt:lpstr>Human Learning vs AI Learning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28</cp:revision>
  <dcterms:created xsi:type="dcterms:W3CDTF">2006-08-16T00:00:00Z</dcterms:created>
  <dcterms:modified xsi:type="dcterms:W3CDTF">2026-08-01T06:07:38Z</dcterms:modified>
</cp:coreProperties>
</file>