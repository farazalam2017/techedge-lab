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89" r:id="rId3"/>
    <p:sldId id="264" r:id="rId4"/>
    <p:sldId id="257" r:id="rId5"/>
    <p:sldId id="285" r:id="rId6"/>
    <p:sldId id="263" r:id="rId7"/>
    <p:sldId id="262" r:id="rId8"/>
    <p:sldId id="286" r:id="rId9"/>
    <p:sldId id="261" r:id="rId10"/>
    <p:sldId id="260" r:id="rId11"/>
    <p:sldId id="287" r:id="rId12"/>
    <p:sldId id="259" r:id="rId13"/>
    <p:sldId id="258" r:id="rId14"/>
    <p:sldId id="265" r:id="rId15"/>
    <p:sldId id="288" r:id="rId16"/>
    <p:sldId id="266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4" r:id="rId26"/>
    <p:sldId id="283" r:id="rId27"/>
    <p:sldId id="282" r:id="rId28"/>
    <p:sldId id="281" r:id="rId29"/>
    <p:sldId id="280" r:id="rId30"/>
    <p:sldId id="279" r:id="rId31"/>
    <p:sldId id="278" r:id="rId32"/>
    <p:sldId id="277" r:id="rId33"/>
    <p:sldId id="294" r:id="rId34"/>
    <p:sldId id="293" r:id="rId35"/>
    <p:sldId id="292" r:id="rId36"/>
    <p:sldId id="291" r:id="rId37"/>
    <p:sldId id="290" r:id="rId38"/>
    <p:sldId id="276" r:id="rId39"/>
    <p:sldId id="295" r:id="rId40"/>
    <p:sldId id="296" r:id="rId41"/>
    <p:sldId id="304" r:id="rId42"/>
    <p:sldId id="297" r:id="rId43"/>
    <p:sldId id="298" r:id="rId44"/>
    <p:sldId id="305" r:id="rId45"/>
    <p:sldId id="299" r:id="rId46"/>
    <p:sldId id="306" r:id="rId47"/>
    <p:sldId id="300" r:id="rId48"/>
    <p:sldId id="307" r:id="rId49"/>
    <p:sldId id="301" r:id="rId50"/>
    <p:sldId id="302" r:id="rId51"/>
    <p:sldId id="303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B959A4C-6E7F-45D9-8675-F9B63E890C48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D52FB96-74CF-4D3F-8894-FEA32000D0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3608" y="116632"/>
            <a:ext cx="7795592" cy="551723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Slide 1 — Transformer Architecture</a:t>
            </a:r>
          </a:p>
          <a:p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Understanding the Technology Behind Modern LLMs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From Text → Tokens → Attention → Transformer → LLM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Today we will understand: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 a Transformer processes text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Encoder and Decoder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Self-Attention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Query, Key, Value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Multi-Head Attention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Positional Encoding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Feed Forward Network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Masked Attention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 Transformers power modern LLMs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858000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Input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Position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Self-attention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Query, Key , Value flow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Multihead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attention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Tranformer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block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Stacking layer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Encoder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Decoder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Cross attention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Complete architecture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 connections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332656"/>
            <a:ext cx="4544869" cy="623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Slide 2 — The Big Picture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Q- What Happens When We Give Text to a Transformer?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Text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Tokenization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Embedding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Positional Information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Neural Network Layers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Question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does the model know which words are related?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Answer: Attention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Input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student submitted the project because he completed it.“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Question: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does "it" refer to?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Project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model needs to understand: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─────────→ project</a:t>
            </a:r>
          </a:p>
          <a:p>
            <a:pPr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Idea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Transformer learns relationships between tokens.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7413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1 — INPUT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4 — Step 1: Tokenization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Text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"I love Artificial Intelligence.“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text is converted into tokens: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 | love | Artificial | Intelligence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Depending on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tokenizer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 word can also be split into multiple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subword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tokens.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Why?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Neural networks work with numerical representations rather than raw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87624" y="-5417"/>
            <a:ext cx="7312677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Slide 5 — Step 2: Embedding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Tokens are converted into numerical vectors.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Token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Embedding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Vector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Conceptually: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"cat" → [0.21, -0.45, 0.73, ...]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These numbers are learned representations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They allow the model to work mathematically with language.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Slide 6 — Activity: Token → Meaning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Q- Which words are related?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"Python programmer writes Python code.“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Discussion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could a computer represent these relationships mathematically?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A-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Possible relationships: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↔ programmer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Python ↔ code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programmer ↔ writes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A- Embeddings + Attention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2 — POSITION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7 — Why Position Is Necessary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Dog bites man.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Man bites dog.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Same words.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Different meaning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Why?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Because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word order matters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8 — Positional Encoding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Transformer needs information about token position.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→ Position 1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 → Position 2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sat → Position 3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 → Position 4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→ Position 5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mat → Position 6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Conceptually: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 Embedding + Position Information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Input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Idea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Embedding = What is the token?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Position = Where is the token?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9 — Activity: Rearrange the Sentence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 AI,  students,  learn,  BCA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create a meaningful sentence.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741368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BCA students learn AI.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Now rearrange: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AI learns BCA students.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Question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Why did the meaning change?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Position/order matters.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PART 3 — SELF-ATTENTION</a:t>
            </a:r>
          </a:p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10 — The Core Idea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Self-Attention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Each token can look at other tokens in the same sequence and determine which ones are relevant.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cat sat on the mat."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"sat"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relevant words may include: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Conceptually: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 ─────→ sat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sat ─────→ cat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sat ─────→ mat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858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11 — Human Attention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Read: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bank approved the customer's loan.“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does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bank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mean?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A- Financial institution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Why?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Because surrounding words provide context: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bank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approved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customer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loan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AI Analogy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 helps the model focus on relevant contextual information.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8002136" cy="6858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Slide 12 — Activity: Find the Important Words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Sentence: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"The AI engineer trained the model using a large dataset."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1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Q- Who trained the model?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AI engineer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Q- What was used?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Large dataset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Q- What was trained?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Model</a:t>
            </a:r>
          </a:p>
          <a:p>
            <a:pPr>
              <a:buNone/>
            </a:pP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AI engineer → trained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trained → model </a:t>
            </a: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model → dataset</a:t>
            </a:r>
          </a:p>
          <a:p>
            <a:pPr>
              <a:buNone/>
            </a:pPr>
            <a:endParaRPr lang="en-IN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These relationships are the kind of contextual relationships attention mechanisms help models represent.</a:t>
            </a:r>
            <a:endParaRPr lang="en-US" sz="3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66936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4 — QUERY, KEY, VALUE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13 — Q, K, V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Self-attention uses three learned projections: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Query — Q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am I looking for?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— K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information might be relevant?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Value — V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information should I contribute?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Simple Analogy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Think about searching a library: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Query → What am I searching for?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Key → Which books match?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Value → Information from selected books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858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14 — Q, K, V Flow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Input Tokens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Create Q, K, V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Compare Q with K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 Scores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Softmax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Weighted Values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New Representation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Remember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 finds relevance. K provides matching information. V provides the information that gets combined.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15 — Attention Scores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word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"sat"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3648" y="1124744"/>
          <a:ext cx="6096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Example Attention Score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0.05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0.40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0.15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0.05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0.05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0.30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43608" y="4797152"/>
            <a:ext cx="81003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Interpretation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The model gives greater weight to tokens that are more relevant to the current token.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Values shown are only for demonstration.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16 — Activity: Attention Detective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Sentence: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student opened the laptop because it was needed for the presentation.“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Question: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could "it" refer to?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Identify the most relevant words.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other words would you want the model to consider?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71600" y="157143"/>
            <a:ext cx="8172400" cy="6494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PART 5 — MULTI-HEAD ATTENTION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Slide 17 — Why Multiple Heads?</a:t>
            </a:r>
            <a:endParaRPr kumimoji="0" lang="en-US" sz="24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One sentence can contain many types of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"The bank approved the customer's loan because she had excellent credit."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      Different attention heads may learn different patterns.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Head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bank → loan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Head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customer → she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Head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credit → excellent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           The exact patterns learned by individual heads are not manually assigned like this; these are simplified examples for understanding.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18 — Multi-Head Attention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       Input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         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┌───────────┼───────────┐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↓                                 ↓                                ↓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Head 1                      Head 2                      Head 3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↓                                    ↓                                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Relationship          Grammar                   Context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↓                               ↓                                 ↓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└───────────┼───────────┘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       ↓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Combined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Simple 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Multi-Head Attention allows the model to learn multiple attention patterns in parallel.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6 — TRANSFORMER BLOCK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19 — What Happens After Attention?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 produces contextual information.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But the Transformer needs additional processing.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Feed-Forward Network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 Output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Feed-Forward Network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Transformed Representation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Think of it as: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 → Understand relationships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Feed Forward → Further process the information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20 — Add &amp; Norm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Residual Connection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original information is combined with the processed information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Original Input + Layer Output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Updated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Representation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Layer Normalization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Helps stabilize the network during training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Together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Add &amp; Norm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7413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21 — One Transformer Encoder Block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Input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Self-Attention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&amp; Norm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Feed-Forward Network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&amp; Norm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Remember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entire sequence is one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Transformer Encoder Layer/Block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PART 7 — STACKING LAYERS</a:t>
            </a:r>
          </a:p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22 — One Layer Is Not Enough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Modern Transformer models use many layers.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Input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Layer 1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Transformer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Layer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Layer 3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Layer 4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...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Layer N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Why?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332656"/>
            <a:ext cx="7746064" cy="59157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Each layer transforms the representations further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Idea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More layers + more parameters + more training data + sufficient compute can enable increasingly capable models.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858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8 —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ENCODER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23 — Encoder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Encoder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 Process the Input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Input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Embedding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+ Position Information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Self-Attention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&amp; Norm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Feed Forward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 &amp; Norm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Encoded Representation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Simple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Explanation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Encoder converts the input into contextual representations.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0"/>
            <a:ext cx="7818072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9 — </a:t>
            </a:r>
            <a:r>
              <a:rPr lang="en-US" sz="2800" b="1" u="sng" dirty="0" err="1" smtClean="0">
                <a:latin typeface="Times New Roman" pitchFamily="18" charset="0"/>
                <a:cs typeface="Times New Roman" pitchFamily="18" charset="0"/>
              </a:rPr>
              <a:t>DECODERSlide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24 — Decoder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Decoder = Generate Output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original Transformer decoder contains: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Masked Self-Attention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Cross-Attention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Feed Forward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Simple Idea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Encoder → Process input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Decoder → Generate output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992888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25 — Masked Self-Attention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Suppose the model is generating: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  "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cat is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...“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predicting the next token, it should not see future tokens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→ can see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 → can see The + cat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can see The + cat + is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Future tokens: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❌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Hidden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Why?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prevent the model from seeing the answer while learning/generating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autoregressively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26 — Activity: Don't Cheat!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Complete: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"The student opened the ______."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must predict the next word, but you cannot see the future words.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88640"/>
            <a:ext cx="7890080" cy="60597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Possible answers: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laptop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book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door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Notebook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Connection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This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the basic intuition behind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causal/masked self-attention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PART 10 — CROSS-ATTENTION</a:t>
            </a:r>
          </a:p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27 — Cross-Attention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the original Encoder-Decoder Transformer: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decoder can look at the encoder's output.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English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 love AI."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Encoder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Representation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Decoder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Hindi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hi-IN" sz="2400" dirty="0" smtClean="0">
                <a:latin typeface="Times New Roman" pitchFamily="18" charset="0"/>
              </a:rPr>
              <a:t>मुझे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hi-IN" sz="2400" dirty="0" smtClean="0">
                <a:latin typeface="Times New Roman" pitchFamily="18" charset="0"/>
              </a:rPr>
              <a:t>पसंद है</a:t>
            </a:r>
            <a:r>
              <a:rPr lang="hi-IN" sz="2400" dirty="0" smtClean="0">
                <a:latin typeface="Times New Roman" pitchFamily="18" charset="0"/>
              </a:rPr>
              <a:t>"</a:t>
            </a:r>
            <a:endParaRPr lang="hi-IN" sz="2400" dirty="0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16632"/>
            <a:ext cx="7818072" cy="6131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Self-Attention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Looks within its own sequence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Cross-Attention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Connects decoder processing with encoder representations.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8580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7000" b="1" u="sng" dirty="0" smtClean="0">
                <a:latin typeface="Times New Roman" pitchFamily="18" charset="0"/>
                <a:cs typeface="Times New Roman" pitchFamily="18" charset="0"/>
              </a:rPr>
              <a:t>PART 11 — COMPLETE ARCHITECTURE</a:t>
            </a:r>
          </a:p>
          <a:p>
            <a:pPr>
              <a:buNone/>
            </a:pPr>
            <a:r>
              <a:rPr lang="en-US" sz="7000" b="1" u="sng" dirty="0" smtClean="0">
                <a:latin typeface="Times New Roman" pitchFamily="18" charset="0"/>
                <a:cs typeface="Times New Roman" pitchFamily="18" charset="0"/>
              </a:rPr>
              <a:t>Slide 28 — Original Transformer Architecture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INPUT</a:t>
            </a: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     ↓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Tokenization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     ↓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  Embedding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     +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Positional Encoding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     ↓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┌─────────┐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│ ENCODER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│</a:t>
            </a: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│  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      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│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│Self-Attention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│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↓      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│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│ </a:t>
            </a:r>
            <a:r>
              <a:rPr lang="en-US" sz="3800" dirty="0" err="1" smtClean="0">
                <a:latin typeface="Times New Roman" pitchFamily="18" charset="0"/>
                <a:cs typeface="Times New Roman" pitchFamily="18" charset="0"/>
              </a:rPr>
              <a:t>Add&amp;Norm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│</a:t>
            </a: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│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↓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│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│</a:t>
            </a:r>
            <a:r>
              <a:rPr lang="en-US" sz="3800" dirty="0" err="1" smtClean="0">
                <a:latin typeface="Times New Roman" pitchFamily="18" charset="0"/>
                <a:cs typeface="Times New Roman" pitchFamily="18" charset="0"/>
              </a:rPr>
              <a:t>FeedForward</a:t>
            </a: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│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↓       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│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│ </a:t>
            </a:r>
            <a:r>
              <a:rPr lang="en-US" sz="3800" dirty="0" err="1" smtClean="0">
                <a:latin typeface="Times New Roman" pitchFamily="18" charset="0"/>
                <a:cs typeface="Times New Roman" pitchFamily="18" charset="0"/>
              </a:rPr>
              <a:t>Add&amp;Norm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│</a:t>
            </a: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└────┬────┘</a:t>
            </a:r>
          </a:p>
          <a:p>
            <a:pPr>
              <a:buNone/>
            </a:pP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↓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16632"/>
            <a:ext cx="7890080" cy="67413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Encoder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Representation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↓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┌─────────┐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 DECODER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│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  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│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│Masked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│Self-Attention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↓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│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│Cross-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│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│Attention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↓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│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│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FeedForward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└────┬────┘</a:t>
            </a:r>
          </a:p>
          <a:p>
            <a:pPr lvl="3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Linear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Layer</a:t>
            </a:r>
          </a:p>
          <a:p>
            <a:pPr lvl="3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Softmax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↓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Output Token</a:t>
            </a:r>
            <a:endParaRPr lang="en-US" sz="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16632"/>
            <a:ext cx="7890080" cy="6131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29 — Original vs Modern Transformers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Important!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original Transformer: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Encoder + Decoder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But different models use different configurations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47664" y="2708920"/>
          <a:ext cx="609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Architecture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Encoder-based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Decoder-only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Encoder-Decoder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43608" y="5445224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Point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Transformer is an architecture family, not one fixed model.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12 — GPT CONNECTION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30 — How GPT Generates Text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"Python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Simplified process: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Tokenization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Embedding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+ Position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Decoder Layers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Masked Self-Attention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16632"/>
            <a:ext cx="7962088" cy="6131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Feed Forward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Vocabulary Scores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Probability Distribution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Next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Possible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prediction: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language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the process repeats.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31 — Next Token Prediction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is a language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next token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a language used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next token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...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GPT-style models generate text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auto regressively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by repeatedly predicting the next token based on the previous context.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32 — Transformer → LLM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Architecture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Large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Dataset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Large-Scale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Training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Millions/Billions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Parameters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Transformer-Based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Model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Large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Language Model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Generative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Applications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Gemini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Claude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Coding assistants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applications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33 — Why Transformers Changed AI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RNN/LSTM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Sequential Processing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Long-range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dependency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challenges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Less parallelizable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Transformers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Self-Attention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Token-to-token relationships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Highly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parallelizable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training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Better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scaling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Large Models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16632"/>
            <a:ext cx="7818072" cy="6131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Result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Transformers became a foundation for modern large-scale AI and LLMs.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34 — Activity: Build a Transformer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Given cards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Tokenization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Embedding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Position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Self-Attention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Query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Key Value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Multi-Head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&amp; Norm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Feed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Forward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Encoder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Masked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Self-Attention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Cross-Attention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Decoder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Linear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Softmax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Task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Arrange them into the correct order.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Bonus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every component, answer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"Why does this component exist?"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35 — Final Challenge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Sentence: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	"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Transformers understand relationships between tokens using attention."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Explain: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What is a token?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What is embedding?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Why position?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What is self-attention?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What are Q, K and V?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Why multiple heads?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What does the feed-forward network do?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What is an encoder?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What is a decoder?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 does this connect to LLMs?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8580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36 — Final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Takeaways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Remember the Journey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TEXT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TOKENS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EMBEDDINGS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POSITION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SELF-ATTENTION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Q + K +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V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MULTI-HEAD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ATTENTION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&amp; NORM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FEED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FORWARD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STACKED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TRANSFORMER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LAYERS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LLM 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GENERATIVE AI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One Sentence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uses attention-based neural-network layers to build contextual representations of tokens and, depending on its architecture, understand, transform, or generate sequences.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217</TotalTime>
  <Words>1816</Words>
  <Application>Microsoft Office PowerPoint</Application>
  <PresentationFormat>On-screen Show (4:3)</PresentationFormat>
  <Paragraphs>641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Solstice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30</cp:revision>
  <dcterms:created xsi:type="dcterms:W3CDTF">2026-08-13T14:18:53Z</dcterms:created>
  <dcterms:modified xsi:type="dcterms:W3CDTF">2026-08-17T01:58:39Z</dcterms:modified>
</cp:coreProperties>
</file>