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Default Extension="jpeg" ContentType="image/jpeg"/>
  <Override PartName="/ppt/slideLayouts/slideLayout3.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63" r:id="rId3"/>
    <p:sldId id="262" r:id="rId4"/>
    <p:sldId id="261" r:id="rId5"/>
    <p:sldId id="260" r:id="rId6"/>
    <p:sldId id="259" r:id="rId7"/>
    <p:sldId id="258" r:id="rId8"/>
    <p:sldId id="257" r:id="rId9"/>
    <p:sldId id="285" r:id="rId10"/>
    <p:sldId id="286" r:id="rId11"/>
    <p:sldId id="287" r:id="rId12"/>
    <p:sldId id="288" r:id="rId13"/>
    <p:sldId id="289" r:id="rId14"/>
    <p:sldId id="264" r:id="rId15"/>
    <p:sldId id="265" r:id="rId16"/>
    <p:sldId id="266" r:id="rId17"/>
    <p:sldId id="267" r:id="rId18"/>
    <p:sldId id="290" r:id="rId19"/>
    <p:sldId id="268" r:id="rId20"/>
    <p:sldId id="291" r:id="rId21"/>
    <p:sldId id="269" r:id="rId22"/>
    <p:sldId id="270" r:id="rId23"/>
    <p:sldId id="271" r:id="rId24"/>
    <p:sldId id="292" r:id="rId25"/>
    <p:sldId id="272" r:id="rId26"/>
    <p:sldId id="273" r:id="rId27"/>
    <p:sldId id="274" r:id="rId28"/>
    <p:sldId id="293" r:id="rId29"/>
    <p:sldId id="294" r:id="rId30"/>
    <p:sldId id="275" r:id="rId31"/>
    <p:sldId id="276" r:id="rId32"/>
    <p:sldId id="277" r:id="rId33"/>
    <p:sldId id="278" r:id="rId34"/>
    <p:sldId id="279" r:id="rId35"/>
    <p:sldId id="295" r:id="rId36"/>
    <p:sldId id="280" r:id="rId37"/>
    <p:sldId id="281" r:id="rId38"/>
    <p:sldId id="282" r:id="rId39"/>
    <p:sldId id="284" r:id="rId4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00" d="100"/>
          <a:sy n="100" d="100"/>
        </p:scale>
        <p:origin x="-1944" y="-288"/>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smtClean="0"/>
              <a:t>Click to edit Master title style</a:t>
            </a:r>
            <a:endParaRPr kumimoji="0" lang="en-US"/>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7" name="Date Placeholder 6"/>
          <p:cNvSpPr>
            <a:spLocks noGrp="1"/>
          </p:cNvSpPr>
          <p:nvPr>
            <p:ph type="dt" sz="half" idx="10"/>
          </p:nvPr>
        </p:nvSpPr>
        <p:spPr/>
        <p:txBody>
          <a:bodyPr/>
          <a:lstStyle>
            <a:extLst/>
          </a:lstStyle>
          <a:p>
            <a:fld id="{1D8BD707-D9CF-40AE-B4C6-C98DA3205C09}" type="datetimeFigureOut">
              <a:rPr lang="en-US" smtClean="0"/>
              <a:pPr/>
              <a:t>8/7/2026</a:t>
            </a:fld>
            <a:endParaRPr lang="en-US"/>
          </a:p>
        </p:txBody>
      </p:sp>
      <p:sp>
        <p:nvSpPr>
          <p:cNvPr id="20" name="Footer Placeholder 19"/>
          <p:cNvSpPr>
            <a:spLocks noGrp="1"/>
          </p:cNvSpPr>
          <p:nvPr>
            <p:ph type="ftr" sz="quarter" idx="11"/>
          </p:nvPr>
        </p:nvSpPr>
        <p:spPr/>
        <p:txBody>
          <a:bodyPr/>
          <a:lstStyle>
            <a:extLst/>
          </a:lstStyle>
          <a:p>
            <a:endParaRPr lang="en-US"/>
          </a:p>
        </p:txBody>
      </p:sp>
      <p:sp>
        <p:nvSpPr>
          <p:cNvPr id="10" name="Slide Number Placeholder 9"/>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8/7/2026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8/7/2026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8/7/2026</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1D8BD707-D9CF-40AE-B4C6-C98DA3205C09}" type="datetimeFigureOut">
              <a:rPr lang="en-US" smtClean="0"/>
              <a:pPr/>
              <a:t>8/7/2026</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1D8BD707-D9CF-40AE-B4C6-C98DA3205C09}" type="datetimeFigureOut">
              <a:rPr lang="en-US" smtClean="0"/>
              <a:pPr/>
              <a:t>8/7/2026</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Date Placeholder 1"/>
          <p:cNvSpPr>
            <a:spLocks noGrp="1"/>
          </p:cNvSpPr>
          <p:nvPr>
            <p:ph type="dt" sz="half" idx="10"/>
          </p:nvPr>
        </p:nvSpPr>
        <p:spPr/>
        <p:txBody>
          <a:bodyPr/>
          <a:lstStyle>
            <a:extLst/>
          </a:lstStyle>
          <a:p>
            <a:fld id="{1D8BD707-D9CF-40AE-B4C6-C98DA3205C09}" type="datetimeFigureOut">
              <a:rPr lang="en-US" smtClean="0"/>
              <a:pPr/>
              <a:t>8/7/2026</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8/7/2026</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8/7/2026</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extLst/>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smtClean="0"/>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8/7/2026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1143000" y="274640"/>
            <a:ext cx="55626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8/7/2026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extLst/>
          </a:lstStyle>
          <a:p>
            <a:r>
              <a:rPr kumimoji="0" lang="en-US" smtClean="0"/>
              <a:t>Click to edit Master title style</a:t>
            </a:r>
            <a:endParaRPr kumimoji="0" lang="en-US"/>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1D8BD707-D9CF-40AE-B4C6-C98DA3205C09}" type="datetimeFigureOut">
              <a:rPr lang="en-US" smtClean="0"/>
              <a:pPr/>
              <a:t>8/7/2026</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B6F15528-21DE-4FAA-801E-634DDDAF4B2B}" type="slidenum">
              <a:rPr lang="en-US" smtClean="0"/>
              <a:pPr/>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219200" y="533400"/>
            <a:ext cx="7315200" cy="4832092"/>
          </a:xfrm>
          <a:prstGeom prst="rect">
            <a:avLst/>
          </a:prstGeom>
        </p:spPr>
        <p:txBody>
          <a:bodyPr wrap="square">
            <a:spAutoFit/>
          </a:bodyPr>
          <a:lstStyle/>
          <a:p>
            <a:endParaRPr lang="en-US" sz="2800" b="1" dirty="0" smtClean="0">
              <a:latin typeface="Times New Roman" pitchFamily="18" charset="0"/>
              <a:cs typeface="Times New Roman" pitchFamily="18" charset="0"/>
            </a:endParaRPr>
          </a:p>
          <a:p>
            <a:r>
              <a:rPr lang="en-IN" sz="2800" b="1" dirty="0" smtClean="0">
                <a:latin typeface="Times New Roman" pitchFamily="18" charset="0"/>
                <a:cs typeface="Times New Roman" pitchFamily="18" charset="0"/>
              </a:rPr>
              <a:t>Module 2:- AI Foundation</a:t>
            </a:r>
            <a:endParaRPr lang="en-US" sz="2800" b="1" dirty="0" smtClean="0">
              <a:latin typeface="Times New Roman" pitchFamily="18" charset="0"/>
              <a:cs typeface="Times New Roman" pitchFamily="18" charset="0"/>
            </a:endParaRPr>
          </a:p>
          <a:p>
            <a:r>
              <a:rPr lang="en-US" sz="2800" b="1" dirty="0" smtClean="0">
                <a:latin typeface="Times New Roman" pitchFamily="18" charset="0"/>
                <a:cs typeface="Times New Roman" pitchFamily="18" charset="0"/>
              </a:rPr>
              <a:t>Lecture 5:- </a:t>
            </a:r>
          </a:p>
          <a:p>
            <a:endParaRPr lang="en-US" sz="2800" b="1" dirty="0" smtClean="0">
              <a:latin typeface="Times New Roman" pitchFamily="18" charset="0"/>
              <a:cs typeface="Times New Roman" pitchFamily="18" charset="0"/>
            </a:endParaRPr>
          </a:p>
          <a:p>
            <a:r>
              <a:rPr lang="en-US" sz="2800" b="1" dirty="0" smtClean="0">
                <a:latin typeface="Times New Roman" pitchFamily="18" charset="0"/>
                <a:cs typeface="Times New Roman" pitchFamily="18" charset="0"/>
              </a:rPr>
              <a:t>Deep Learning &amp; Neural Networks</a:t>
            </a:r>
          </a:p>
          <a:p>
            <a:endParaRPr lang="en-US" sz="2800" b="1" dirty="0" smtClean="0">
              <a:latin typeface="Times New Roman" pitchFamily="18" charset="0"/>
              <a:cs typeface="Times New Roman" pitchFamily="18" charset="0"/>
            </a:endParaRPr>
          </a:p>
          <a:p>
            <a:r>
              <a:rPr lang="en-US" sz="2800" b="1" dirty="0" smtClean="0">
                <a:latin typeface="Times New Roman" pitchFamily="18" charset="0"/>
                <a:cs typeface="Times New Roman" pitchFamily="18" charset="0"/>
              </a:rPr>
              <a:t>Understanding the Technology Behind Modern AI</a:t>
            </a:r>
          </a:p>
          <a:p>
            <a:r>
              <a:rPr lang="en-US" sz="2800" dirty="0" smtClean="0">
                <a:latin typeface="Times New Roman" pitchFamily="18" charset="0"/>
                <a:cs typeface="Times New Roman" pitchFamily="18" charset="0"/>
              </a:rPr>
              <a:t/>
            </a:r>
            <a:br>
              <a:rPr lang="en-US" sz="2800" dirty="0" smtClean="0">
                <a:latin typeface="Times New Roman" pitchFamily="18" charset="0"/>
                <a:cs typeface="Times New Roman" pitchFamily="18" charset="0"/>
              </a:rPr>
            </a:br>
            <a:r>
              <a:rPr lang="en-US" sz="2800" dirty="0" smtClean="0">
                <a:latin typeface="Times New Roman" pitchFamily="18" charset="0"/>
                <a:cs typeface="Times New Roman" pitchFamily="18" charset="0"/>
              </a:rPr>
              <a:t>CNN • RNN • LSTM • Backpropagation • Forward Pass • AI Applications</a:t>
            </a:r>
            <a:endParaRPr lang="en-US" sz="28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1"/>
          <p:cNvSpPr>
            <a:spLocks noChangeArrowheads="1"/>
          </p:cNvSpPr>
          <p:nvPr/>
        </p:nvSpPr>
        <p:spPr bwMode="auto">
          <a:xfrm>
            <a:off x="0" y="-62824"/>
            <a:ext cx="9144000" cy="692082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800" b="1" i="0" strike="noStrike" cap="none" normalizeH="0" baseline="0" dirty="0" smtClean="0">
                <a:ln>
                  <a:noFill/>
                </a:ln>
                <a:solidFill>
                  <a:schemeClr val="tx1"/>
                </a:solidFill>
                <a:effectLst/>
                <a:latin typeface="Times New Roman" pitchFamily="18" charset="0"/>
                <a:cs typeface="Times New Roman" pitchFamily="18" charset="0"/>
              </a:rPr>
              <a:t>                </a:t>
            </a:r>
            <a:r>
              <a:rPr kumimoji="0" lang="en-US" sz="2800" b="1" i="0" u="sng" strike="noStrike" cap="none" normalizeH="0" baseline="0" dirty="0" smtClean="0">
                <a:ln>
                  <a:noFill/>
                </a:ln>
                <a:solidFill>
                  <a:schemeClr val="tx1"/>
                </a:solidFill>
                <a:effectLst/>
                <a:latin typeface="Times New Roman" pitchFamily="18" charset="0"/>
                <a:cs typeface="Times New Roman" pitchFamily="18" charset="0"/>
              </a:rPr>
              <a:t>Slide 1 – Why Deep Learning?</a:t>
            </a:r>
          </a:p>
          <a:p>
            <a:pPr lvl="3" eaLnBrk="0" fontAlgn="base" hangingPunct="0">
              <a:spcBef>
                <a:spcPct val="0"/>
              </a:spcBef>
              <a:spcAft>
                <a:spcPct val="0"/>
              </a:spcAft>
            </a:pPr>
            <a:r>
              <a:rPr kumimoji="0" lang="en-US" sz="2400" b="1" i="0" u="none" strike="noStrike" cap="none" normalizeH="0" baseline="0" dirty="0" smtClean="0">
                <a:ln>
                  <a:noFill/>
                </a:ln>
                <a:solidFill>
                  <a:schemeClr val="tx1"/>
                </a:solidFill>
                <a:effectLst/>
                <a:latin typeface="Times New Roman" pitchFamily="18" charset="0"/>
                <a:cs typeface="Times New Roman" pitchFamily="18" charset="0"/>
              </a:rPr>
              <a:t>Traditional Programming</a:t>
            </a:r>
          </a:p>
          <a:p>
            <a:pPr lvl="3" eaLnBrk="0" fontAlgn="base" hangingPunct="0">
              <a:spcBef>
                <a:spcPct val="0"/>
              </a:spcBef>
              <a:spcAft>
                <a:spcPct val="0"/>
              </a:spcAf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Rules + Data </a:t>
            </a:r>
          </a:p>
          <a:p>
            <a:pPr lvl="3" eaLnBrk="0" fontAlgn="base" hangingPunct="0">
              <a:spcBef>
                <a:spcPct val="0"/>
              </a:spcBef>
              <a:spcAft>
                <a:spcPct val="0"/>
              </a:spcAf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 </a:t>
            </a:r>
          </a:p>
          <a:p>
            <a:pPr lvl="3" eaLnBrk="0" fontAlgn="base" hangingPunct="0">
              <a:spcBef>
                <a:spcPct val="0"/>
              </a:spcBef>
              <a:spcAft>
                <a:spcPct val="0"/>
              </a:spcAf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Output</a:t>
            </a:r>
          </a:p>
          <a:p>
            <a:pPr lvl="3" eaLnBrk="0" fontAlgn="base" hangingPunct="0">
              <a:spcBef>
                <a:spcPct val="0"/>
              </a:spcBef>
              <a:spcAft>
                <a:spcPct val="0"/>
              </a:spcAft>
            </a:pPr>
            <a:endParaRPr kumimoji="0" lang="en-US" sz="2400" b="0" i="0" u="none" strike="noStrike" cap="none" normalizeH="0" baseline="0" dirty="0" smtClean="0">
              <a:ln>
                <a:noFill/>
              </a:ln>
              <a:solidFill>
                <a:schemeClr val="tx1"/>
              </a:solidFill>
              <a:effectLst/>
              <a:latin typeface="Times New Roman" pitchFamily="18" charset="0"/>
              <a:cs typeface="Times New Roman" pitchFamily="18" charset="0"/>
            </a:endParaRPr>
          </a:p>
          <a:p>
            <a:pPr lvl="3" eaLnBrk="0" fontAlgn="base" hangingPunct="0">
              <a:spcBef>
                <a:spcPct val="0"/>
              </a:spcBef>
              <a:spcAft>
                <a:spcPct val="0"/>
              </a:spcAft>
            </a:pPr>
            <a:r>
              <a:rPr kumimoji="0" lang="en-US" sz="2400" b="1" i="0" u="none" strike="noStrike" cap="none" normalizeH="0" baseline="0" dirty="0" smtClean="0">
                <a:ln>
                  <a:noFill/>
                </a:ln>
                <a:solidFill>
                  <a:schemeClr val="tx1"/>
                </a:solidFill>
                <a:effectLst/>
                <a:latin typeface="Times New Roman" pitchFamily="18" charset="0"/>
                <a:cs typeface="Times New Roman" pitchFamily="18" charset="0"/>
              </a:rPr>
              <a:t>Machine Learning</a:t>
            </a:r>
          </a:p>
          <a:p>
            <a:pPr lvl="3" eaLnBrk="0" fontAlgn="base" hangingPunct="0">
              <a:spcBef>
                <a:spcPct val="0"/>
              </a:spcBef>
              <a:spcAft>
                <a:spcPct val="0"/>
              </a:spcAf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Data + Labels</a:t>
            </a:r>
          </a:p>
          <a:p>
            <a:pPr lvl="3" eaLnBrk="0" fontAlgn="base" hangingPunct="0">
              <a:spcBef>
                <a:spcPct val="0"/>
              </a:spcBef>
              <a:spcAft>
                <a:spcPct val="0"/>
              </a:spcAf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 ↓ </a:t>
            </a:r>
          </a:p>
          <a:p>
            <a:pPr lvl="3" eaLnBrk="0" fontAlgn="base" hangingPunct="0">
              <a:spcBef>
                <a:spcPct val="0"/>
              </a:spcBef>
              <a:spcAft>
                <a:spcPct val="0"/>
              </a:spcAf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Learn Rules</a:t>
            </a:r>
          </a:p>
          <a:p>
            <a:pPr lvl="3" eaLnBrk="0" fontAlgn="base" hangingPunct="0">
              <a:spcBef>
                <a:spcPct val="0"/>
              </a:spcBef>
              <a:spcAft>
                <a:spcPct val="0"/>
              </a:spcAft>
            </a:pPr>
            <a:endParaRPr kumimoji="0" lang="en-US" sz="2400" b="0" i="0" u="none" strike="noStrike" cap="none" normalizeH="0" baseline="0" dirty="0" smtClean="0">
              <a:ln>
                <a:noFill/>
              </a:ln>
              <a:solidFill>
                <a:schemeClr val="tx1"/>
              </a:solidFill>
              <a:effectLst/>
              <a:latin typeface="Times New Roman" pitchFamily="18" charset="0"/>
              <a:cs typeface="Times New Roman" pitchFamily="18" charset="0"/>
            </a:endParaRPr>
          </a:p>
          <a:p>
            <a:pPr lvl="3" eaLnBrk="0" fontAlgn="base" hangingPunct="0">
              <a:spcBef>
                <a:spcPct val="0"/>
              </a:spcBef>
              <a:spcAft>
                <a:spcPct val="0"/>
              </a:spcAft>
            </a:pPr>
            <a:r>
              <a:rPr kumimoji="0" lang="en-US" sz="2400" b="1" i="0" u="none" strike="noStrike" cap="none" normalizeH="0" baseline="0" dirty="0" smtClean="0">
                <a:ln>
                  <a:noFill/>
                </a:ln>
                <a:solidFill>
                  <a:schemeClr val="tx1"/>
                </a:solidFill>
                <a:effectLst/>
                <a:latin typeface="Times New Roman" pitchFamily="18" charset="0"/>
                <a:cs typeface="Times New Roman" pitchFamily="18" charset="0"/>
              </a:rPr>
              <a:t>Deep Learning</a:t>
            </a:r>
          </a:p>
          <a:p>
            <a:pPr lvl="3" eaLnBrk="0" fontAlgn="base" hangingPunct="0">
              <a:spcBef>
                <a:spcPct val="0"/>
              </a:spcBef>
              <a:spcAft>
                <a:spcPct val="0"/>
              </a:spcAf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Raw Data </a:t>
            </a:r>
          </a:p>
          <a:p>
            <a:pPr lvl="3" eaLnBrk="0" fontAlgn="base" hangingPunct="0">
              <a:spcBef>
                <a:spcPct val="0"/>
              </a:spcBef>
              <a:spcAft>
                <a:spcPct val="0"/>
              </a:spcAf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 </a:t>
            </a:r>
          </a:p>
          <a:p>
            <a:pPr lvl="3" eaLnBrk="0" fontAlgn="base" hangingPunct="0">
              <a:spcBef>
                <a:spcPct val="0"/>
              </a:spcBef>
              <a:spcAft>
                <a:spcPct val="0"/>
              </a:spcAf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Automatically Learns Features </a:t>
            </a:r>
          </a:p>
          <a:p>
            <a:pPr lvl="3" eaLnBrk="0" fontAlgn="base" hangingPunct="0">
              <a:spcBef>
                <a:spcPct val="0"/>
              </a:spcBef>
              <a:spcAft>
                <a:spcPct val="0"/>
              </a:spcAf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 </a:t>
            </a:r>
          </a:p>
          <a:p>
            <a:pPr lvl="3" eaLnBrk="0" fontAlgn="base" hangingPunct="0">
              <a:spcBef>
                <a:spcPct val="0"/>
              </a:spcBef>
              <a:spcAft>
                <a:spcPct val="0"/>
              </a:spcAf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Prediction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933688" cy="5105400"/>
          </a:xfrm>
        </p:spPr>
        <p:txBody>
          <a:bodyPr>
            <a:normAutofit fontScale="90000"/>
          </a:bodyPr>
          <a:lstStyle/>
          <a:p>
            <a:pPr lvl="0" eaLnBrk="0" fontAlgn="base" hangingPunct="0">
              <a:spcAft>
                <a:spcPct val="0"/>
              </a:spcAft>
            </a:pPr>
            <a:r>
              <a:rPr lang="en-US" sz="2800" b="1" dirty="0" smtClean="0">
                <a:solidFill>
                  <a:schemeClr val="tx1"/>
                </a:solidFill>
                <a:effectLst/>
                <a:latin typeface="Times New Roman" pitchFamily="18" charset="0"/>
                <a:cs typeface="Times New Roman" pitchFamily="18" charset="0"/>
              </a:rPr>
              <a:t>              </a:t>
            </a:r>
            <a:br>
              <a:rPr lang="en-US" sz="2800" b="1" dirty="0" smtClean="0">
                <a:solidFill>
                  <a:schemeClr val="tx1"/>
                </a:solidFill>
                <a:effectLst/>
                <a:latin typeface="Times New Roman" pitchFamily="18" charset="0"/>
                <a:cs typeface="Times New Roman" pitchFamily="18" charset="0"/>
              </a:rPr>
            </a:br>
            <a:r>
              <a:rPr lang="en-US" sz="2800" b="1" dirty="0" smtClean="0">
                <a:solidFill>
                  <a:schemeClr val="tx1"/>
                </a:solidFill>
                <a:effectLst/>
                <a:latin typeface="Times New Roman" pitchFamily="18" charset="0"/>
                <a:cs typeface="Times New Roman" pitchFamily="18" charset="0"/>
              </a:rPr>
              <a:t/>
            </a:r>
            <a:br>
              <a:rPr lang="en-US" sz="2800" b="1" dirty="0" smtClean="0">
                <a:solidFill>
                  <a:schemeClr val="tx1"/>
                </a:solidFill>
                <a:effectLst/>
                <a:latin typeface="Times New Roman" pitchFamily="18" charset="0"/>
                <a:cs typeface="Times New Roman" pitchFamily="18" charset="0"/>
              </a:rPr>
            </a:br>
            <a:r>
              <a:rPr lang="en-US" sz="2800" b="1" dirty="0" smtClean="0">
                <a:solidFill>
                  <a:schemeClr val="tx1"/>
                </a:solidFill>
                <a:effectLst/>
                <a:latin typeface="Times New Roman" pitchFamily="18" charset="0"/>
                <a:cs typeface="Times New Roman" pitchFamily="18" charset="0"/>
              </a:rPr>
              <a:t>              </a:t>
            </a:r>
            <a:r>
              <a:rPr lang="en-US" sz="3100" b="1" u="sng" dirty="0" smtClean="0">
                <a:solidFill>
                  <a:schemeClr val="tx1"/>
                </a:solidFill>
                <a:effectLst/>
                <a:latin typeface="Times New Roman" pitchFamily="18" charset="0"/>
                <a:cs typeface="Times New Roman" pitchFamily="18" charset="0"/>
              </a:rPr>
              <a:t>Why Deep Learning?</a:t>
            </a:r>
            <a:r>
              <a:rPr lang="en-US" sz="2800" b="1" u="sng" dirty="0" smtClean="0">
                <a:solidFill>
                  <a:schemeClr val="tx1"/>
                </a:solidFill>
                <a:effectLst/>
                <a:latin typeface="Times New Roman" pitchFamily="18" charset="0"/>
                <a:cs typeface="Times New Roman" pitchFamily="18" charset="0"/>
              </a:rPr>
              <a:t/>
            </a:r>
            <a:br>
              <a:rPr lang="en-US" sz="2800" b="1" u="sng" dirty="0" smtClean="0">
                <a:solidFill>
                  <a:schemeClr val="tx1"/>
                </a:solidFill>
                <a:effectLst/>
                <a:latin typeface="Times New Roman" pitchFamily="18" charset="0"/>
                <a:cs typeface="Times New Roman" pitchFamily="18" charset="0"/>
              </a:rPr>
            </a:br>
            <a:r>
              <a:rPr lang="en-US" sz="2700" b="1" dirty="0" smtClean="0">
                <a:solidFill>
                  <a:schemeClr val="tx1"/>
                </a:solidFill>
                <a:effectLst/>
                <a:latin typeface="Times New Roman" pitchFamily="18" charset="0"/>
                <a:cs typeface="Times New Roman" pitchFamily="18" charset="0"/>
              </a:rPr>
              <a:t/>
            </a:r>
            <a:br>
              <a:rPr lang="en-US" sz="2700" b="1" dirty="0" smtClean="0">
                <a:solidFill>
                  <a:schemeClr val="tx1"/>
                </a:solidFill>
                <a:effectLst/>
                <a:latin typeface="Times New Roman" pitchFamily="18" charset="0"/>
                <a:cs typeface="Times New Roman" pitchFamily="18" charset="0"/>
              </a:rPr>
            </a:br>
            <a:r>
              <a:rPr lang="en-US" sz="2700" b="1" dirty="0" smtClean="0">
                <a:solidFill>
                  <a:schemeClr val="tx1"/>
                </a:solidFill>
                <a:effectLst/>
                <a:latin typeface="Times New Roman" pitchFamily="18" charset="0"/>
                <a:cs typeface="Times New Roman" pitchFamily="18" charset="0"/>
              </a:rPr>
              <a:t>              </a:t>
            </a:r>
            <a:r>
              <a:rPr lang="en-US" sz="2700" dirty="0" smtClean="0">
                <a:solidFill>
                  <a:schemeClr val="tx1"/>
                </a:solidFill>
                <a:effectLst/>
                <a:latin typeface="Times New Roman" pitchFamily="18" charset="0"/>
                <a:cs typeface="Times New Roman" pitchFamily="18" charset="0"/>
              </a:rPr>
              <a:t>Learns directly from large datasets </a:t>
            </a:r>
            <a:br>
              <a:rPr lang="en-US" sz="2700" dirty="0" smtClean="0">
                <a:solidFill>
                  <a:schemeClr val="tx1"/>
                </a:solidFill>
                <a:effectLst/>
                <a:latin typeface="Times New Roman" pitchFamily="18" charset="0"/>
                <a:cs typeface="Times New Roman" pitchFamily="18" charset="0"/>
              </a:rPr>
            </a:br>
            <a:r>
              <a:rPr lang="en-US" sz="2700" dirty="0" smtClean="0">
                <a:solidFill>
                  <a:schemeClr val="tx1"/>
                </a:solidFill>
                <a:effectLst/>
                <a:latin typeface="Times New Roman" pitchFamily="18" charset="0"/>
                <a:cs typeface="Times New Roman" pitchFamily="18" charset="0"/>
              </a:rPr>
              <a:t>	  No manual feature engineering </a:t>
            </a:r>
            <a:br>
              <a:rPr lang="en-US" sz="2700" dirty="0" smtClean="0">
                <a:solidFill>
                  <a:schemeClr val="tx1"/>
                </a:solidFill>
                <a:effectLst/>
                <a:latin typeface="Times New Roman" pitchFamily="18" charset="0"/>
                <a:cs typeface="Times New Roman" pitchFamily="18" charset="0"/>
              </a:rPr>
            </a:br>
            <a:r>
              <a:rPr lang="en-US" sz="2700" dirty="0" smtClean="0">
                <a:solidFill>
                  <a:schemeClr val="tx1"/>
                </a:solidFill>
                <a:effectLst/>
                <a:latin typeface="Times New Roman" pitchFamily="18" charset="0"/>
                <a:cs typeface="Times New Roman" pitchFamily="18" charset="0"/>
              </a:rPr>
              <a:t>              Excels at images, speech, text, and video </a:t>
            </a:r>
            <a:r>
              <a:rPr lang="en-US" sz="2400" dirty="0" smtClean="0">
                <a:solidFill>
                  <a:schemeClr val="tx1"/>
                </a:solidFill>
                <a:effectLst/>
                <a:latin typeface="Times New Roman" pitchFamily="18" charset="0"/>
                <a:cs typeface="Times New Roman" pitchFamily="18" charset="0"/>
              </a:rPr>
              <a:t/>
            </a:r>
            <a:br>
              <a:rPr lang="en-US" sz="2400" dirty="0" smtClean="0">
                <a:solidFill>
                  <a:schemeClr val="tx1"/>
                </a:solidFill>
                <a:effectLst/>
                <a:latin typeface="Times New Roman" pitchFamily="18" charset="0"/>
                <a:cs typeface="Times New Roman" pitchFamily="18" charset="0"/>
              </a:rPr>
            </a:br>
            <a:r>
              <a:rPr lang="en-US" sz="2400" dirty="0" smtClean="0">
                <a:solidFill>
                  <a:schemeClr val="tx1"/>
                </a:solidFill>
                <a:effectLst/>
                <a:latin typeface="Times New Roman" pitchFamily="18" charset="0"/>
                <a:cs typeface="Times New Roman" pitchFamily="18" charset="0"/>
              </a:rPr>
              <a:t>               Foundation of modern AI systems </a:t>
            </a:r>
            <a:br>
              <a:rPr lang="en-US" sz="2400" dirty="0" smtClean="0">
                <a:solidFill>
                  <a:schemeClr val="tx1"/>
                </a:solidFill>
                <a:effectLst/>
                <a:latin typeface="Times New Roman" pitchFamily="18" charset="0"/>
                <a:cs typeface="Times New Roman" pitchFamily="18" charset="0"/>
              </a:rPr>
            </a:br>
            <a:r>
              <a:rPr lang="en-US" sz="2400" dirty="0" smtClean="0">
                <a:solidFill>
                  <a:schemeClr val="tx1"/>
                </a:solidFill>
                <a:effectLst/>
                <a:latin typeface="Times New Roman" pitchFamily="18" charset="0"/>
                <a:cs typeface="Times New Roman" pitchFamily="18" charset="0"/>
              </a:rPr>
              <a:t>               </a:t>
            </a:r>
            <a:r>
              <a:rPr lang="en-US" sz="2700" dirty="0" smtClean="0">
                <a:solidFill>
                  <a:schemeClr val="tx1"/>
                </a:solidFill>
                <a:effectLst/>
                <a:latin typeface="Times New Roman" pitchFamily="18" charset="0"/>
                <a:cs typeface="Times New Roman" pitchFamily="18" charset="0"/>
              </a:rPr>
              <a:t/>
            </a:r>
            <a:br>
              <a:rPr lang="en-US" sz="2700" dirty="0" smtClean="0">
                <a:solidFill>
                  <a:schemeClr val="tx1"/>
                </a:solidFill>
                <a:effectLst/>
                <a:latin typeface="Times New Roman" pitchFamily="18" charset="0"/>
                <a:cs typeface="Times New Roman" pitchFamily="18" charset="0"/>
              </a:rPr>
            </a:br>
            <a:r>
              <a:rPr lang="en-US" sz="2700" dirty="0" smtClean="0">
                <a:solidFill>
                  <a:schemeClr val="tx1"/>
                </a:solidFill>
                <a:effectLst/>
                <a:latin typeface="Times New Roman" pitchFamily="18" charset="0"/>
                <a:cs typeface="Times New Roman" pitchFamily="18" charset="0"/>
              </a:rPr>
              <a:t>               Examples:</a:t>
            </a:r>
            <a:br>
              <a:rPr lang="en-US" sz="2700" dirty="0" smtClean="0">
                <a:solidFill>
                  <a:schemeClr val="tx1"/>
                </a:solidFill>
                <a:effectLst/>
                <a:latin typeface="Times New Roman" pitchFamily="18" charset="0"/>
                <a:cs typeface="Times New Roman" pitchFamily="18" charset="0"/>
              </a:rPr>
            </a:br>
            <a:r>
              <a:rPr lang="en-US" sz="2700" dirty="0" smtClean="0">
                <a:solidFill>
                  <a:schemeClr val="tx1"/>
                </a:solidFill>
                <a:effectLst/>
                <a:latin typeface="Times New Roman" pitchFamily="18" charset="0"/>
                <a:cs typeface="Times New Roman" pitchFamily="18" charset="0"/>
              </a:rPr>
              <a:t>                      ChatGPT </a:t>
            </a:r>
            <a:br>
              <a:rPr lang="en-US" sz="2700" dirty="0" smtClean="0">
                <a:solidFill>
                  <a:schemeClr val="tx1"/>
                </a:solidFill>
                <a:effectLst/>
                <a:latin typeface="Times New Roman" pitchFamily="18" charset="0"/>
                <a:cs typeface="Times New Roman" pitchFamily="18" charset="0"/>
              </a:rPr>
            </a:br>
            <a:r>
              <a:rPr lang="en-US" sz="2700" dirty="0" smtClean="0">
                <a:solidFill>
                  <a:schemeClr val="tx1"/>
                </a:solidFill>
                <a:effectLst/>
                <a:latin typeface="Times New Roman" pitchFamily="18" charset="0"/>
                <a:cs typeface="Times New Roman" pitchFamily="18" charset="0"/>
              </a:rPr>
              <a:t>                      Google Lens </a:t>
            </a:r>
            <a:br>
              <a:rPr lang="en-US" sz="2700" dirty="0" smtClean="0">
                <a:solidFill>
                  <a:schemeClr val="tx1"/>
                </a:solidFill>
                <a:effectLst/>
                <a:latin typeface="Times New Roman" pitchFamily="18" charset="0"/>
                <a:cs typeface="Times New Roman" pitchFamily="18" charset="0"/>
              </a:rPr>
            </a:br>
            <a:r>
              <a:rPr lang="en-US" sz="2700" dirty="0" smtClean="0">
                <a:solidFill>
                  <a:schemeClr val="tx1"/>
                </a:solidFill>
                <a:effectLst/>
                <a:latin typeface="Times New Roman" pitchFamily="18" charset="0"/>
                <a:cs typeface="Times New Roman" pitchFamily="18" charset="0"/>
              </a:rPr>
              <a:t>                      Face Unlock </a:t>
            </a:r>
            <a:br>
              <a:rPr lang="en-US" sz="2700" dirty="0" smtClean="0">
                <a:solidFill>
                  <a:schemeClr val="tx1"/>
                </a:solidFill>
                <a:effectLst/>
                <a:latin typeface="Times New Roman" pitchFamily="18" charset="0"/>
                <a:cs typeface="Times New Roman" pitchFamily="18" charset="0"/>
              </a:rPr>
            </a:br>
            <a:r>
              <a:rPr lang="en-US" sz="2700" dirty="0" smtClean="0">
                <a:solidFill>
                  <a:schemeClr val="tx1"/>
                </a:solidFill>
                <a:effectLst/>
                <a:latin typeface="Times New Roman" pitchFamily="18" charset="0"/>
                <a:cs typeface="Times New Roman" pitchFamily="18" charset="0"/>
              </a:rPr>
              <a:t>                      Tesla Autopilot </a:t>
            </a:r>
            <a:r>
              <a:rPr lang="en-US" sz="2400" dirty="0" smtClean="0">
                <a:solidFill>
                  <a:schemeClr val="tx1"/>
                </a:solidFill>
                <a:effectLst/>
                <a:latin typeface="Times New Roman" pitchFamily="18" charset="0"/>
                <a:cs typeface="Times New Roman" pitchFamily="18" charset="0"/>
              </a:rPr>
              <a:t/>
            </a:r>
            <a:br>
              <a:rPr lang="en-US" sz="2400" dirty="0" smtClean="0">
                <a:solidFill>
                  <a:schemeClr val="tx1"/>
                </a:solidFill>
                <a:effectLst/>
                <a:latin typeface="Times New Roman" pitchFamily="18" charset="0"/>
                <a:cs typeface="Times New Roman" pitchFamily="18" charset="0"/>
              </a:rPr>
            </a:br>
            <a:r>
              <a:rPr lang="en-US" sz="2800" dirty="0" smtClean="0">
                <a:solidFill>
                  <a:schemeClr val="tx1"/>
                </a:solidFill>
                <a:effectLst/>
                <a:latin typeface="Times New Roman" pitchFamily="18" charset="0"/>
                <a:cs typeface="Times New Roman" pitchFamily="18" charset="0"/>
              </a:rPr>
              <a:t/>
            </a:r>
            <a:br>
              <a:rPr lang="en-US" sz="2800" dirty="0" smtClean="0">
                <a:solidFill>
                  <a:schemeClr val="tx1"/>
                </a:solidFill>
                <a:effectLst/>
                <a:latin typeface="Times New Roman" pitchFamily="18" charset="0"/>
                <a:cs typeface="Times New Roman" pitchFamily="18" charset="0"/>
              </a:rPr>
            </a:br>
            <a:endParaRPr lang="en-US" sz="28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1"/>
          <p:cNvSpPr>
            <a:spLocks noChangeArrowheads="1"/>
          </p:cNvSpPr>
          <p:nvPr/>
        </p:nvSpPr>
        <p:spPr bwMode="auto">
          <a:xfrm>
            <a:off x="0" y="295110"/>
            <a:ext cx="9144000" cy="575542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2" fontAlgn="base">
              <a:spcBef>
                <a:spcPct val="0"/>
              </a:spcBef>
              <a:spcAft>
                <a:spcPct val="0"/>
              </a:spcAft>
            </a:pPr>
            <a:r>
              <a:rPr kumimoji="0" lang="en-US" sz="2800" b="1" i="0" u="sng" strike="noStrike" cap="none" normalizeH="0" baseline="0" dirty="0" smtClean="0">
                <a:ln>
                  <a:noFill/>
                </a:ln>
                <a:solidFill>
                  <a:schemeClr val="tx1"/>
                </a:solidFill>
                <a:effectLst/>
                <a:latin typeface="Times New Roman" pitchFamily="18" charset="0"/>
                <a:cs typeface="Times New Roman" pitchFamily="18" charset="0"/>
              </a:rPr>
              <a:t>Slide 2 – Evolution of AI</a:t>
            </a:r>
          </a:p>
          <a:p>
            <a:pPr lvl="2" fontAlgn="base">
              <a:spcBef>
                <a:spcPct val="0"/>
              </a:spcBef>
              <a:spcAft>
                <a:spcPct val="0"/>
              </a:spcAft>
            </a:pPr>
            <a:endParaRPr kumimoji="0" lang="en-US" sz="2800" b="1" i="0" u="sng" strike="noStrike" cap="none" normalizeH="0" baseline="0" dirty="0" smtClean="0">
              <a:ln>
                <a:noFill/>
              </a:ln>
              <a:solidFill>
                <a:schemeClr val="tx1"/>
              </a:solidFill>
              <a:effectLst/>
              <a:latin typeface="Times New Roman" pitchFamily="18" charset="0"/>
              <a:cs typeface="Times New Roman" pitchFamily="18" charset="0"/>
            </a:endParaRPr>
          </a:p>
          <a:p>
            <a:pPr lvl="2" eaLnBrk="0" fontAlgn="base" hangingPunct="0">
              <a:spcBef>
                <a:spcPct val="0"/>
              </a:spcBef>
              <a:spcAft>
                <a:spcPct val="0"/>
              </a:spcAf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Artificial Intelligence </a:t>
            </a:r>
          </a:p>
          <a:p>
            <a:pPr lvl="2" eaLnBrk="0" fontAlgn="base" hangingPunct="0">
              <a:spcBef>
                <a:spcPct val="0"/>
              </a:spcBef>
              <a:spcAft>
                <a:spcPct val="0"/>
              </a:spcAf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 </a:t>
            </a:r>
          </a:p>
          <a:p>
            <a:pPr lvl="2" eaLnBrk="0" fontAlgn="base" hangingPunct="0">
              <a:spcBef>
                <a:spcPct val="0"/>
              </a:spcBef>
              <a:spcAft>
                <a:spcPct val="0"/>
              </a:spcAf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Machine Learning </a:t>
            </a:r>
          </a:p>
          <a:p>
            <a:pPr lvl="2" eaLnBrk="0" fontAlgn="base" hangingPunct="0">
              <a:spcBef>
                <a:spcPct val="0"/>
              </a:spcBef>
              <a:spcAft>
                <a:spcPct val="0"/>
              </a:spcAf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 </a:t>
            </a:r>
          </a:p>
          <a:p>
            <a:pPr lvl="2" eaLnBrk="0" fontAlgn="base" hangingPunct="0">
              <a:spcBef>
                <a:spcPct val="0"/>
              </a:spcBef>
              <a:spcAft>
                <a:spcPct val="0"/>
              </a:spcAf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Deep Learning </a:t>
            </a:r>
          </a:p>
          <a:p>
            <a:pPr lvl="2" eaLnBrk="0" fontAlgn="base" hangingPunct="0">
              <a:spcBef>
                <a:spcPct val="0"/>
              </a:spcBef>
              <a:spcAft>
                <a:spcPct val="0"/>
              </a:spcAf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 </a:t>
            </a:r>
          </a:p>
          <a:p>
            <a:pPr lvl="2" eaLnBrk="0" fontAlgn="base" hangingPunct="0">
              <a:spcBef>
                <a:spcPct val="0"/>
              </a:spcBef>
              <a:spcAft>
                <a:spcPct val="0"/>
              </a:spcAf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Transformers</a:t>
            </a:r>
          </a:p>
          <a:p>
            <a:pPr lvl="2" eaLnBrk="0" fontAlgn="base" hangingPunct="0">
              <a:spcBef>
                <a:spcPct val="0"/>
              </a:spcBef>
              <a:spcAft>
                <a:spcPct val="0"/>
              </a:spcAf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 │ </a:t>
            </a:r>
          </a:p>
          <a:p>
            <a:pPr lvl="2" eaLnBrk="0" fontAlgn="base" hangingPunct="0">
              <a:spcBef>
                <a:spcPct val="0"/>
              </a:spcBef>
              <a:spcAft>
                <a:spcPct val="0"/>
              </a:spcAf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Large Language Models </a:t>
            </a:r>
          </a:p>
          <a:p>
            <a:pPr lvl="2" eaLnBrk="0" fontAlgn="base" hangingPunct="0">
              <a:spcBef>
                <a:spcPct val="0"/>
              </a:spcBef>
              <a:spcAft>
                <a:spcPct val="0"/>
              </a:spcAf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 </a:t>
            </a:r>
          </a:p>
          <a:p>
            <a:pPr lvl="2" eaLnBrk="0" fontAlgn="base" hangingPunct="0">
              <a:spcBef>
                <a:spcPct val="0"/>
              </a:spcBef>
              <a:spcAft>
                <a:spcPct val="0"/>
              </a:spcAf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ChatGPT</a:t>
            </a:r>
          </a:p>
          <a:p>
            <a:pPr lvl="2" eaLnBrk="0" fontAlgn="base" hangingPunct="0">
              <a:spcBef>
                <a:spcPct val="0"/>
              </a:spcBef>
              <a:spcAft>
                <a:spcPct val="0"/>
              </a:spcAft>
            </a:pPr>
            <a:endParaRPr kumimoji="0" lang="en-US" sz="2400" b="0" i="0" u="none" strike="noStrike" cap="none" normalizeH="0" baseline="0" dirty="0" smtClean="0">
              <a:ln>
                <a:noFill/>
              </a:ln>
              <a:solidFill>
                <a:schemeClr val="tx1"/>
              </a:solidFill>
              <a:effectLst/>
              <a:latin typeface="Times New Roman" pitchFamily="18" charset="0"/>
              <a:cs typeface="Times New Roman" pitchFamily="18" charset="0"/>
            </a:endParaRPr>
          </a:p>
          <a:p>
            <a:pPr lvl="2" eaLnBrk="0" fontAlgn="base" hangingPunct="0">
              <a:spcBef>
                <a:spcPct val="0"/>
              </a:spcBef>
              <a:spcAft>
                <a:spcPct val="0"/>
              </a:spcAft>
            </a:pPr>
            <a:r>
              <a:rPr lang="en-US" sz="2400" b="1" dirty="0" smtClean="0">
                <a:latin typeface="Times New Roman" pitchFamily="18" charset="0"/>
                <a:cs typeface="Times New Roman" pitchFamily="18" charset="0"/>
              </a:rPr>
              <a:t>E</a:t>
            </a:r>
            <a:r>
              <a:rPr kumimoji="0" lang="en-US" sz="2400" b="1" i="0" u="none" strike="noStrike" cap="none" normalizeH="0" baseline="0" dirty="0" smtClean="0">
                <a:ln>
                  <a:noFill/>
                </a:ln>
                <a:solidFill>
                  <a:schemeClr val="tx1"/>
                </a:solidFill>
                <a:effectLst/>
                <a:latin typeface="Times New Roman" pitchFamily="18" charset="0"/>
                <a:cs typeface="Times New Roman" pitchFamily="18" charset="0"/>
              </a:rPr>
              <a:t>very generation solved limitations of the previous one.</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90600" y="0"/>
            <a:ext cx="8153400" cy="5693866"/>
          </a:xfrm>
          <a:prstGeom prst="rect">
            <a:avLst/>
          </a:prstGeom>
        </p:spPr>
        <p:txBody>
          <a:bodyPr wrap="square">
            <a:spAutoFit/>
          </a:bodyPr>
          <a:lstStyle/>
          <a:p>
            <a:r>
              <a:rPr lang="en-US" sz="2800" b="1" u="sng" dirty="0" smtClean="0">
                <a:latin typeface="Times New Roman" pitchFamily="18" charset="0"/>
                <a:cs typeface="Times New Roman" pitchFamily="18" charset="0"/>
              </a:rPr>
              <a:t>Slide 3 – What is Deep Learning?</a:t>
            </a:r>
          </a:p>
          <a:p>
            <a:endParaRPr lang="en-US" sz="2400" b="1" u="sng" dirty="0" smtClean="0">
              <a:latin typeface="Times New Roman" pitchFamily="18" charset="0"/>
              <a:cs typeface="Times New Roman" pitchFamily="18" charset="0"/>
            </a:endParaRPr>
          </a:p>
          <a:p>
            <a:r>
              <a:rPr lang="en-US" sz="2400" b="1" u="sng" dirty="0" smtClean="0">
                <a:latin typeface="Times New Roman" pitchFamily="18" charset="0"/>
                <a:cs typeface="Times New Roman" pitchFamily="18" charset="0"/>
              </a:rPr>
              <a:t>Definition</a:t>
            </a:r>
          </a:p>
          <a:p>
            <a:endParaRPr lang="en-US" sz="2400" b="1" u="sng"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Deep Learning is a subset of Machine Learning that uses Artificial Neural Networks with multiple hidden layers to automatically learn hierarchical patterns from data.</a:t>
            </a:r>
          </a:p>
          <a:p>
            <a:endParaRPr lang="en-IN" sz="2400" dirty="0" smtClean="0">
              <a:latin typeface="Times New Roman" pitchFamily="18" charset="0"/>
              <a:cs typeface="Times New Roman" pitchFamily="18" charset="0"/>
            </a:endParaRPr>
          </a:p>
          <a:p>
            <a:endParaRPr lang="en-US" sz="2400" dirty="0" smtClean="0">
              <a:latin typeface="Times New Roman" pitchFamily="18" charset="0"/>
              <a:cs typeface="Times New Roman" pitchFamily="18" charset="0"/>
            </a:endParaRPr>
          </a:p>
          <a:p>
            <a:r>
              <a:rPr lang="en-US" sz="2400" b="1" dirty="0" smtClean="0">
                <a:latin typeface="Times New Roman" pitchFamily="18" charset="0"/>
                <a:cs typeface="Times New Roman" pitchFamily="18" charset="0"/>
              </a:rPr>
              <a:t>Characteristics</a:t>
            </a:r>
          </a:p>
          <a:p>
            <a:pPr>
              <a:buFont typeface="Arial" pitchFamily="34" charset="0"/>
              <a:buChar char="•"/>
            </a:pPr>
            <a:r>
              <a:rPr lang="en-US" sz="2400" dirty="0" smtClean="0">
                <a:latin typeface="Times New Roman" pitchFamily="18" charset="0"/>
                <a:cs typeface="Times New Roman" pitchFamily="18" charset="0"/>
              </a:rPr>
              <a:t>Data-driven </a:t>
            </a:r>
          </a:p>
          <a:p>
            <a:pPr>
              <a:buFont typeface="Arial" pitchFamily="34" charset="0"/>
              <a:buChar char="•"/>
            </a:pPr>
            <a:r>
              <a:rPr lang="en-US" sz="2400" dirty="0" smtClean="0">
                <a:latin typeface="Times New Roman" pitchFamily="18" charset="0"/>
                <a:cs typeface="Times New Roman" pitchFamily="18" charset="0"/>
              </a:rPr>
              <a:t>Multiple hidden layers </a:t>
            </a:r>
          </a:p>
          <a:p>
            <a:pPr>
              <a:buFont typeface="Arial" pitchFamily="34" charset="0"/>
              <a:buChar char="•"/>
            </a:pPr>
            <a:r>
              <a:rPr lang="en-US" sz="2400" dirty="0" smtClean="0">
                <a:latin typeface="Times New Roman" pitchFamily="18" charset="0"/>
                <a:cs typeface="Times New Roman" pitchFamily="18" charset="0"/>
              </a:rPr>
              <a:t>Learns features automatically </a:t>
            </a:r>
          </a:p>
          <a:p>
            <a:pPr>
              <a:buFont typeface="Arial" pitchFamily="34" charset="0"/>
              <a:buChar char="•"/>
            </a:pPr>
            <a:r>
              <a:rPr lang="en-US" sz="2400" dirty="0" smtClean="0">
                <a:latin typeface="Times New Roman" pitchFamily="18" charset="0"/>
                <a:cs typeface="Times New Roman" pitchFamily="18" charset="0"/>
              </a:rPr>
              <a:t>Requires GPUs </a:t>
            </a:r>
          </a:p>
          <a:p>
            <a:pPr>
              <a:buFont typeface="Arial" pitchFamily="34" charset="0"/>
              <a:buChar char="•"/>
            </a:pPr>
            <a:r>
              <a:rPr lang="en-US" sz="2400" dirty="0" smtClean="0">
                <a:latin typeface="Times New Roman" pitchFamily="18" charset="0"/>
                <a:cs typeface="Times New Roman" pitchFamily="18" charset="0"/>
              </a:rPr>
              <a:t>Handles unstructured data</a:t>
            </a:r>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0"/>
            <a:ext cx="8153400" cy="6858000"/>
          </a:xfrm>
        </p:spPr>
        <p:txBody>
          <a:bodyPr>
            <a:normAutofit/>
          </a:bodyPr>
          <a:lstStyle/>
          <a:p>
            <a:pPr>
              <a:buNone/>
            </a:pPr>
            <a:r>
              <a:rPr lang="en-US" sz="2800" b="1" u="sng" dirty="0" smtClean="0">
                <a:latin typeface="Times New Roman" pitchFamily="18" charset="0"/>
                <a:cs typeface="Times New Roman" pitchFamily="18" charset="0"/>
              </a:rPr>
              <a:t>Slide 4 – Human Brain vs Artificial Neural Network</a:t>
            </a:r>
            <a:endParaRPr lang="en-US" sz="2800" b="1" u="sng" dirty="0">
              <a:latin typeface="Times New Roman" pitchFamily="18" charset="0"/>
              <a:cs typeface="Times New Roman" pitchFamily="18" charset="0"/>
            </a:endParaRPr>
          </a:p>
        </p:txBody>
      </p:sp>
      <p:graphicFrame>
        <p:nvGraphicFramePr>
          <p:cNvPr id="4" name="Table 3"/>
          <p:cNvGraphicFramePr>
            <a:graphicFrameLocks noGrp="1"/>
          </p:cNvGraphicFramePr>
          <p:nvPr/>
        </p:nvGraphicFramePr>
        <p:xfrm>
          <a:off x="1524000" y="1397000"/>
          <a:ext cx="6096000" cy="3657600"/>
        </p:xfrm>
        <a:graphic>
          <a:graphicData uri="http://schemas.openxmlformats.org/drawingml/2006/table">
            <a:tbl>
              <a:tblPr firstRow="1" bandRow="1">
                <a:tableStyleId>{5C22544A-7EE6-4342-B048-85BDC9FD1C3A}</a:tableStyleId>
              </a:tblPr>
              <a:tblGrid>
                <a:gridCol w="3048000"/>
                <a:gridCol w="3048000"/>
              </a:tblGrid>
              <a:tr h="370840">
                <a:tc>
                  <a:txBody>
                    <a:bodyPr/>
                    <a:lstStyle/>
                    <a:p>
                      <a:r>
                        <a:rPr lang="en-US" sz="2400" dirty="0">
                          <a:latin typeface="Times New Roman" pitchFamily="18" charset="0"/>
                          <a:cs typeface="Times New Roman" pitchFamily="18" charset="0"/>
                        </a:rPr>
                        <a:t>Human Brain</a:t>
                      </a:r>
                    </a:p>
                  </a:txBody>
                  <a:tcPr anchor="ctr"/>
                </a:tc>
                <a:tc>
                  <a:txBody>
                    <a:bodyPr/>
                    <a:lstStyle/>
                    <a:p>
                      <a:r>
                        <a:rPr lang="en-US" sz="2400">
                          <a:latin typeface="Times New Roman" pitchFamily="18" charset="0"/>
                          <a:cs typeface="Times New Roman" pitchFamily="18" charset="0"/>
                        </a:rPr>
                        <a:t>Neural Network</a:t>
                      </a:r>
                    </a:p>
                  </a:txBody>
                  <a:tcPr anchor="ctr"/>
                </a:tc>
              </a:tr>
              <a:tr h="370840">
                <a:tc>
                  <a:txBody>
                    <a:bodyPr/>
                    <a:lstStyle/>
                    <a:p>
                      <a:r>
                        <a:rPr lang="en-US" sz="2400">
                          <a:latin typeface="Times New Roman" pitchFamily="18" charset="0"/>
                          <a:cs typeface="Times New Roman" pitchFamily="18" charset="0"/>
                        </a:rPr>
                        <a:t>Neurons</a:t>
                      </a:r>
                    </a:p>
                  </a:txBody>
                  <a:tcPr anchor="ctr"/>
                </a:tc>
                <a:tc>
                  <a:txBody>
                    <a:bodyPr/>
                    <a:lstStyle/>
                    <a:p>
                      <a:r>
                        <a:rPr lang="en-US" sz="2400">
                          <a:latin typeface="Times New Roman" pitchFamily="18" charset="0"/>
                          <a:cs typeface="Times New Roman" pitchFamily="18" charset="0"/>
                        </a:rPr>
                        <a:t>Artificial Neurons</a:t>
                      </a:r>
                    </a:p>
                  </a:txBody>
                  <a:tcPr anchor="ctr"/>
                </a:tc>
              </a:tr>
              <a:tr h="370840">
                <a:tc>
                  <a:txBody>
                    <a:bodyPr/>
                    <a:lstStyle/>
                    <a:p>
                      <a:r>
                        <a:rPr lang="en-US" sz="2400">
                          <a:latin typeface="Times New Roman" pitchFamily="18" charset="0"/>
                          <a:cs typeface="Times New Roman" pitchFamily="18" charset="0"/>
                        </a:rPr>
                        <a:t>Synapses</a:t>
                      </a:r>
                    </a:p>
                  </a:txBody>
                  <a:tcPr anchor="ctr"/>
                </a:tc>
                <a:tc>
                  <a:txBody>
                    <a:bodyPr/>
                    <a:lstStyle/>
                    <a:p>
                      <a:r>
                        <a:rPr lang="en-US" sz="2400">
                          <a:latin typeface="Times New Roman" pitchFamily="18" charset="0"/>
                          <a:cs typeface="Times New Roman" pitchFamily="18" charset="0"/>
                        </a:rPr>
                        <a:t>Weights</a:t>
                      </a:r>
                    </a:p>
                  </a:txBody>
                  <a:tcPr anchor="ctr"/>
                </a:tc>
              </a:tr>
              <a:tr h="370840">
                <a:tc>
                  <a:txBody>
                    <a:bodyPr/>
                    <a:lstStyle/>
                    <a:p>
                      <a:r>
                        <a:rPr lang="en-US" sz="2400">
                          <a:latin typeface="Times New Roman" pitchFamily="18" charset="0"/>
                          <a:cs typeface="Times New Roman" pitchFamily="18" charset="0"/>
                        </a:rPr>
                        <a:t>Learning</a:t>
                      </a:r>
                    </a:p>
                  </a:txBody>
                  <a:tcPr anchor="ctr"/>
                </a:tc>
                <a:tc>
                  <a:txBody>
                    <a:bodyPr/>
                    <a:lstStyle/>
                    <a:p>
                      <a:r>
                        <a:rPr lang="en-US" sz="2400">
                          <a:latin typeface="Times New Roman" pitchFamily="18" charset="0"/>
                          <a:cs typeface="Times New Roman" pitchFamily="18" charset="0"/>
                        </a:rPr>
                        <a:t>Training</a:t>
                      </a:r>
                    </a:p>
                  </a:txBody>
                  <a:tcPr anchor="ctr"/>
                </a:tc>
              </a:tr>
              <a:tr h="370840">
                <a:tc>
                  <a:txBody>
                    <a:bodyPr/>
                    <a:lstStyle/>
                    <a:p>
                      <a:r>
                        <a:rPr lang="en-US" sz="2400">
                          <a:latin typeface="Times New Roman" pitchFamily="18" charset="0"/>
                          <a:cs typeface="Times New Roman" pitchFamily="18" charset="0"/>
                        </a:rPr>
                        <a:t>Memory</a:t>
                      </a:r>
                    </a:p>
                  </a:txBody>
                  <a:tcPr anchor="ctr"/>
                </a:tc>
                <a:tc>
                  <a:txBody>
                    <a:bodyPr/>
                    <a:lstStyle/>
                    <a:p>
                      <a:r>
                        <a:rPr lang="en-US" sz="2400">
                          <a:latin typeface="Times New Roman" pitchFamily="18" charset="0"/>
                          <a:cs typeface="Times New Roman" pitchFamily="18" charset="0"/>
                        </a:rPr>
                        <a:t>Parameters</a:t>
                      </a:r>
                    </a:p>
                  </a:txBody>
                  <a:tcPr anchor="ctr"/>
                </a:tc>
              </a:tr>
              <a:tr h="370840">
                <a:tc>
                  <a:txBody>
                    <a:bodyPr/>
                    <a:lstStyle/>
                    <a:p>
                      <a:r>
                        <a:rPr lang="en-US" sz="2400">
                          <a:latin typeface="Times New Roman" pitchFamily="18" charset="0"/>
                          <a:cs typeface="Times New Roman" pitchFamily="18" charset="0"/>
                        </a:rPr>
                        <a:t>Decision</a:t>
                      </a:r>
                    </a:p>
                  </a:txBody>
                  <a:tcPr anchor="ctr"/>
                </a:tc>
                <a:tc>
                  <a:txBody>
                    <a:bodyPr/>
                    <a:lstStyle/>
                    <a:p>
                      <a:r>
                        <a:rPr lang="en-US" sz="2400" dirty="0">
                          <a:latin typeface="Times New Roman" pitchFamily="18" charset="0"/>
                          <a:cs typeface="Times New Roman" pitchFamily="18" charset="0"/>
                        </a:rPr>
                        <a:t>Prediction</a:t>
                      </a:r>
                    </a:p>
                  </a:txBody>
                  <a:tcPr anchor="ctr"/>
                </a:tc>
              </a:tr>
              <a:tr h="370840">
                <a:tc>
                  <a:txBody>
                    <a:bodyPr/>
                    <a:lstStyle/>
                    <a:p>
                      <a:endParaRPr lang="en-US" sz="2400">
                        <a:latin typeface="Times New Roman" pitchFamily="18" charset="0"/>
                        <a:cs typeface="Times New Roman" pitchFamily="18" charset="0"/>
                      </a:endParaRPr>
                    </a:p>
                  </a:txBody>
                  <a:tcPr/>
                </a:tc>
                <a:tc>
                  <a:txBody>
                    <a:bodyPr/>
                    <a:lstStyle/>
                    <a:p>
                      <a:endParaRPr lang="en-US" sz="2400" dirty="0">
                        <a:latin typeface="Times New Roman" pitchFamily="18" charset="0"/>
                        <a:cs typeface="Times New Roman" pitchFamily="18" charset="0"/>
                      </a:endParaRPr>
                    </a:p>
                  </a:txBody>
                  <a:tcPr/>
                </a:tc>
              </a:tr>
              <a:tr h="370840">
                <a:tc>
                  <a:txBody>
                    <a:bodyPr/>
                    <a:lstStyle/>
                    <a:p>
                      <a:endParaRPr lang="en-US" sz="2400">
                        <a:latin typeface="Times New Roman" pitchFamily="18" charset="0"/>
                        <a:cs typeface="Times New Roman" pitchFamily="18" charset="0"/>
                      </a:endParaRPr>
                    </a:p>
                  </a:txBody>
                  <a:tcPr/>
                </a:tc>
                <a:tc>
                  <a:txBody>
                    <a:bodyPr/>
                    <a:lstStyle/>
                    <a:p>
                      <a:endParaRPr lang="en-US" sz="2400" dirty="0">
                        <a:latin typeface="Times New Roman" pitchFamily="18" charset="0"/>
                        <a:cs typeface="Times New Roman" pitchFamily="18" charset="0"/>
                      </a:endParaRPr>
                    </a:p>
                  </a:txBody>
                  <a:tcPr/>
                </a:tc>
              </a:tr>
            </a:tbl>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Deep Learning (DL) - Questions and Answers ​in MRI"/>
          <p:cNvPicPr>
            <a:picLocks noChangeAspect="1" noChangeArrowheads="1"/>
          </p:cNvPicPr>
          <p:nvPr/>
        </p:nvPicPr>
        <p:blipFill>
          <a:blip r:embed="rId2" cstate="print"/>
          <a:srcRect/>
          <a:stretch>
            <a:fillRect/>
          </a:stretch>
        </p:blipFill>
        <p:spPr bwMode="auto">
          <a:xfrm>
            <a:off x="1371600" y="160338"/>
            <a:ext cx="7246540" cy="6545262"/>
          </a:xfrm>
          <a:prstGeom prst="rect">
            <a:avLst/>
          </a:prstGeom>
          <a:noFill/>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90600" y="0"/>
            <a:ext cx="4186724" cy="523220"/>
          </a:xfrm>
          <a:prstGeom prst="rect">
            <a:avLst/>
          </a:prstGeom>
        </p:spPr>
        <p:txBody>
          <a:bodyPr wrap="none">
            <a:spAutoFit/>
          </a:bodyPr>
          <a:lstStyle/>
          <a:p>
            <a:r>
              <a:rPr lang="en-US" sz="2800" b="1" u="sng" dirty="0" smtClean="0">
                <a:latin typeface="Times New Roman" pitchFamily="18" charset="0"/>
                <a:cs typeface="Times New Roman" pitchFamily="18" charset="0"/>
              </a:rPr>
              <a:t>Slide 5 – Artificial Neuron</a:t>
            </a:r>
            <a:endParaRPr lang="en-US" sz="2800" b="1" u="sng" dirty="0">
              <a:latin typeface="Times New Roman" pitchFamily="18" charset="0"/>
              <a:cs typeface="Times New Roman" pitchFamily="18" charset="0"/>
            </a:endParaRPr>
          </a:p>
        </p:txBody>
      </p:sp>
      <p:sp>
        <p:nvSpPr>
          <p:cNvPr id="5" name="Rectangle 4"/>
          <p:cNvSpPr/>
          <p:nvPr/>
        </p:nvSpPr>
        <p:spPr>
          <a:xfrm>
            <a:off x="990600" y="685800"/>
            <a:ext cx="8153400" cy="3908762"/>
          </a:xfrm>
          <a:prstGeom prst="rect">
            <a:avLst/>
          </a:prstGeom>
        </p:spPr>
        <p:txBody>
          <a:bodyPr wrap="square">
            <a:spAutoFit/>
          </a:bodyPr>
          <a:lstStyle/>
          <a:p>
            <a:r>
              <a:rPr lang="en-US" sz="2400" dirty="0" smtClean="0">
                <a:latin typeface="Times New Roman" pitchFamily="18" charset="0"/>
                <a:cs typeface="Times New Roman" pitchFamily="18" charset="0"/>
              </a:rPr>
              <a:t>Every neuron receives inputs multiplies by weights adds bias </a:t>
            </a:r>
          </a:p>
          <a:p>
            <a:r>
              <a:rPr lang="en-US" sz="2400" dirty="0" smtClean="0">
                <a:latin typeface="Times New Roman" pitchFamily="18" charset="0"/>
                <a:cs typeface="Times New Roman" pitchFamily="18" charset="0"/>
              </a:rPr>
              <a:t>passes through activation produces output </a:t>
            </a:r>
          </a:p>
          <a:p>
            <a:endParaRPr lang="en-IN"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Terms:- </a:t>
            </a:r>
            <a:endParaRPr lang="en-US" sz="2400" dirty="0" smtClean="0">
              <a:latin typeface="Times New Roman" pitchFamily="18" charset="0"/>
              <a:cs typeface="Times New Roman" pitchFamily="18" charset="0"/>
            </a:endParaRPr>
          </a:p>
          <a:p>
            <a:r>
              <a:rPr lang="en-US" sz="2400" b="1" dirty="0" smtClean="0">
                <a:latin typeface="Times New Roman" pitchFamily="18" charset="0"/>
                <a:cs typeface="Times New Roman" pitchFamily="18" charset="0"/>
              </a:rPr>
              <a:t>Input </a:t>
            </a:r>
          </a:p>
          <a:p>
            <a:r>
              <a:rPr lang="en-US" sz="2400" b="1" dirty="0" smtClean="0">
                <a:latin typeface="Times New Roman" pitchFamily="18" charset="0"/>
                <a:cs typeface="Times New Roman" pitchFamily="18" charset="0"/>
              </a:rPr>
              <a:t>Weight </a:t>
            </a:r>
          </a:p>
          <a:p>
            <a:r>
              <a:rPr lang="en-US" sz="2400" b="1" dirty="0" smtClean="0">
                <a:latin typeface="Times New Roman" pitchFamily="18" charset="0"/>
                <a:cs typeface="Times New Roman" pitchFamily="18" charset="0"/>
              </a:rPr>
              <a:t>Bias </a:t>
            </a:r>
          </a:p>
          <a:p>
            <a:r>
              <a:rPr lang="en-US" sz="2400" b="1" dirty="0" smtClean="0">
                <a:latin typeface="Times New Roman" pitchFamily="18" charset="0"/>
                <a:cs typeface="Times New Roman" pitchFamily="18" charset="0"/>
              </a:rPr>
              <a:t>Activation </a:t>
            </a:r>
          </a:p>
          <a:p>
            <a:r>
              <a:rPr lang="en-US" sz="2400" b="1" dirty="0" smtClean="0">
                <a:latin typeface="Times New Roman" pitchFamily="18" charset="0"/>
                <a:cs typeface="Times New Roman" pitchFamily="18" charset="0"/>
              </a:rPr>
              <a:t>Output</a:t>
            </a:r>
          </a:p>
          <a:p>
            <a:endParaRPr lang="en-US" sz="3200" dirty="0">
              <a:latin typeface="Times New Roman" pitchFamily="18" charset="0"/>
              <a:cs typeface="Times New Roman" pitchFamily="18" charset="0"/>
            </a:endParaRPr>
          </a:p>
        </p:txBody>
      </p:sp>
      <p:sp>
        <p:nvSpPr>
          <p:cNvPr id="22530" name="AutoShape 2" descr="data:image/png;base64,iVBORw0KGgoAAAANSUhEUgAAAXsAAAAhCAYAAAA4XAsuAAABhklEQVR4AezWQQrDMAwEQJP/P7o/UBDERV5PrwqpNFuWPsuHAAECBOIFlH18xA4kQIDAWsrer4AAgVrANEJA2UfE6AgCBAjUAsq+9jElQIBAhICyj4hx6hH2IkBgioCyn5KEPQgQILBRQNlvxPVqAgQITBGYWvZTfOxBgACBCAFlHxGjIwgQIFALKPvax5QAgakC9moJKPsWl4cJECBwpoCyPzM3WxMgQKAloOxbXB7OEHAFgfsElP19mbuYAIELBZT9haE7mQCB+wSUfS9zTxMgQOBIAWV/ZGyWJkCAQE9A2fe8PE2AAIFaYOhU2Q8NxloECBD4UkDZf6npXQQIEBgqoOyHBmOtGwXcTGCfgLLfZ+vNBAgQGCOg7MdEYRECBAjsE1D2+2z/+WbfRYAAgVJA2Zc8hgQIEMgQUPYZObqCAAECpcBTTg0JECBAIELAP/uIGB1BgACBWkDZ1z6mBAgsBAkCyj4hRTcQIEDgRUDZvwAZEyBAIEFA2SekOPcGmxEgMETgBwAA//+H0rpBAAAABklEQVQDAL3NAEMv2OgQAAAAAElFTkSuQmCC"/>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22531" name="Picture 3"/>
          <p:cNvPicPr>
            <a:picLocks noChangeAspect="1" noChangeArrowheads="1"/>
          </p:cNvPicPr>
          <p:nvPr/>
        </p:nvPicPr>
        <p:blipFill>
          <a:blip r:embed="rId2" cstate="print"/>
          <a:srcRect/>
          <a:stretch>
            <a:fillRect/>
          </a:stretch>
        </p:blipFill>
        <p:spPr bwMode="auto">
          <a:xfrm>
            <a:off x="2057400" y="5334000"/>
            <a:ext cx="4762500" cy="4953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0"/>
            <a:ext cx="7943088" cy="6858000"/>
          </a:xfrm>
        </p:spPr>
        <p:txBody>
          <a:bodyPr>
            <a:noAutofit/>
          </a:bodyPr>
          <a:lstStyle/>
          <a:p>
            <a:r>
              <a:rPr lang="en-US" sz="2400" b="1" dirty="0" smtClean="0">
                <a:latin typeface="Times New Roman" pitchFamily="18" charset="0"/>
                <a:cs typeface="Times New Roman" pitchFamily="18" charset="0"/>
              </a:rPr>
              <a:t>Input (x):</a:t>
            </a:r>
            <a:r>
              <a:rPr lang="en-US" sz="2400" dirty="0" smtClean="0">
                <a:latin typeface="Times New Roman" pitchFamily="18" charset="0"/>
                <a:cs typeface="Times New Roman" pitchFamily="18" charset="0"/>
              </a:rPr>
              <a:t> The incoming data or signals. If you are training a model to predict house prices, the inputs might be numbers representing Square Footage or Number of Bedrooms.</a:t>
            </a:r>
          </a:p>
          <a:p>
            <a:pPr>
              <a:buNone/>
            </a:pPr>
            <a:endParaRPr lang="en-US" sz="2400" dirty="0" smtClean="0">
              <a:latin typeface="Times New Roman" pitchFamily="18" charset="0"/>
              <a:cs typeface="Times New Roman" pitchFamily="18" charset="0"/>
            </a:endParaRPr>
          </a:p>
          <a:p>
            <a:endParaRPr lang="en-US" sz="2400" dirty="0" smtClean="0">
              <a:latin typeface="Times New Roman" pitchFamily="18" charset="0"/>
              <a:cs typeface="Times New Roman" pitchFamily="18" charset="0"/>
            </a:endParaRPr>
          </a:p>
          <a:p>
            <a:r>
              <a:rPr lang="en-US" sz="2400" b="1" dirty="0" smtClean="0">
                <a:latin typeface="Times New Roman" pitchFamily="18" charset="0"/>
                <a:cs typeface="Times New Roman" pitchFamily="18" charset="0"/>
              </a:rPr>
              <a:t>Weight (w):</a:t>
            </a:r>
            <a:r>
              <a:rPr lang="en-US" sz="2400" dirty="0" smtClean="0">
                <a:latin typeface="Times New Roman" pitchFamily="18" charset="0"/>
                <a:cs typeface="Times New Roman" pitchFamily="18" charset="0"/>
              </a:rPr>
              <a:t> The </a:t>
            </a:r>
            <a:r>
              <a:rPr lang="en-US" sz="2400" b="1" dirty="0" smtClean="0">
                <a:latin typeface="Times New Roman" pitchFamily="18" charset="0"/>
                <a:cs typeface="Times New Roman" pitchFamily="18" charset="0"/>
              </a:rPr>
              <a:t>importance or strength</a:t>
            </a:r>
            <a:r>
              <a:rPr lang="en-US" sz="2400" dirty="0" smtClean="0">
                <a:latin typeface="Times New Roman" pitchFamily="18" charset="0"/>
                <a:cs typeface="Times New Roman" pitchFamily="18" charset="0"/>
              </a:rPr>
              <a:t> assigned to an input. If Square Footage matters significantly more than the color of the front door, the model assigns a much larger weight value to square footage.</a:t>
            </a:r>
          </a:p>
          <a:p>
            <a:endParaRPr lang="en-IN" sz="2400" dirty="0" smtClean="0">
              <a:latin typeface="Times New Roman" pitchFamily="18" charset="0"/>
              <a:cs typeface="Times New Roman" pitchFamily="18" charset="0"/>
            </a:endParaRPr>
          </a:p>
          <a:p>
            <a:pPr>
              <a:buNone/>
            </a:pPr>
            <a:endParaRPr lang="en-US" sz="2400" dirty="0" smtClean="0">
              <a:latin typeface="Times New Roman" pitchFamily="18" charset="0"/>
              <a:cs typeface="Times New Roman" pitchFamily="18" charset="0"/>
            </a:endParaRPr>
          </a:p>
          <a:p>
            <a:r>
              <a:rPr lang="en-US" sz="2400" b="1" dirty="0" smtClean="0">
                <a:latin typeface="Times New Roman" pitchFamily="18" charset="0"/>
                <a:cs typeface="Times New Roman" pitchFamily="18" charset="0"/>
              </a:rPr>
              <a:t>Bias (b):</a:t>
            </a:r>
            <a:r>
              <a:rPr lang="en-US" sz="2400" dirty="0" smtClean="0">
                <a:latin typeface="Times New Roman" pitchFamily="18" charset="0"/>
                <a:cs typeface="Times New Roman" pitchFamily="18" charset="0"/>
              </a:rPr>
              <a:t> An extra value added to the sum. It acts like an offset, shifting the entire mathematical relationship up or down to ensure the model fits the data accurately, even if all inputs are zero.</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0"/>
            <a:ext cx="7943088" cy="6248400"/>
          </a:xfrm>
        </p:spPr>
        <p:txBody>
          <a:bodyPr>
            <a:normAutofit/>
          </a:bodyPr>
          <a:lstStyle/>
          <a:p>
            <a:r>
              <a:rPr lang="en-US" sz="2400" b="1" dirty="0" smtClean="0">
                <a:latin typeface="Times New Roman" pitchFamily="18" charset="0"/>
                <a:cs typeface="Times New Roman" pitchFamily="18" charset="0"/>
              </a:rPr>
              <a:t>Activation Function (f):</a:t>
            </a:r>
            <a:r>
              <a:rPr lang="en-US" sz="2400" dirty="0" smtClean="0">
                <a:latin typeface="Times New Roman" pitchFamily="18" charset="0"/>
                <a:cs typeface="Times New Roman" pitchFamily="18" charset="0"/>
              </a:rPr>
              <a:t> A mathematical formula that decides whether the neuron should "fire" (and how strongly). </a:t>
            </a:r>
          </a:p>
          <a:p>
            <a:endParaRPr lang="en-US" sz="2400" dirty="0" smtClean="0">
              <a:latin typeface="Times New Roman" pitchFamily="18" charset="0"/>
              <a:cs typeface="Times New Roman" pitchFamily="18" charset="0"/>
            </a:endParaRPr>
          </a:p>
          <a:p>
            <a:pPr>
              <a:buNone/>
            </a:pPr>
            <a:r>
              <a:rPr lang="en-US" sz="2400" dirty="0" smtClean="0">
                <a:latin typeface="Times New Roman" pitchFamily="18" charset="0"/>
                <a:cs typeface="Times New Roman" pitchFamily="18" charset="0"/>
              </a:rPr>
              <a:t>    Common types include </a:t>
            </a:r>
            <a:r>
              <a:rPr lang="en-US" sz="2400" b="1" dirty="0" err="1" smtClean="0">
                <a:latin typeface="Times New Roman" pitchFamily="18" charset="0"/>
                <a:cs typeface="Times New Roman" pitchFamily="18" charset="0"/>
              </a:rPr>
              <a:t>ReLU</a:t>
            </a:r>
            <a:r>
              <a:rPr lang="en-US" sz="2400" b="1" dirty="0" smtClean="0">
                <a:latin typeface="Times New Roman" pitchFamily="18" charset="0"/>
                <a:cs typeface="Times New Roman" pitchFamily="18" charset="0"/>
              </a:rPr>
              <a:t>, Sigmoid, and </a:t>
            </a:r>
            <a:r>
              <a:rPr lang="en-US" sz="2400" b="1" dirty="0" err="1" smtClean="0">
                <a:latin typeface="Times New Roman" pitchFamily="18" charset="0"/>
                <a:cs typeface="Times New Roman" pitchFamily="18" charset="0"/>
              </a:rPr>
              <a:t>Tanh</a:t>
            </a:r>
            <a:r>
              <a:rPr lang="en-US" sz="2400" b="1" dirty="0" smtClean="0">
                <a:latin typeface="Times New Roman" pitchFamily="18" charset="0"/>
                <a:cs typeface="Times New Roman" pitchFamily="18" charset="0"/>
              </a:rPr>
              <a:t>.</a:t>
            </a:r>
          </a:p>
          <a:p>
            <a:endParaRPr lang="en-IN" sz="2400" dirty="0" smtClean="0">
              <a:latin typeface="Times New Roman" pitchFamily="18" charset="0"/>
              <a:cs typeface="Times New Roman" pitchFamily="18" charset="0"/>
            </a:endParaRPr>
          </a:p>
          <a:p>
            <a:pPr>
              <a:buNone/>
            </a:pPr>
            <a:endParaRPr lang="en-US" sz="2400" dirty="0" smtClean="0">
              <a:latin typeface="Times New Roman" pitchFamily="18" charset="0"/>
              <a:cs typeface="Times New Roman" pitchFamily="18" charset="0"/>
            </a:endParaRPr>
          </a:p>
          <a:p>
            <a:r>
              <a:rPr lang="en-US" sz="2400" b="1" dirty="0" smtClean="0">
                <a:latin typeface="Times New Roman" pitchFamily="18" charset="0"/>
                <a:cs typeface="Times New Roman" pitchFamily="18" charset="0"/>
              </a:rPr>
              <a:t>Output (y):</a:t>
            </a:r>
            <a:r>
              <a:rPr lang="en-US" sz="2400" dirty="0" smtClean="0">
                <a:latin typeface="Times New Roman" pitchFamily="18" charset="0"/>
                <a:cs typeface="Times New Roman" pitchFamily="18" charset="0"/>
              </a:rPr>
              <a:t> The final signal calculated by the neuron. This value is either sent to the next layer of neurons or serves as the network's final prediction.</a:t>
            </a:r>
          </a:p>
          <a:p>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0"/>
            <a:ext cx="7943088" cy="6858000"/>
          </a:xfrm>
        </p:spPr>
        <p:txBody>
          <a:bodyPr>
            <a:normAutofit lnSpcReduction="10000"/>
          </a:bodyPr>
          <a:lstStyle/>
          <a:p>
            <a:pPr>
              <a:buNone/>
            </a:pPr>
            <a:r>
              <a:rPr lang="en-US" sz="2800" b="1" u="sng" dirty="0" smtClean="0">
                <a:latin typeface="Times New Roman" pitchFamily="18" charset="0"/>
                <a:cs typeface="Times New Roman" pitchFamily="18" charset="0"/>
              </a:rPr>
              <a:t>Numerical Example</a:t>
            </a:r>
          </a:p>
          <a:p>
            <a:pPr>
              <a:buNone/>
            </a:pPr>
            <a:r>
              <a:rPr lang="en-US"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Imagine a neuron deciding if a house price will be high based on two inputs:</a:t>
            </a:r>
          </a:p>
          <a:p>
            <a:pPr>
              <a:buNone/>
            </a:pPr>
            <a:endParaRPr lang="en-US" sz="2400" dirty="0" smtClean="0">
              <a:latin typeface="Times New Roman" pitchFamily="18" charset="0"/>
              <a:cs typeface="Times New Roman" pitchFamily="18" charset="0"/>
            </a:endParaRPr>
          </a:p>
          <a:p>
            <a:pPr>
              <a:buNone/>
            </a:pPr>
            <a:r>
              <a:rPr lang="en-US" sz="2400" b="1" dirty="0" smtClean="0">
                <a:latin typeface="Times New Roman" pitchFamily="18" charset="0"/>
                <a:cs typeface="Times New Roman" pitchFamily="18" charset="0"/>
              </a:rPr>
              <a:t>Inputs (x):</a:t>
            </a:r>
            <a:endParaRPr lang="en-US" sz="2400" dirty="0" smtClean="0">
              <a:latin typeface="Times New Roman" pitchFamily="18" charset="0"/>
              <a:cs typeface="Times New Roman" pitchFamily="18" charset="0"/>
            </a:endParaRPr>
          </a:p>
          <a:p>
            <a:pPr lvl="1">
              <a:buNone/>
            </a:pPr>
            <a:r>
              <a:rPr lang="en-US" sz="2400" dirty="0" smtClean="0">
                <a:latin typeface="Times New Roman" pitchFamily="18" charset="0"/>
                <a:cs typeface="Times New Roman" pitchFamily="18" charset="0"/>
              </a:rPr>
              <a:t>x1 = 3 (Rooms)</a:t>
            </a:r>
          </a:p>
          <a:p>
            <a:pPr lvl="1">
              <a:buNone/>
            </a:pPr>
            <a:r>
              <a:rPr lang="en-US" sz="2400" dirty="0" smtClean="0">
                <a:latin typeface="Times New Roman" pitchFamily="18" charset="0"/>
                <a:cs typeface="Times New Roman" pitchFamily="18" charset="0"/>
              </a:rPr>
              <a:t>x2 = 2 (Bathrooms)</a:t>
            </a:r>
          </a:p>
          <a:p>
            <a:pPr lvl="1">
              <a:buNone/>
            </a:pPr>
            <a:endParaRPr lang="en-US" sz="2400" dirty="0" smtClean="0">
              <a:latin typeface="Times New Roman" pitchFamily="18" charset="0"/>
              <a:cs typeface="Times New Roman" pitchFamily="18" charset="0"/>
            </a:endParaRPr>
          </a:p>
          <a:p>
            <a:pPr>
              <a:buNone/>
            </a:pPr>
            <a:r>
              <a:rPr lang="en-US" sz="2400" b="1" dirty="0" smtClean="0">
                <a:latin typeface="Times New Roman" pitchFamily="18" charset="0"/>
                <a:cs typeface="Times New Roman" pitchFamily="18" charset="0"/>
              </a:rPr>
              <a:t>Weights (w):</a:t>
            </a:r>
            <a:endParaRPr lang="en-US" sz="2400" dirty="0" smtClean="0">
              <a:latin typeface="Times New Roman" pitchFamily="18" charset="0"/>
              <a:cs typeface="Times New Roman" pitchFamily="18" charset="0"/>
            </a:endParaRPr>
          </a:p>
          <a:p>
            <a:pPr lvl="1">
              <a:buNone/>
            </a:pPr>
            <a:r>
              <a:rPr lang="en-US" sz="2400" dirty="0" smtClean="0">
                <a:latin typeface="Times New Roman" pitchFamily="18" charset="0"/>
                <a:cs typeface="Times New Roman" pitchFamily="18" charset="0"/>
              </a:rPr>
              <a:t>w1 = 0.5 (Importance of rooms)</a:t>
            </a:r>
          </a:p>
          <a:p>
            <a:pPr lvl="1">
              <a:buNone/>
            </a:pPr>
            <a:r>
              <a:rPr lang="en-US" sz="2400" dirty="0" smtClean="0">
                <a:latin typeface="Times New Roman" pitchFamily="18" charset="0"/>
                <a:cs typeface="Times New Roman" pitchFamily="18" charset="0"/>
              </a:rPr>
              <a:t>w2 = 0.8 (Importance of bathrooms)</a:t>
            </a:r>
          </a:p>
          <a:p>
            <a:pPr lvl="1">
              <a:buNone/>
            </a:pPr>
            <a:endParaRPr lang="en-US" sz="2400" dirty="0" smtClean="0">
              <a:latin typeface="Times New Roman" pitchFamily="18" charset="0"/>
              <a:cs typeface="Times New Roman" pitchFamily="18" charset="0"/>
            </a:endParaRPr>
          </a:p>
          <a:p>
            <a:pPr>
              <a:buNone/>
            </a:pPr>
            <a:r>
              <a:rPr lang="en-US" sz="2400" b="1" dirty="0" smtClean="0">
                <a:latin typeface="Times New Roman" pitchFamily="18" charset="0"/>
                <a:cs typeface="Times New Roman" pitchFamily="18" charset="0"/>
              </a:rPr>
              <a:t>Bias (b):</a:t>
            </a:r>
            <a:r>
              <a:rPr lang="en-US" sz="2400" dirty="0" smtClean="0">
                <a:latin typeface="Times New Roman" pitchFamily="18" charset="0"/>
                <a:cs typeface="Times New Roman" pitchFamily="18" charset="0"/>
              </a:rPr>
              <a:t> -1.0 (Offsets the calculation)</a:t>
            </a:r>
          </a:p>
          <a:p>
            <a:pPr>
              <a:buNone/>
            </a:pPr>
            <a:endParaRPr lang="en-US" sz="2400" dirty="0" smtClean="0">
              <a:latin typeface="Times New Roman" pitchFamily="18" charset="0"/>
              <a:cs typeface="Times New Roman" pitchFamily="18" charset="0"/>
            </a:endParaRPr>
          </a:p>
          <a:p>
            <a:pPr>
              <a:buNone/>
            </a:pPr>
            <a:r>
              <a:rPr lang="en-US" sz="2400" b="1" dirty="0" smtClean="0">
                <a:latin typeface="Times New Roman" pitchFamily="18" charset="0"/>
                <a:cs typeface="Times New Roman" pitchFamily="18" charset="0"/>
              </a:rPr>
              <a:t>Activation Function:</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ReLU</a:t>
            </a:r>
            <a:r>
              <a:rPr lang="en-US" sz="2400" dirty="0" smtClean="0">
                <a:latin typeface="Times New Roman" pitchFamily="18" charset="0"/>
                <a:cs typeface="Times New Roman" pitchFamily="18" charset="0"/>
              </a:rPr>
              <a:t> (If the total is negative, output is 0. Otherwise, keep the number).</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90600" y="0"/>
            <a:ext cx="8153400" cy="3785652"/>
          </a:xfrm>
          <a:prstGeom prst="rect">
            <a:avLst/>
          </a:prstGeom>
        </p:spPr>
        <p:txBody>
          <a:bodyPr wrap="square">
            <a:spAutoFit/>
          </a:bodyPr>
          <a:lstStyle/>
          <a:p>
            <a:pPr>
              <a:buNone/>
            </a:pPr>
            <a:r>
              <a:rPr lang="en-US" sz="2400" b="1" dirty="0" smtClean="0">
                <a:latin typeface="Times New Roman" pitchFamily="18" charset="0"/>
                <a:cs typeface="Times New Roman" pitchFamily="18" charset="0"/>
              </a:rPr>
              <a:t>Step-by-Step Calculation:</a:t>
            </a:r>
          </a:p>
          <a:p>
            <a:pPr>
              <a:buNone/>
            </a:pPr>
            <a:endParaRPr lang="en-US" sz="2400" b="1" dirty="0" smtClean="0">
              <a:latin typeface="Times New Roman" pitchFamily="18" charset="0"/>
              <a:cs typeface="Times New Roman" pitchFamily="18" charset="0"/>
            </a:endParaRPr>
          </a:p>
          <a:p>
            <a:pPr>
              <a:buNone/>
            </a:pPr>
            <a:r>
              <a:rPr lang="en-US" sz="2400" b="1" dirty="0" smtClean="0">
                <a:latin typeface="Times New Roman" pitchFamily="18" charset="0"/>
                <a:cs typeface="Times New Roman" pitchFamily="18" charset="0"/>
              </a:rPr>
              <a:t>Multiply &amp; Sum:</a:t>
            </a:r>
            <a:r>
              <a:rPr lang="en-US" sz="2400" dirty="0" smtClean="0">
                <a:latin typeface="Times New Roman" pitchFamily="18" charset="0"/>
                <a:cs typeface="Times New Roman" pitchFamily="18" charset="0"/>
              </a:rPr>
              <a:t> (3 x0.5) + (2 x 0.8) = 1.5 + 1.6 = 3.1</a:t>
            </a:r>
          </a:p>
          <a:p>
            <a:pPr>
              <a:buNone/>
            </a:pPr>
            <a:endParaRPr lang="en-US" sz="2400" dirty="0" smtClean="0">
              <a:latin typeface="Times New Roman" pitchFamily="18" charset="0"/>
              <a:cs typeface="Times New Roman" pitchFamily="18" charset="0"/>
            </a:endParaRPr>
          </a:p>
          <a:p>
            <a:pPr>
              <a:buNone/>
            </a:pPr>
            <a:r>
              <a:rPr lang="en-US" sz="2400" b="1" dirty="0" smtClean="0">
                <a:latin typeface="Times New Roman" pitchFamily="18" charset="0"/>
                <a:cs typeface="Times New Roman" pitchFamily="18" charset="0"/>
              </a:rPr>
              <a:t>Add Bias:</a:t>
            </a:r>
            <a:r>
              <a:rPr lang="en-US" sz="2400" dirty="0" smtClean="0">
                <a:latin typeface="Times New Roman" pitchFamily="18" charset="0"/>
                <a:cs typeface="Times New Roman" pitchFamily="18" charset="0"/>
              </a:rPr>
              <a:t>  3.1 + (-1.0) = 2.1</a:t>
            </a:r>
          </a:p>
          <a:p>
            <a:pPr>
              <a:buNone/>
            </a:pPr>
            <a:endParaRPr lang="en-US" sz="2400" dirty="0" smtClean="0">
              <a:latin typeface="Times New Roman" pitchFamily="18" charset="0"/>
              <a:cs typeface="Times New Roman" pitchFamily="18" charset="0"/>
            </a:endParaRPr>
          </a:p>
          <a:p>
            <a:pPr>
              <a:buNone/>
            </a:pPr>
            <a:r>
              <a:rPr lang="en-US" sz="2400" b="1" dirty="0" smtClean="0">
                <a:latin typeface="Times New Roman" pitchFamily="18" charset="0"/>
                <a:cs typeface="Times New Roman" pitchFamily="18" charset="0"/>
              </a:rPr>
              <a:t>Activation (</a:t>
            </a:r>
            <a:r>
              <a:rPr lang="en-US" sz="2400" b="1" dirty="0" err="1" smtClean="0">
                <a:latin typeface="Times New Roman" pitchFamily="18" charset="0"/>
                <a:cs typeface="Times New Roman" pitchFamily="18" charset="0"/>
              </a:rPr>
              <a:t>ReLU</a:t>
            </a:r>
            <a:r>
              <a:rPr lang="en-US" sz="2400" b="1" dirty="0" smtClean="0">
                <a:latin typeface="Times New Roman" pitchFamily="18" charset="0"/>
                <a:cs typeface="Times New Roman" pitchFamily="18" charset="0"/>
              </a:rPr>
              <a:t>):</a:t>
            </a:r>
            <a:r>
              <a:rPr lang="en-US" sz="2400" dirty="0" smtClean="0">
                <a:latin typeface="Times New Roman" pitchFamily="18" charset="0"/>
                <a:cs typeface="Times New Roman" pitchFamily="18" charset="0"/>
              </a:rPr>
              <a:t> Since 2.1 is positive, it stays </a:t>
            </a:r>
            <a:r>
              <a:rPr lang="en-US" sz="2400" b="1" dirty="0" smtClean="0">
                <a:latin typeface="Times New Roman" pitchFamily="18" charset="0"/>
                <a:cs typeface="Times New Roman" pitchFamily="18" charset="0"/>
              </a:rPr>
              <a:t>2.1</a:t>
            </a:r>
            <a:r>
              <a:rPr lang="en-US" sz="2400" dirty="0" smtClean="0">
                <a:latin typeface="Times New Roman" pitchFamily="18" charset="0"/>
                <a:cs typeface="Times New Roman" pitchFamily="18" charset="0"/>
              </a:rPr>
              <a:t>.</a:t>
            </a:r>
          </a:p>
          <a:p>
            <a:pPr>
              <a:buNone/>
            </a:pPr>
            <a:endParaRPr lang="en-IN" sz="2400" dirty="0" smtClean="0">
              <a:latin typeface="Times New Roman" pitchFamily="18" charset="0"/>
              <a:cs typeface="Times New Roman" pitchFamily="18" charset="0"/>
            </a:endParaRPr>
          </a:p>
          <a:p>
            <a:pPr>
              <a:buNone/>
            </a:pPr>
            <a:endParaRPr lang="en-US" sz="2400" dirty="0" smtClean="0">
              <a:latin typeface="Times New Roman" pitchFamily="18" charset="0"/>
              <a:cs typeface="Times New Roman" pitchFamily="18" charset="0"/>
            </a:endParaRPr>
          </a:p>
          <a:p>
            <a:pPr>
              <a:buNone/>
            </a:pPr>
            <a:r>
              <a:rPr lang="en-US" sz="2400" b="1" dirty="0" smtClean="0">
                <a:latin typeface="Times New Roman" pitchFamily="18" charset="0"/>
                <a:cs typeface="Times New Roman" pitchFamily="18" charset="0"/>
              </a:rPr>
              <a:t>Output:</a:t>
            </a:r>
            <a:r>
              <a:rPr lang="en-US" sz="2400" dirty="0" smtClean="0">
                <a:latin typeface="Times New Roman" pitchFamily="18" charset="0"/>
                <a:cs typeface="Times New Roman" pitchFamily="18" charset="0"/>
              </a:rPr>
              <a:t> </a:t>
            </a:r>
            <a:r>
              <a:rPr lang="en-US" sz="2400" b="1" dirty="0" smtClean="0">
                <a:latin typeface="Times New Roman" pitchFamily="18" charset="0"/>
                <a:cs typeface="Times New Roman" pitchFamily="18" charset="0"/>
              </a:rPr>
              <a:t>2.1</a:t>
            </a:r>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2"/>
          <p:cNvPicPr>
            <a:picLocks noGrp="1" noChangeAspect="1" noChangeArrowheads="1"/>
          </p:cNvPicPr>
          <p:nvPr>
            <p:ph idx="1"/>
          </p:nvPr>
        </p:nvPicPr>
        <p:blipFill>
          <a:blip r:embed="rId2" cstate="print"/>
          <a:srcRect/>
          <a:stretch>
            <a:fillRect/>
          </a:stretch>
        </p:blipFill>
        <p:spPr bwMode="auto">
          <a:xfrm>
            <a:off x="1295400" y="304800"/>
            <a:ext cx="7620000" cy="6400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90600" y="152400"/>
            <a:ext cx="6139976" cy="523220"/>
          </a:xfrm>
          <a:prstGeom prst="rect">
            <a:avLst/>
          </a:prstGeom>
        </p:spPr>
        <p:txBody>
          <a:bodyPr wrap="square">
            <a:spAutoFit/>
          </a:bodyPr>
          <a:lstStyle/>
          <a:p>
            <a:r>
              <a:rPr lang="en-US" sz="2800" b="1" u="sng" dirty="0" smtClean="0">
                <a:latin typeface="Times New Roman" pitchFamily="18" charset="0"/>
                <a:cs typeface="Times New Roman" pitchFamily="18" charset="0"/>
              </a:rPr>
              <a:t>Slide 6 – Neural Network Architecture</a:t>
            </a:r>
            <a:endParaRPr lang="en-US" sz="2800" b="1" u="sng" dirty="0">
              <a:latin typeface="Times New Roman" pitchFamily="18" charset="0"/>
              <a:cs typeface="Times New Roman" pitchFamily="18" charset="0"/>
            </a:endParaRPr>
          </a:p>
        </p:txBody>
      </p:sp>
      <p:sp>
        <p:nvSpPr>
          <p:cNvPr id="5" name="Rectangle 4"/>
          <p:cNvSpPr/>
          <p:nvPr/>
        </p:nvSpPr>
        <p:spPr>
          <a:xfrm>
            <a:off x="1066800" y="914401"/>
            <a:ext cx="6781800" cy="4893647"/>
          </a:xfrm>
          <a:prstGeom prst="rect">
            <a:avLst/>
          </a:prstGeom>
        </p:spPr>
        <p:txBody>
          <a:bodyPr wrap="square">
            <a:spAutoFit/>
          </a:bodyPr>
          <a:lstStyle/>
          <a:p>
            <a:r>
              <a:rPr lang="en-US" sz="2400" dirty="0" smtClean="0">
                <a:latin typeface="Times New Roman" pitchFamily="18" charset="0"/>
                <a:cs typeface="Times New Roman" pitchFamily="18" charset="0"/>
              </a:rPr>
              <a:t>Input Layer</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Hidden Layer</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Hidden Layer</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Output Layer</a:t>
            </a:r>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90600" y="0"/>
            <a:ext cx="8153400" cy="4154984"/>
          </a:xfrm>
          <a:prstGeom prst="rect">
            <a:avLst/>
          </a:prstGeom>
        </p:spPr>
        <p:txBody>
          <a:bodyPr wrap="square">
            <a:spAutoFit/>
          </a:bodyPr>
          <a:lstStyle/>
          <a:p>
            <a:r>
              <a:rPr lang="en-US" sz="2400" b="1" dirty="0" smtClean="0">
                <a:latin typeface="Times New Roman" pitchFamily="18" charset="0"/>
                <a:cs typeface="Times New Roman" pitchFamily="18" charset="0"/>
              </a:rPr>
              <a:t>Input Layer</a:t>
            </a:r>
          </a:p>
          <a:p>
            <a:r>
              <a:rPr lang="en-US" sz="2400" dirty="0" smtClean="0">
                <a:latin typeface="Times New Roman" pitchFamily="18" charset="0"/>
                <a:cs typeface="Times New Roman" pitchFamily="18" charset="0"/>
              </a:rPr>
              <a:t>Receives raw data</a:t>
            </a:r>
          </a:p>
          <a:p>
            <a:pPr lvl="1"/>
            <a:r>
              <a:rPr lang="en-US" sz="2400" dirty="0" smtClean="0">
                <a:latin typeface="Times New Roman" pitchFamily="18" charset="0"/>
                <a:cs typeface="Times New Roman" pitchFamily="18" charset="0"/>
              </a:rPr>
              <a:t>Example</a:t>
            </a:r>
          </a:p>
          <a:p>
            <a:pPr lvl="1"/>
            <a:r>
              <a:rPr lang="en-US" sz="2400" dirty="0" smtClean="0">
                <a:latin typeface="Times New Roman" pitchFamily="18" charset="0"/>
                <a:cs typeface="Times New Roman" pitchFamily="18" charset="0"/>
              </a:rPr>
              <a:t>Pixels</a:t>
            </a:r>
          </a:p>
          <a:p>
            <a:pPr lvl="1"/>
            <a:endParaRPr lang="en-US" sz="2400" dirty="0" smtClean="0">
              <a:latin typeface="Times New Roman" pitchFamily="18" charset="0"/>
              <a:cs typeface="Times New Roman" pitchFamily="18" charset="0"/>
            </a:endParaRPr>
          </a:p>
          <a:p>
            <a:r>
              <a:rPr lang="en-US" sz="2400" b="1" dirty="0" smtClean="0">
                <a:latin typeface="Times New Roman" pitchFamily="18" charset="0"/>
                <a:cs typeface="Times New Roman" pitchFamily="18" charset="0"/>
              </a:rPr>
              <a:t>Hidden Layer</a:t>
            </a:r>
          </a:p>
          <a:p>
            <a:r>
              <a:rPr lang="en-US" sz="2400" dirty="0" smtClean="0">
                <a:latin typeface="Times New Roman" pitchFamily="18" charset="0"/>
                <a:cs typeface="Times New Roman" pitchFamily="18" charset="0"/>
              </a:rPr>
              <a:t>Extracts patterns</a:t>
            </a:r>
          </a:p>
          <a:p>
            <a:endParaRPr lang="en-IN" sz="2400" dirty="0" smtClean="0">
              <a:latin typeface="Times New Roman" pitchFamily="18" charset="0"/>
              <a:cs typeface="Times New Roman" pitchFamily="18" charset="0"/>
            </a:endParaRPr>
          </a:p>
          <a:p>
            <a:endParaRPr lang="en-US" sz="2400" dirty="0" smtClean="0">
              <a:latin typeface="Times New Roman" pitchFamily="18" charset="0"/>
              <a:cs typeface="Times New Roman" pitchFamily="18" charset="0"/>
            </a:endParaRPr>
          </a:p>
          <a:p>
            <a:r>
              <a:rPr lang="en-US" sz="2400" b="1" dirty="0" smtClean="0">
                <a:latin typeface="Times New Roman" pitchFamily="18" charset="0"/>
                <a:cs typeface="Times New Roman" pitchFamily="18" charset="0"/>
              </a:rPr>
              <a:t>Output Layer</a:t>
            </a:r>
          </a:p>
          <a:p>
            <a:r>
              <a:rPr lang="en-US" sz="2400" dirty="0" smtClean="0">
                <a:latin typeface="Times New Roman" pitchFamily="18" charset="0"/>
                <a:cs typeface="Times New Roman" pitchFamily="18" charset="0"/>
              </a:rPr>
              <a:t>Final prediction</a:t>
            </a:r>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AutoShape 2" descr="Artificial Neuron Network (ANN) in Deep Learning »"/>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5604" name="AutoShape 4" descr="Artificial Neuron Network (ANN) in Deep Learning »"/>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5606" name="AutoShape 6" descr="https://learntechthings.com/wp-content/uploads/2026/02/ANNImage-1024x683.jpe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25607" name="Picture 7"/>
          <p:cNvPicPr>
            <a:picLocks noChangeAspect="1" noChangeArrowheads="1"/>
          </p:cNvPicPr>
          <p:nvPr/>
        </p:nvPicPr>
        <p:blipFill>
          <a:blip r:embed="rId2" cstate="print"/>
          <a:srcRect/>
          <a:stretch>
            <a:fillRect/>
          </a:stretch>
        </p:blipFill>
        <p:spPr bwMode="auto">
          <a:xfrm>
            <a:off x="-1" y="0"/>
            <a:ext cx="9144001" cy="6858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1"/>
          <p:cNvSpPr>
            <a:spLocks noChangeArrowheads="1"/>
          </p:cNvSpPr>
          <p:nvPr/>
        </p:nvSpPr>
        <p:spPr bwMode="auto">
          <a:xfrm>
            <a:off x="0" y="-19109"/>
            <a:ext cx="9144000" cy="649408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3" fontAlgn="base">
              <a:spcBef>
                <a:spcPct val="0"/>
              </a:spcBef>
              <a:spcAft>
                <a:spcPct val="0"/>
              </a:spcAft>
            </a:pPr>
            <a:r>
              <a:rPr kumimoji="0" lang="en-US" sz="2800" b="1" i="0" u="sng" strike="noStrike" cap="none" normalizeH="0" baseline="0" dirty="0" smtClean="0">
                <a:ln>
                  <a:noFill/>
                </a:ln>
                <a:solidFill>
                  <a:schemeClr val="tx1"/>
                </a:solidFill>
                <a:effectLst/>
                <a:latin typeface="Times New Roman" pitchFamily="18" charset="0"/>
                <a:cs typeface="Times New Roman" pitchFamily="18" charset="0"/>
              </a:rPr>
              <a:t>Slide 7 – Hidden Layers</a:t>
            </a:r>
          </a:p>
          <a:p>
            <a:pPr lvl="3" fontAlgn="base">
              <a:spcBef>
                <a:spcPct val="0"/>
              </a:spcBef>
              <a:spcAft>
                <a:spcPct val="0"/>
              </a:spcAft>
            </a:pPr>
            <a:endParaRPr kumimoji="0" lang="en-US" sz="2800" b="1" i="0" u="sng" strike="noStrike" cap="none" normalizeH="0" baseline="0" dirty="0" smtClean="0">
              <a:ln>
                <a:noFill/>
              </a:ln>
              <a:solidFill>
                <a:schemeClr val="tx1"/>
              </a:solidFill>
              <a:effectLst/>
              <a:latin typeface="Times New Roman" pitchFamily="18" charset="0"/>
              <a:cs typeface="Times New Roman" pitchFamily="18" charset="0"/>
            </a:endParaRPr>
          </a:p>
          <a:p>
            <a:pPr lvl="3" eaLnBrk="0" fontAlgn="base" hangingPunct="0">
              <a:spcBef>
                <a:spcPct val="0"/>
              </a:spcBef>
              <a:spcAft>
                <a:spcPct val="0"/>
              </a:spcAft>
            </a:pPr>
            <a:r>
              <a:rPr kumimoji="0" lang="en-US" sz="2400" b="1" i="0" u="none" strike="noStrike" cap="none" normalizeH="0" baseline="0" dirty="0" smtClean="0">
                <a:ln>
                  <a:noFill/>
                </a:ln>
                <a:solidFill>
                  <a:schemeClr val="tx1"/>
                </a:solidFill>
                <a:effectLst/>
                <a:latin typeface="Times New Roman" pitchFamily="18" charset="0"/>
                <a:cs typeface="Times New Roman" pitchFamily="18" charset="0"/>
              </a:rPr>
              <a:t>Layer 1</a:t>
            </a:r>
          </a:p>
          <a:p>
            <a:pPr lvl="3" eaLnBrk="0" fontAlgn="base" hangingPunct="0">
              <a:spcBef>
                <a:spcPct val="0"/>
              </a:spcBef>
              <a:spcAft>
                <a:spcPct val="0"/>
              </a:spcAf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Learns edges</a:t>
            </a:r>
          </a:p>
          <a:p>
            <a:pPr lvl="3" eaLnBrk="0" fontAlgn="base" hangingPunct="0">
              <a:spcBef>
                <a:spcPct val="0"/>
              </a:spcBef>
              <a:spcAft>
                <a:spcPct val="0"/>
              </a:spcAf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a:t>
            </a:r>
          </a:p>
          <a:p>
            <a:pPr lvl="3" eaLnBrk="0" fontAlgn="base" hangingPunct="0">
              <a:spcBef>
                <a:spcPct val="0"/>
              </a:spcBef>
              <a:spcAft>
                <a:spcPct val="0"/>
              </a:spcAft>
            </a:pPr>
            <a:endParaRPr kumimoji="0" lang="en-US" sz="2400" b="0" i="0" u="none" strike="noStrike" cap="none" normalizeH="0" baseline="0" dirty="0" smtClean="0">
              <a:ln>
                <a:noFill/>
              </a:ln>
              <a:solidFill>
                <a:schemeClr val="tx1"/>
              </a:solidFill>
              <a:effectLst/>
              <a:latin typeface="Times New Roman" pitchFamily="18" charset="0"/>
              <a:cs typeface="Times New Roman" pitchFamily="18" charset="0"/>
            </a:endParaRPr>
          </a:p>
          <a:p>
            <a:pPr lvl="3" eaLnBrk="0" fontAlgn="base" hangingPunct="0">
              <a:spcBef>
                <a:spcPct val="0"/>
              </a:spcBef>
              <a:spcAft>
                <a:spcPct val="0"/>
              </a:spcAft>
            </a:pPr>
            <a:r>
              <a:rPr kumimoji="0" lang="en-US" sz="2400" b="1" i="0" u="none" strike="noStrike" cap="none" normalizeH="0" baseline="0" dirty="0" smtClean="0">
                <a:ln>
                  <a:noFill/>
                </a:ln>
                <a:solidFill>
                  <a:schemeClr val="tx1"/>
                </a:solidFill>
                <a:effectLst/>
                <a:latin typeface="Times New Roman" pitchFamily="18" charset="0"/>
                <a:cs typeface="Times New Roman" pitchFamily="18" charset="0"/>
              </a:rPr>
              <a:t>Layer 2</a:t>
            </a:r>
          </a:p>
          <a:p>
            <a:pPr lvl="3" eaLnBrk="0" fontAlgn="base" hangingPunct="0">
              <a:spcBef>
                <a:spcPct val="0"/>
              </a:spcBef>
              <a:spcAft>
                <a:spcPct val="0"/>
              </a:spcAf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Learns textures</a:t>
            </a:r>
          </a:p>
          <a:p>
            <a:pPr lvl="3" eaLnBrk="0" fontAlgn="base" hangingPunct="0">
              <a:spcBef>
                <a:spcPct val="0"/>
              </a:spcBef>
              <a:spcAft>
                <a:spcPct val="0"/>
              </a:spcAf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a:t>
            </a:r>
          </a:p>
          <a:p>
            <a:pPr lvl="3" eaLnBrk="0" fontAlgn="base" hangingPunct="0">
              <a:spcBef>
                <a:spcPct val="0"/>
              </a:spcBef>
              <a:spcAft>
                <a:spcPct val="0"/>
              </a:spcAft>
            </a:pPr>
            <a:r>
              <a:rPr kumimoji="0" lang="en-US" sz="2400" b="1" i="0" u="none" strike="noStrike" cap="none" normalizeH="0" baseline="0" dirty="0" smtClean="0">
                <a:ln>
                  <a:noFill/>
                </a:ln>
                <a:solidFill>
                  <a:schemeClr val="tx1"/>
                </a:solidFill>
                <a:effectLst/>
                <a:latin typeface="Times New Roman" pitchFamily="18" charset="0"/>
                <a:cs typeface="Times New Roman" pitchFamily="18" charset="0"/>
              </a:rPr>
              <a:t>Layer 3</a:t>
            </a:r>
          </a:p>
          <a:p>
            <a:pPr lvl="3" eaLnBrk="0" fontAlgn="base" hangingPunct="0">
              <a:spcBef>
                <a:spcPct val="0"/>
              </a:spcBef>
              <a:spcAft>
                <a:spcPct val="0"/>
              </a:spcAf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Learns shapes</a:t>
            </a:r>
          </a:p>
          <a:p>
            <a:pPr lvl="3" eaLnBrk="0" fontAlgn="base" hangingPunct="0">
              <a:spcBef>
                <a:spcPct val="0"/>
              </a:spcBef>
              <a:spcAft>
                <a:spcPct val="0"/>
              </a:spcAft>
            </a:pPr>
            <a:endParaRPr kumimoji="0" lang="en-US" sz="2400" b="0" i="0" u="none" strike="noStrike" cap="none" normalizeH="0" baseline="0" dirty="0" smtClean="0">
              <a:ln>
                <a:noFill/>
              </a:ln>
              <a:solidFill>
                <a:schemeClr val="tx1"/>
              </a:solidFill>
              <a:effectLst/>
              <a:latin typeface="Times New Roman" pitchFamily="18" charset="0"/>
              <a:cs typeface="Times New Roman" pitchFamily="18" charset="0"/>
            </a:endParaRPr>
          </a:p>
          <a:p>
            <a:pPr lvl="3" eaLnBrk="0" fontAlgn="base" hangingPunct="0">
              <a:spcBef>
                <a:spcPct val="0"/>
              </a:spcBef>
              <a:spcAft>
                <a:spcPct val="0"/>
              </a:spcAf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a:t>
            </a:r>
          </a:p>
          <a:p>
            <a:pPr lvl="3" eaLnBrk="0" fontAlgn="base" hangingPunct="0">
              <a:spcBef>
                <a:spcPct val="0"/>
              </a:spcBef>
              <a:spcAft>
                <a:spcPct val="0"/>
              </a:spcAft>
            </a:pPr>
            <a:r>
              <a:rPr kumimoji="0" lang="en-US" sz="2400" b="1" i="0" u="none" strike="noStrike" cap="none" normalizeH="0" baseline="0" dirty="0" smtClean="0">
                <a:ln>
                  <a:noFill/>
                </a:ln>
                <a:solidFill>
                  <a:schemeClr val="tx1"/>
                </a:solidFill>
                <a:effectLst/>
                <a:latin typeface="Times New Roman" pitchFamily="18" charset="0"/>
                <a:cs typeface="Times New Roman" pitchFamily="18" charset="0"/>
              </a:rPr>
              <a:t>Layer 4</a:t>
            </a:r>
          </a:p>
          <a:p>
            <a:pPr lvl="3" eaLnBrk="0" fontAlgn="base" hangingPunct="0">
              <a:spcBef>
                <a:spcPct val="0"/>
              </a:spcBef>
              <a:spcAft>
                <a:spcPct val="0"/>
              </a:spcAf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Learns complete object</a:t>
            </a:r>
          </a:p>
          <a:p>
            <a:pPr lvl="3" eaLnBrk="0" fontAlgn="base" hangingPunct="0">
              <a:spcBef>
                <a:spcPct val="0"/>
              </a:spcBef>
              <a:spcAft>
                <a:spcPct val="0"/>
              </a:spcAft>
            </a:pPr>
            <a:endParaRPr kumimoji="0" lang="en-US" sz="24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152400"/>
            <a:ext cx="7943088" cy="6096000"/>
          </a:xfrm>
        </p:spPr>
        <p:txBody>
          <a:bodyPr/>
          <a:lstStyle/>
          <a:p>
            <a:pPr lvl="3" eaLnBrk="0" fontAlgn="base" hangingPunct="0">
              <a:spcBef>
                <a:spcPct val="0"/>
              </a:spcBef>
              <a:spcAft>
                <a:spcPct val="0"/>
              </a:spcAft>
              <a:buNone/>
            </a:pPr>
            <a:r>
              <a:rPr lang="en-US" sz="2400" b="1" dirty="0" smtClean="0">
                <a:latin typeface="Times New Roman" pitchFamily="18" charset="0"/>
                <a:cs typeface="Times New Roman" pitchFamily="18" charset="0"/>
              </a:rPr>
              <a:t>Example</a:t>
            </a:r>
          </a:p>
          <a:p>
            <a:pPr lvl="3" eaLnBrk="0" fontAlgn="base" hangingPunct="0">
              <a:spcBef>
                <a:spcPct val="0"/>
              </a:spcBef>
              <a:spcAft>
                <a:spcPct val="0"/>
              </a:spcAft>
              <a:buNone/>
            </a:pPr>
            <a:endParaRPr lang="en-US" sz="2400" dirty="0" smtClean="0">
              <a:latin typeface="Times New Roman" pitchFamily="18" charset="0"/>
              <a:cs typeface="Times New Roman" pitchFamily="18" charset="0"/>
            </a:endParaRPr>
          </a:p>
          <a:p>
            <a:pPr lvl="3" eaLnBrk="0" fontAlgn="base" hangingPunct="0">
              <a:spcBef>
                <a:spcPct val="0"/>
              </a:spcBef>
              <a:spcAft>
                <a:spcPct val="0"/>
              </a:spcAft>
              <a:buNone/>
            </a:pPr>
            <a:r>
              <a:rPr lang="en-US" sz="2400" dirty="0" smtClean="0">
                <a:latin typeface="Times New Roman" pitchFamily="18" charset="0"/>
                <a:cs typeface="Times New Roman" pitchFamily="18" charset="0"/>
              </a:rPr>
              <a:t>Image </a:t>
            </a:r>
          </a:p>
          <a:p>
            <a:pPr lvl="3" eaLnBrk="0" fontAlgn="base" hangingPunct="0">
              <a:spcBef>
                <a:spcPct val="0"/>
              </a:spcBef>
              <a:spcAft>
                <a:spcPct val="0"/>
              </a:spcAft>
              <a:buNone/>
            </a:pPr>
            <a:r>
              <a:rPr lang="en-US" sz="2400" dirty="0" smtClean="0">
                <a:latin typeface="Times New Roman" pitchFamily="18" charset="0"/>
                <a:cs typeface="Times New Roman" pitchFamily="18" charset="0"/>
              </a:rPr>
              <a:t>↓ </a:t>
            </a:r>
          </a:p>
          <a:p>
            <a:pPr lvl="3" eaLnBrk="0" fontAlgn="base" hangingPunct="0">
              <a:spcBef>
                <a:spcPct val="0"/>
              </a:spcBef>
              <a:spcAft>
                <a:spcPct val="0"/>
              </a:spcAft>
              <a:buNone/>
            </a:pPr>
            <a:r>
              <a:rPr lang="en-US" sz="2400" dirty="0" smtClean="0">
                <a:latin typeface="Times New Roman" pitchFamily="18" charset="0"/>
                <a:cs typeface="Times New Roman" pitchFamily="18" charset="0"/>
              </a:rPr>
              <a:t>Edges</a:t>
            </a:r>
          </a:p>
          <a:p>
            <a:pPr lvl="3" eaLnBrk="0" fontAlgn="base" hangingPunct="0">
              <a:spcBef>
                <a:spcPct val="0"/>
              </a:spcBef>
              <a:spcAft>
                <a:spcPct val="0"/>
              </a:spcAft>
              <a:buNone/>
            </a:pPr>
            <a:r>
              <a:rPr lang="en-US" sz="2400" dirty="0" smtClean="0">
                <a:latin typeface="Times New Roman" pitchFamily="18" charset="0"/>
                <a:cs typeface="Times New Roman" pitchFamily="18" charset="0"/>
              </a:rPr>
              <a:t> ↓ </a:t>
            </a:r>
          </a:p>
          <a:p>
            <a:pPr lvl="3" eaLnBrk="0" fontAlgn="base" hangingPunct="0">
              <a:spcBef>
                <a:spcPct val="0"/>
              </a:spcBef>
              <a:spcAft>
                <a:spcPct val="0"/>
              </a:spcAft>
              <a:buNone/>
            </a:pPr>
            <a:r>
              <a:rPr lang="en-US" sz="2400" dirty="0" smtClean="0">
                <a:latin typeface="Times New Roman" pitchFamily="18" charset="0"/>
                <a:cs typeface="Times New Roman" pitchFamily="18" charset="0"/>
              </a:rPr>
              <a:t>Eyes </a:t>
            </a:r>
          </a:p>
          <a:p>
            <a:pPr lvl="3" eaLnBrk="0" fontAlgn="base" hangingPunct="0">
              <a:spcBef>
                <a:spcPct val="0"/>
              </a:spcBef>
              <a:spcAft>
                <a:spcPct val="0"/>
              </a:spcAft>
              <a:buNone/>
            </a:pPr>
            <a:r>
              <a:rPr lang="en-US" sz="2400" dirty="0" smtClean="0">
                <a:latin typeface="Times New Roman" pitchFamily="18" charset="0"/>
                <a:cs typeface="Times New Roman" pitchFamily="18" charset="0"/>
              </a:rPr>
              <a:t>↓ </a:t>
            </a:r>
          </a:p>
          <a:p>
            <a:pPr lvl="3" eaLnBrk="0" fontAlgn="base" hangingPunct="0">
              <a:spcBef>
                <a:spcPct val="0"/>
              </a:spcBef>
              <a:spcAft>
                <a:spcPct val="0"/>
              </a:spcAft>
              <a:buNone/>
            </a:pPr>
            <a:r>
              <a:rPr lang="en-US" sz="2400" dirty="0" smtClean="0">
                <a:latin typeface="Times New Roman" pitchFamily="18" charset="0"/>
                <a:cs typeface="Times New Roman" pitchFamily="18" charset="0"/>
              </a:rPr>
              <a:t>Face </a:t>
            </a:r>
          </a:p>
          <a:p>
            <a:pPr lvl="3" eaLnBrk="0" fontAlgn="base" hangingPunct="0">
              <a:spcBef>
                <a:spcPct val="0"/>
              </a:spcBef>
              <a:spcAft>
                <a:spcPct val="0"/>
              </a:spcAft>
              <a:buNone/>
            </a:pPr>
            <a:r>
              <a:rPr lang="en-US" sz="2400" dirty="0" smtClean="0">
                <a:latin typeface="Times New Roman" pitchFamily="18" charset="0"/>
                <a:cs typeface="Times New Roman" pitchFamily="18" charset="0"/>
              </a:rPr>
              <a:t>↓ </a:t>
            </a:r>
          </a:p>
          <a:p>
            <a:pPr lvl="3" eaLnBrk="0" fontAlgn="base" hangingPunct="0">
              <a:spcBef>
                <a:spcPct val="0"/>
              </a:spcBef>
              <a:spcAft>
                <a:spcPct val="0"/>
              </a:spcAft>
              <a:buNone/>
            </a:pPr>
            <a:r>
              <a:rPr lang="en-US" sz="2400" dirty="0" smtClean="0">
                <a:latin typeface="Times New Roman" pitchFamily="18" charset="0"/>
                <a:cs typeface="Times New Roman" pitchFamily="18" charset="0"/>
              </a:rPr>
              <a:t>Person</a:t>
            </a:r>
          </a:p>
          <a:p>
            <a:pPr>
              <a:buNone/>
            </a:pPr>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1"/>
          <p:cNvSpPr>
            <a:spLocks noChangeArrowheads="1"/>
          </p:cNvSpPr>
          <p:nvPr/>
        </p:nvSpPr>
        <p:spPr bwMode="auto">
          <a:xfrm>
            <a:off x="990600" y="239932"/>
            <a:ext cx="8153400" cy="575542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800" b="1" i="0" u="none" strike="noStrike" cap="none" normalizeH="0" baseline="0" dirty="0" smtClean="0">
                <a:ln>
                  <a:noFill/>
                </a:ln>
                <a:solidFill>
                  <a:schemeClr val="tx1"/>
                </a:solidFill>
                <a:effectLst/>
                <a:latin typeface="Times New Roman" pitchFamily="18" charset="0"/>
                <a:cs typeface="Times New Roman" pitchFamily="18" charset="0"/>
              </a:rPr>
              <a:t>Slide 8 – Forward Propagation</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dirty="0" smtClean="0">
              <a:ln>
                <a:noFill/>
              </a:ln>
              <a:solidFill>
                <a:schemeClr val="tx1"/>
              </a:solidFill>
              <a:effectLst/>
              <a:latin typeface="Times New Roman" pitchFamily="18" charset="0"/>
              <a:cs typeface="Times New Roman" pitchFamily="18" charset="0"/>
            </a:endParaRPr>
          </a:p>
          <a:p>
            <a:pPr lvl="2" eaLnBrk="0" fontAlgn="base" hangingPunct="0">
              <a:spcBef>
                <a:spcPct val="0"/>
              </a:spcBef>
              <a:spcAft>
                <a:spcPct val="0"/>
              </a:spcAf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Input </a:t>
            </a:r>
          </a:p>
          <a:p>
            <a:pPr lvl="2" eaLnBrk="0" fontAlgn="base" hangingPunct="0">
              <a:spcBef>
                <a:spcPct val="0"/>
              </a:spcBef>
              <a:spcAft>
                <a:spcPct val="0"/>
              </a:spcAf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 </a:t>
            </a:r>
          </a:p>
          <a:p>
            <a:pPr lvl="2" eaLnBrk="0" fontAlgn="base" hangingPunct="0">
              <a:spcBef>
                <a:spcPct val="0"/>
              </a:spcBef>
              <a:spcAft>
                <a:spcPct val="0"/>
              </a:spcAf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Layer 1 </a:t>
            </a:r>
          </a:p>
          <a:p>
            <a:pPr lvl="2" eaLnBrk="0" fontAlgn="base" hangingPunct="0">
              <a:spcBef>
                <a:spcPct val="0"/>
              </a:spcBef>
              <a:spcAft>
                <a:spcPct val="0"/>
              </a:spcAf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 </a:t>
            </a:r>
          </a:p>
          <a:p>
            <a:pPr lvl="2" eaLnBrk="0" fontAlgn="base" hangingPunct="0">
              <a:spcBef>
                <a:spcPct val="0"/>
              </a:spcBef>
              <a:spcAft>
                <a:spcPct val="0"/>
              </a:spcAf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Layer 2 </a:t>
            </a:r>
          </a:p>
          <a:p>
            <a:pPr lvl="2" eaLnBrk="0" fontAlgn="base" hangingPunct="0">
              <a:spcBef>
                <a:spcPct val="0"/>
              </a:spcBef>
              <a:spcAft>
                <a:spcPct val="0"/>
              </a:spcAf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a:t>
            </a:r>
          </a:p>
          <a:p>
            <a:pPr lvl="2" eaLnBrk="0" fontAlgn="base" hangingPunct="0">
              <a:spcBef>
                <a:spcPct val="0"/>
              </a:spcBef>
              <a:spcAft>
                <a:spcPct val="0"/>
              </a:spcAf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 Layer 3 </a:t>
            </a:r>
          </a:p>
          <a:p>
            <a:pPr lvl="2" eaLnBrk="0" fontAlgn="base" hangingPunct="0">
              <a:spcBef>
                <a:spcPct val="0"/>
              </a:spcBef>
              <a:spcAft>
                <a:spcPct val="0"/>
              </a:spcAf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a:t>
            </a:r>
          </a:p>
          <a:p>
            <a:pPr lvl="2" eaLnBrk="0" fontAlgn="base" hangingPunct="0">
              <a:spcBef>
                <a:spcPct val="0"/>
              </a:spcBef>
              <a:spcAft>
                <a:spcPct val="0"/>
              </a:spcAf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 Prediction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dirty="0" smtClean="0">
                <a:ln>
                  <a:noFill/>
                </a:ln>
                <a:solidFill>
                  <a:schemeClr val="tx1"/>
                </a:solidFill>
                <a:effectLst/>
                <a:latin typeface="Times New Roman" pitchFamily="18" charset="0"/>
                <a:cs typeface="Times New Roman" pitchFamily="18" charset="0"/>
              </a:rPr>
              <a:t>Definition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i="0" u="none" strike="noStrike" cap="none" normalizeH="0" baseline="0" dirty="0" smtClean="0">
                <a:ln>
                  <a:noFill/>
                </a:ln>
                <a:solidFill>
                  <a:schemeClr val="tx1"/>
                </a:solidFill>
                <a:effectLst/>
                <a:latin typeface="Times New Roman" pitchFamily="18" charset="0"/>
                <a:cs typeface="Times New Roman" pitchFamily="18" charset="0"/>
              </a:rPr>
              <a:t>	Forward propagation is the process where data flows from input to output to generate a prediction</a:t>
            </a:r>
            <a:r>
              <a:rPr kumimoji="0" lang="en-US" sz="2800" i="0" u="none" strike="noStrike" cap="none" normalizeH="0" baseline="0" dirty="0" smtClean="0">
                <a:ln>
                  <a:noFill/>
                </a:ln>
                <a:solidFill>
                  <a:schemeClr val="tx1"/>
                </a:solidFill>
                <a:effectLst/>
                <a:latin typeface="Times New Roman" pitchFamily="18" charset="0"/>
                <a:cs typeface="Times New Roman" pitchFamily="18" charset="0"/>
              </a:rPr>
              <a:t>.</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Understanding Forward and Backward Propagation in Neural Networks"/>
          <p:cNvPicPr>
            <a:picLocks noChangeAspect="1" noChangeArrowheads="1"/>
          </p:cNvPicPr>
          <p:nvPr/>
        </p:nvPicPr>
        <p:blipFill>
          <a:blip r:embed="rId2" cstate="print"/>
          <a:srcRect/>
          <a:stretch>
            <a:fillRect/>
          </a:stretch>
        </p:blipFill>
        <p:spPr bwMode="auto">
          <a:xfrm>
            <a:off x="0" y="609600"/>
            <a:ext cx="9088126" cy="5410200"/>
          </a:xfrm>
          <a:prstGeom prst="rect">
            <a:avLst/>
          </a:prstGeom>
          <a:noFill/>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90600" y="0"/>
            <a:ext cx="8153400" cy="6494085"/>
          </a:xfrm>
          <a:prstGeom prst="rect">
            <a:avLst/>
          </a:prstGeom>
        </p:spPr>
        <p:txBody>
          <a:bodyPr wrap="square">
            <a:spAutoFit/>
          </a:bodyPr>
          <a:lstStyle/>
          <a:p>
            <a:r>
              <a:rPr lang="en-US" sz="2800" b="1" u="sng" dirty="0" smtClean="0">
                <a:latin typeface="Times New Roman" pitchFamily="18" charset="0"/>
                <a:cs typeface="Times New Roman" pitchFamily="18" charset="0"/>
              </a:rPr>
              <a:t>Slide 9 – Loss Function</a:t>
            </a:r>
          </a:p>
          <a:p>
            <a:endParaRPr lang="en-US" sz="2800" b="1" u="sng" dirty="0" smtClean="0">
              <a:latin typeface="Times New Roman" pitchFamily="18" charset="0"/>
              <a:cs typeface="Times New Roman" pitchFamily="18" charset="0"/>
            </a:endParaRPr>
          </a:p>
          <a:p>
            <a:pPr lvl="2"/>
            <a:r>
              <a:rPr lang="en-US" sz="2400" b="1" dirty="0" smtClean="0">
                <a:latin typeface="Times New Roman" pitchFamily="18" charset="0"/>
                <a:cs typeface="Times New Roman" pitchFamily="18" charset="0"/>
              </a:rPr>
              <a:t>Prediction</a:t>
            </a:r>
          </a:p>
          <a:p>
            <a:pPr lvl="2"/>
            <a:r>
              <a:rPr lang="en-US" sz="2400" b="1" dirty="0" smtClean="0">
                <a:latin typeface="Times New Roman" pitchFamily="18" charset="0"/>
                <a:cs typeface="Times New Roman" pitchFamily="18" charset="0"/>
              </a:rPr>
              <a:t>↓</a:t>
            </a:r>
          </a:p>
          <a:p>
            <a:pPr lvl="2"/>
            <a:r>
              <a:rPr lang="en-US" sz="2400" b="1" dirty="0" smtClean="0">
                <a:latin typeface="Times New Roman" pitchFamily="18" charset="0"/>
                <a:cs typeface="Times New Roman" pitchFamily="18" charset="0"/>
              </a:rPr>
              <a:t>Compare with Actual</a:t>
            </a:r>
          </a:p>
          <a:p>
            <a:pPr lvl="2"/>
            <a:r>
              <a:rPr lang="en-US" sz="2400" b="1" dirty="0" smtClean="0">
                <a:latin typeface="Times New Roman" pitchFamily="18" charset="0"/>
                <a:cs typeface="Times New Roman" pitchFamily="18" charset="0"/>
              </a:rPr>
              <a:t>↓</a:t>
            </a:r>
          </a:p>
          <a:p>
            <a:pPr lvl="2"/>
            <a:r>
              <a:rPr lang="en-US" sz="2400" b="1" dirty="0" smtClean="0">
                <a:latin typeface="Times New Roman" pitchFamily="18" charset="0"/>
                <a:cs typeface="Times New Roman" pitchFamily="18" charset="0"/>
              </a:rPr>
              <a:t>Calculate Error</a:t>
            </a:r>
          </a:p>
          <a:p>
            <a:r>
              <a:rPr lang="en-US" sz="2400" dirty="0" smtClean="0">
                <a:latin typeface="Times New Roman" pitchFamily="18" charset="0"/>
                <a:cs typeface="Times New Roman" pitchFamily="18" charset="0"/>
              </a:rPr>
              <a:t>Example</a:t>
            </a:r>
          </a:p>
          <a:p>
            <a:pPr lvl="2"/>
            <a:r>
              <a:rPr lang="en-US" sz="2400" dirty="0" smtClean="0">
                <a:latin typeface="Times New Roman" pitchFamily="18" charset="0"/>
                <a:cs typeface="Times New Roman" pitchFamily="18" charset="0"/>
              </a:rPr>
              <a:t>Predicted:- Dog</a:t>
            </a:r>
          </a:p>
          <a:p>
            <a:pPr lvl="2"/>
            <a:r>
              <a:rPr lang="en-US" sz="2400" dirty="0" smtClean="0">
                <a:latin typeface="Times New Roman" pitchFamily="18" charset="0"/>
                <a:cs typeface="Times New Roman" pitchFamily="18" charset="0"/>
              </a:rPr>
              <a:t>Actual:- Cat</a:t>
            </a:r>
          </a:p>
          <a:p>
            <a:pPr lvl="2"/>
            <a:r>
              <a:rPr lang="en-US" sz="2400" dirty="0" smtClean="0">
                <a:latin typeface="Times New Roman" pitchFamily="18" charset="0"/>
                <a:cs typeface="Times New Roman" pitchFamily="18" charset="0"/>
              </a:rPr>
              <a:t>↓</a:t>
            </a:r>
          </a:p>
          <a:p>
            <a:pPr lvl="2"/>
            <a:r>
              <a:rPr lang="en-US" sz="2400" dirty="0" smtClean="0">
                <a:latin typeface="Times New Roman" pitchFamily="18" charset="0"/>
                <a:cs typeface="Times New Roman" pitchFamily="18" charset="0"/>
              </a:rPr>
              <a:t>High Error</a:t>
            </a:r>
          </a:p>
          <a:p>
            <a:endParaRPr lang="en-US" sz="2400" dirty="0" smtClean="0">
              <a:latin typeface="Times New Roman" pitchFamily="18" charset="0"/>
              <a:cs typeface="Times New Roman" pitchFamily="18" charset="0"/>
            </a:endParaRPr>
          </a:p>
          <a:p>
            <a:r>
              <a:rPr lang="en-US" sz="2400" b="1" dirty="0" smtClean="0">
                <a:latin typeface="Times New Roman" pitchFamily="18" charset="0"/>
                <a:cs typeface="Times New Roman" pitchFamily="18" charset="0"/>
              </a:rPr>
              <a:t>Loss measures how wrong the prediction is using methods like:- </a:t>
            </a:r>
          </a:p>
          <a:p>
            <a:pPr>
              <a:buFont typeface="Arial" pitchFamily="34" charset="0"/>
              <a:buChar char="•"/>
            </a:pPr>
            <a:r>
              <a:rPr lang="en-US" sz="2400" b="1" dirty="0" smtClean="0">
                <a:latin typeface="Times New Roman" pitchFamily="18" charset="0"/>
                <a:cs typeface="Times New Roman" pitchFamily="18" charset="0"/>
              </a:rPr>
              <a:t>Mean Squared Error </a:t>
            </a:r>
          </a:p>
          <a:p>
            <a:pPr>
              <a:buFont typeface="Arial" pitchFamily="34" charset="0"/>
              <a:buChar char="•"/>
            </a:pPr>
            <a:r>
              <a:rPr lang="en-US" sz="2400" b="1" dirty="0" smtClean="0">
                <a:latin typeface="Times New Roman" pitchFamily="18" charset="0"/>
                <a:cs typeface="Times New Roman" pitchFamily="18" charset="0"/>
              </a:rPr>
              <a:t>Cross Entropy </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1"/>
          <p:cNvSpPr>
            <a:spLocks noChangeArrowheads="1"/>
          </p:cNvSpPr>
          <p:nvPr/>
        </p:nvSpPr>
        <p:spPr bwMode="auto">
          <a:xfrm>
            <a:off x="0" y="171584"/>
            <a:ext cx="9144000" cy="643253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800" b="1" i="0" strike="noStrike" cap="none" normalizeH="0" baseline="0" dirty="0" smtClean="0">
                <a:ln>
                  <a:noFill/>
                </a:ln>
                <a:solidFill>
                  <a:schemeClr val="tx1"/>
                </a:solidFill>
                <a:effectLst/>
                <a:latin typeface="Times New Roman" pitchFamily="18" charset="0"/>
                <a:cs typeface="Times New Roman" pitchFamily="18" charset="0"/>
              </a:rPr>
              <a:t>	</a:t>
            </a:r>
            <a:r>
              <a:rPr kumimoji="0" lang="en-US" sz="2800" b="1" i="0" u="sng" strike="noStrike" cap="none" normalizeH="0" baseline="0" dirty="0" smtClean="0">
                <a:ln>
                  <a:noFill/>
                </a:ln>
                <a:solidFill>
                  <a:schemeClr val="tx1"/>
                </a:solidFill>
                <a:effectLst/>
                <a:latin typeface="Times New Roman" pitchFamily="18" charset="0"/>
                <a:cs typeface="Times New Roman" pitchFamily="18" charset="0"/>
              </a:rPr>
              <a:t>Backpropagation</a:t>
            </a:r>
          </a:p>
          <a:p>
            <a:pPr lvl="4" eaLnBrk="0" fontAlgn="base" hangingPunct="0">
              <a:spcBef>
                <a:spcPct val="0"/>
              </a:spcBef>
              <a:spcAft>
                <a:spcPct val="0"/>
              </a:spcAf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Prediction </a:t>
            </a:r>
          </a:p>
          <a:p>
            <a:pPr lvl="4" eaLnBrk="0" fontAlgn="base" hangingPunct="0">
              <a:spcBef>
                <a:spcPct val="0"/>
              </a:spcBef>
              <a:spcAft>
                <a:spcPct val="0"/>
              </a:spcAf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a:t>
            </a:r>
          </a:p>
          <a:p>
            <a:pPr lvl="4" eaLnBrk="0" fontAlgn="base" hangingPunct="0">
              <a:spcBef>
                <a:spcPct val="0"/>
              </a:spcBef>
              <a:spcAft>
                <a:spcPct val="0"/>
              </a:spcAf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 Loss </a:t>
            </a:r>
          </a:p>
          <a:p>
            <a:pPr lvl="4" eaLnBrk="0" fontAlgn="base" hangingPunct="0">
              <a:spcBef>
                <a:spcPct val="0"/>
              </a:spcBef>
              <a:spcAft>
                <a:spcPct val="0"/>
              </a:spcAf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a:t>
            </a:r>
          </a:p>
          <a:p>
            <a:pPr lvl="4" eaLnBrk="0" fontAlgn="base" hangingPunct="0">
              <a:spcBef>
                <a:spcPct val="0"/>
              </a:spcBef>
              <a:spcAft>
                <a:spcPct val="0"/>
              </a:spcAf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 Backpropagation </a:t>
            </a:r>
          </a:p>
          <a:p>
            <a:pPr lvl="4" eaLnBrk="0" fontAlgn="base" hangingPunct="0">
              <a:spcBef>
                <a:spcPct val="0"/>
              </a:spcBef>
              <a:spcAft>
                <a:spcPct val="0"/>
              </a:spcAf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 </a:t>
            </a:r>
          </a:p>
          <a:p>
            <a:pPr lvl="4" eaLnBrk="0" fontAlgn="base" hangingPunct="0">
              <a:spcBef>
                <a:spcPct val="0"/>
              </a:spcBef>
              <a:spcAft>
                <a:spcPct val="0"/>
              </a:spcAf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Update Weights </a:t>
            </a:r>
          </a:p>
          <a:p>
            <a:pPr lvl="4" eaLnBrk="0" fontAlgn="base" hangingPunct="0">
              <a:spcBef>
                <a:spcPct val="0"/>
              </a:spcBef>
              <a:spcAft>
                <a:spcPct val="0"/>
              </a:spcAf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 </a:t>
            </a:r>
          </a:p>
          <a:p>
            <a:pPr lvl="4" eaLnBrk="0" fontAlgn="base" hangingPunct="0">
              <a:spcBef>
                <a:spcPct val="0"/>
              </a:spcBef>
              <a:spcAft>
                <a:spcPct val="0"/>
              </a:spcAf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Better Prediction</a:t>
            </a:r>
          </a:p>
          <a:p>
            <a:pPr lvl="4" eaLnBrk="0" fontAlgn="base" hangingPunct="0">
              <a:spcBef>
                <a:spcPct val="0"/>
              </a:spcBef>
              <a:spcAft>
                <a:spcPct val="0"/>
              </a:spcAft>
            </a:pPr>
            <a:endParaRPr kumimoji="0" lang="en-US" sz="24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dirty="0" smtClean="0">
                <a:ln>
                  <a:noFill/>
                </a:ln>
                <a:solidFill>
                  <a:schemeClr val="tx1"/>
                </a:solidFill>
                <a:effectLst/>
                <a:latin typeface="Times New Roman" pitchFamily="18" charset="0"/>
                <a:cs typeface="Times New Roman" pitchFamily="18" charset="0"/>
              </a:rPr>
              <a:t>	Definition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		Backpropagation updates network weights to minimize 	prediction error.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Times New Roman" pitchFamily="18" charset="0"/>
              <a:cs typeface="Times New Roman" pitchFamily="18" charset="0"/>
            </a:endParaRPr>
          </a:p>
          <a:p>
            <a:pPr lvl="2" eaLnBrk="0" fontAlgn="base" hangingPunct="0">
              <a:spcBef>
                <a:spcPct val="0"/>
              </a:spcBef>
              <a:spcAft>
                <a:spcPct val="0"/>
              </a:spcAf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Example:- </a:t>
            </a:r>
          </a:p>
          <a:p>
            <a:pPr lvl="2" eaLnBrk="0" fontAlgn="base" hangingPunct="0">
              <a:spcBef>
                <a:spcPct val="0"/>
              </a:spcBef>
              <a:spcAft>
                <a:spcPct val="0"/>
              </a:spcAf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Learning</a:t>
            </a:r>
            <a:r>
              <a:rPr kumimoji="0" lang="en-US" sz="2400" b="0" i="0" u="none" strike="noStrike" cap="none" normalizeH="0" dirty="0" smtClean="0">
                <a:ln>
                  <a:noFill/>
                </a:ln>
                <a:solidFill>
                  <a:schemeClr val="tx1"/>
                </a:solidFill>
                <a:effectLst/>
                <a:latin typeface="Times New Roman" pitchFamily="18" charset="0"/>
                <a:cs typeface="Times New Roman" pitchFamily="18" charset="0"/>
              </a:rPr>
              <a:t> </a:t>
            </a: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a:t>
            </a:r>
            <a:r>
              <a:rPr lang="en-US" sz="2400" dirty="0" smtClean="0">
                <a:latin typeface="Times New Roman" pitchFamily="18" charset="0"/>
                <a:cs typeface="Times New Roman" pitchFamily="18" charset="0"/>
              </a:rPr>
              <a:t> </a:t>
            </a: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Repeated correction</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1"/>
          <p:cNvSpPr>
            <a:spLocks noChangeArrowheads="1"/>
          </p:cNvSpPr>
          <p:nvPr/>
        </p:nvSpPr>
        <p:spPr bwMode="auto">
          <a:xfrm>
            <a:off x="0" y="209904"/>
            <a:ext cx="8991600" cy="618630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2" fontAlgn="base">
              <a:spcBef>
                <a:spcPct val="0"/>
              </a:spcBef>
              <a:spcAft>
                <a:spcPct val="0"/>
              </a:spcAft>
            </a:pPr>
            <a:r>
              <a:rPr kumimoji="0" lang="en-US" sz="2800" b="1" i="0" u="sng" strike="noStrike" cap="none" normalizeH="0" baseline="0" dirty="0" smtClean="0">
                <a:ln>
                  <a:noFill/>
                </a:ln>
                <a:solidFill>
                  <a:schemeClr val="tx1"/>
                </a:solidFill>
                <a:effectLst/>
                <a:latin typeface="Times New Roman" pitchFamily="18" charset="0"/>
                <a:cs typeface="Times New Roman" pitchFamily="18" charset="0"/>
              </a:rPr>
              <a:t>Slide 11 – Training Process</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2800" b="1" i="0" u="sng"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2800" b="1" i="0" u="sng" strike="noStrike" cap="none" normalizeH="0" baseline="0" dirty="0" smtClean="0">
              <a:ln>
                <a:noFill/>
              </a:ln>
              <a:solidFill>
                <a:schemeClr val="tx1"/>
              </a:solidFill>
              <a:effectLst/>
              <a:latin typeface="Times New Roman" pitchFamily="18" charset="0"/>
              <a:cs typeface="Times New Roman" pitchFamily="18" charset="0"/>
            </a:endParaRPr>
          </a:p>
          <a:p>
            <a:pPr lvl="4" eaLnBrk="0" fontAlgn="base" hangingPunct="0">
              <a:spcBef>
                <a:spcPct val="0"/>
              </a:spcBef>
              <a:spcAft>
                <a:spcPct val="0"/>
              </a:spcAf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Dataset </a:t>
            </a:r>
          </a:p>
          <a:p>
            <a:pPr lvl="4" eaLnBrk="0" fontAlgn="base" hangingPunct="0">
              <a:spcBef>
                <a:spcPct val="0"/>
              </a:spcBef>
              <a:spcAft>
                <a:spcPct val="0"/>
              </a:spcAf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a:t>
            </a:r>
          </a:p>
          <a:p>
            <a:pPr lvl="4" eaLnBrk="0" fontAlgn="base" hangingPunct="0">
              <a:spcBef>
                <a:spcPct val="0"/>
              </a:spcBef>
              <a:spcAft>
                <a:spcPct val="0"/>
              </a:spcAf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 Forward Pass </a:t>
            </a:r>
          </a:p>
          <a:p>
            <a:pPr lvl="4" eaLnBrk="0" fontAlgn="base" hangingPunct="0">
              <a:spcBef>
                <a:spcPct val="0"/>
              </a:spcBef>
              <a:spcAft>
                <a:spcPct val="0"/>
              </a:spcAf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 </a:t>
            </a:r>
          </a:p>
          <a:p>
            <a:pPr lvl="4" eaLnBrk="0" fontAlgn="base" hangingPunct="0">
              <a:spcBef>
                <a:spcPct val="0"/>
              </a:spcBef>
              <a:spcAft>
                <a:spcPct val="0"/>
              </a:spcAf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Prediction </a:t>
            </a:r>
          </a:p>
          <a:p>
            <a:pPr lvl="4" eaLnBrk="0" fontAlgn="base" hangingPunct="0">
              <a:spcBef>
                <a:spcPct val="0"/>
              </a:spcBef>
              <a:spcAft>
                <a:spcPct val="0"/>
              </a:spcAf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 </a:t>
            </a:r>
          </a:p>
          <a:p>
            <a:pPr lvl="4" eaLnBrk="0" fontAlgn="base" hangingPunct="0">
              <a:spcBef>
                <a:spcPct val="0"/>
              </a:spcBef>
              <a:spcAft>
                <a:spcPct val="0"/>
              </a:spcAf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Loss </a:t>
            </a:r>
          </a:p>
          <a:p>
            <a:pPr lvl="4" eaLnBrk="0" fontAlgn="base" hangingPunct="0">
              <a:spcBef>
                <a:spcPct val="0"/>
              </a:spcBef>
              <a:spcAft>
                <a:spcPct val="0"/>
              </a:spcAf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 </a:t>
            </a:r>
          </a:p>
          <a:p>
            <a:pPr lvl="4" eaLnBrk="0" fontAlgn="base" hangingPunct="0">
              <a:spcBef>
                <a:spcPct val="0"/>
              </a:spcBef>
              <a:spcAft>
                <a:spcPct val="0"/>
              </a:spcAf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Backpropagation </a:t>
            </a:r>
          </a:p>
          <a:p>
            <a:pPr lvl="4" eaLnBrk="0" fontAlgn="base" hangingPunct="0">
              <a:spcBef>
                <a:spcPct val="0"/>
              </a:spcBef>
              <a:spcAft>
                <a:spcPct val="0"/>
              </a:spcAf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 </a:t>
            </a:r>
          </a:p>
          <a:p>
            <a:pPr lvl="4" eaLnBrk="0" fontAlgn="base" hangingPunct="0">
              <a:spcBef>
                <a:spcPct val="0"/>
              </a:spcBef>
              <a:spcAft>
                <a:spcPct val="0"/>
              </a:spcAf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Update Parameters </a:t>
            </a:r>
          </a:p>
          <a:p>
            <a:pPr lvl="4" eaLnBrk="0" fontAlgn="base" hangingPunct="0">
              <a:spcBef>
                <a:spcPct val="0"/>
              </a:spcBef>
              <a:spcAft>
                <a:spcPct val="0"/>
              </a:spcAf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a:t>
            </a:r>
          </a:p>
          <a:p>
            <a:pPr lvl="4" eaLnBrk="0" fontAlgn="base" hangingPunct="0">
              <a:spcBef>
                <a:spcPct val="0"/>
              </a:spcBef>
              <a:spcAft>
                <a:spcPct val="0"/>
              </a:spcAf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 Repeat</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0"/>
            <a:ext cx="7943088" cy="6705600"/>
          </a:xfrm>
        </p:spPr>
        <p:txBody>
          <a:bodyPr>
            <a:normAutofit/>
          </a:bodyPr>
          <a:lstStyle/>
          <a:p>
            <a:pPr>
              <a:buNone/>
            </a:pPr>
            <a:r>
              <a:rPr lang="en-US" sz="2400" b="1" dirty="0" smtClean="0">
                <a:latin typeface="Times New Roman" pitchFamily="18" charset="0"/>
                <a:cs typeface="Times New Roman" pitchFamily="18" charset="0"/>
              </a:rPr>
              <a:t>Batch: </a:t>
            </a:r>
            <a:r>
              <a:rPr lang="en-US" sz="2400" dirty="0" smtClean="0">
                <a:latin typeface="Times New Roman" pitchFamily="18" charset="0"/>
                <a:cs typeface="Times New Roman" pitchFamily="18" charset="0"/>
              </a:rPr>
              <a:t>A chunk (or group) of data fed into the network simultaneously. Example: If you have 10,000 images and train using subsets of 100 images at a time, the "batch size" is 100. </a:t>
            </a:r>
          </a:p>
          <a:p>
            <a:pPr>
              <a:buNone/>
            </a:pPr>
            <a:endParaRPr lang="en-US" sz="2400" dirty="0" smtClean="0">
              <a:latin typeface="Times New Roman" pitchFamily="18" charset="0"/>
              <a:cs typeface="Times New Roman" pitchFamily="18" charset="0"/>
            </a:endParaRPr>
          </a:p>
          <a:p>
            <a:pPr>
              <a:buNone/>
            </a:pPr>
            <a:r>
              <a:rPr lang="en-US" sz="2400" b="1" dirty="0" smtClean="0">
                <a:latin typeface="Times New Roman" pitchFamily="18" charset="0"/>
                <a:cs typeface="Times New Roman" pitchFamily="18" charset="0"/>
              </a:rPr>
              <a:t>Iteration: </a:t>
            </a:r>
            <a:r>
              <a:rPr lang="en-US" sz="2400" dirty="0" smtClean="0">
                <a:latin typeface="Times New Roman" pitchFamily="18" charset="0"/>
                <a:cs typeface="Times New Roman" pitchFamily="18" charset="0"/>
              </a:rPr>
              <a:t>The number of times a "parameter update" (the loop described above) is performed. Example: If processing 10,000 images in batches of 100, you must repeat the loop 100 times (= 100 iterations) to process all the data.</a:t>
            </a:r>
          </a:p>
          <a:p>
            <a:pPr>
              <a:buNone/>
            </a:pPr>
            <a:endParaRPr lang="en-US" sz="2400" dirty="0" smtClean="0">
              <a:latin typeface="Times New Roman" pitchFamily="18" charset="0"/>
              <a:cs typeface="Times New Roman" pitchFamily="18" charset="0"/>
            </a:endParaRPr>
          </a:p>
          <a:p>
            <a:pPr>
              <a:buNone/>
            </a:pPr>
            <a:r>
              <a:rPr lang="en-US" sz="2400" b="1" dirty="0" smtClean="0">
                <a:latin typeface="Times New Roman" pitchFamily="18" charset="0"/>
                <a:cs typeface="Times New Roman" pitchFamily="18" charset="0"/>
              </a:rPr>
              <a:t> Epoch: </a:t>
            </a:r>
            <a:r>
              <a:rPr lang="en-US" sz="2400" dirty="0" smtClean="0">
                <a:latin typeface="Times New Roman" pitchFamily="18" charset="0"/>
                <a:cs typeface="Times New Roman" pitchFamily="18" charset="0"/>
              </a:rPr>
              <a:t>A unit representing one complete pass through the entire training dataset. Example: Once all 10,000 images have been used (taking 100 iterations), "1 epoch" is complete. To make the model smarter, this process is typically repeated over dozens or hundreds of epochs.</a:t>
            </a:r>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90600" y="0"/>
            <a:ext cx="8153400" cy="5632311"/>
          </a:xfrm>
          <a:prstGeom prst="rect">
            <a:avLst/>
          </a:prstGeom>
        </p:spPr>
        <p:txBody>
          <a:bodyPr wrap="square">
            <a:spAutoFit/>
          </a:bodyPr>
          <a:lstStyle/>
          <a:p>
            <a:r>
              <a:rPr lang="en-US" sz="2400" dirty="0" smtClean="0">
                <a:latin typeface="Times New Roman" pitchFamily="18" charset="0"/>
                <a:cs typeface="Times New Roman" pitchFamily="18" charset="0"/>
              </a:rPr>
              <a:t>Imagine you are preparing for a massive final exam by studying a </a:t>
            </a:r>
            <a:r>
              <a:rPr lang="en-US" sz="2400" b="1" dirty="0" smtClean="0">
                <a:latin typeface="Times New Roman" pitchFamily="18" charset="0"/>
                <a:cs typeface="Times New Roman" pitchFamily="18" charset="0"/>
              </a:rPr>
              <a:t>1,000-page textbook</a:t>
            </a:r>
            <a:r>
              <a:rPr lang="en-US" sz="2400" dirty="0" smtClean="0">
                <a:latin typeface="Times New Roman" pitchFamily="18" charset="0"/>
                <a:cs typeface="Times New Roman" pitchFamily="18" charset="0"/>
              </a:rPr>
              <a:t>.</a:t>
            </a:r>
          </a:p>
          <a:p>
            <a:endParaRPr lang="en-US" sz="2400" dirty="0" smtClean="0">
              <a:latin typeface="Times New Roman" pitchFamily="18" charset="0"/>
              <a:cs typeface="Times New Roman" pitchFamily="18" charset="0"/>
            </a:endParaRPr>
          </a:p>
          <a:p>
            <a:endParaRPr lang="en-US" sz="2400" dirty="0" smtClean="0">
              <a:latin typeface="Times New Roman" pitchFamily="18" charset="0"/>
              <a:cs typeface="Times New Roman" pitchFamily="18" charset="0"/>
            </a:endParaRPr>
          </a:p>
          <a:p>
            <a:r>
              <a:rPr lang="en-US" sz="2400" b="1" dirty="0" smtClean="0">
                <a:latin typeface="Times New Roman" pitchFamily="18" charset="0"/>
                <a:cs typeface="Times New Roman" pitchFamily="18" charset="0"/>
              </a:rPr>
              <a:t>Epoch</a:t>
            </a:r>
            <a:r>
              <a:rPr lang="en-US" sz="2400" dirty="0" smtClean="0">
                <a:latin typeface="Times New Roman" pitchFamily="18" charset="0"/>
                <a:cs typeface="Times New Roman" pitchFamily="18" charset="0"/>
              </a:rPr>
              <a:t>: Reading the </a:t>
            </a:r>
            <a:r>
              <a:rPr lang="en-US" sz="2400" b="1" dirty="0" smtClean="0">
                <a:latin typeface="Times New Roman" pitchFamily="18" charset="0"/>
                <a:cs typeface="Times New Roman" pitchFamily="18" charset="0"/>
              </a:rPr>
              <a:t>entire textbook</a:t>
            </a:r>
            <a:r>
              <a:rPr lang="en-US" sz="2400" dirty="0" smtClean="0">
                <a:latin typeface="Times New Roman" pitchFamily="18" charset="0"/>
                <a:cs typeface="Times New Roman" pitchFamily="18" charset="0"/>
              </a:rPr>
              <a:t> from cover to cover exactly one time.</a:t>
            </a:r>
          </a:p>
          <a:p>
            <a:endParaRPr lang="en-IN" sz="2400" dirty="0" smtClean="0">
              <a:latin typeface="Times New Roman" pitchFamily="18" charset="0"/>
              <a:cs typeface="Times New Roman" pitchFamily="18" charset="0"/>
            </a:endParaRPr>
          </a:p>
          <a:p>
            <a:endParaRPr lang="en-US" sz="2400" dirty="0" smtClean="0">
              <a:latin typeface="Times New Roman" pitchFamily="18" charset="0"/>
              <a:cs typeface="Times New Roman" pitchFamily="18" charset="0"/>
            </a:endParaRPr>
          </a:p>
          <a:p>
            <a:r>
              <a:rPr lang="en-US" sz="2400" b="1" dirty="0" smtClean="0">
                <a:latin typeface="Times New Roman" pitchFamily="18" charset="0"/>
                <a:cs typeface="Times New Roman" pitchFamily="18" charset="0"/>
              </a:rPr>
              <a:t>Batch</a:t>
            </a:r>
            <a:r>
              <a:rPr lang="en-US" sz="2400" dirty="0" smtClean="0">
                <a:latin typeface="Times New Roman" pitchFamily="18" charset="0"/>
                <a:cs typeface="Times New Roman" pitchFamily="18" charset="0"/>
              </a:rPr>
              <a:t>: The </a:t>
            </a:r>
            <a:r>
              <a:rPr lang="en-US" sz="2400" b="1" dirty="0" smtClean="0">
                <a:latin typeface="Times New Roman" pitchFamily="18" charset="0"/>
                <a:cs typeface="Times New Roman" pitchFamily="18" charset="0"/>
              </a:rPr>
              <a:t>number of pages</a:t>
            </a:r>
            <a:r>
              <a:rPr lang="en-US" sz="2400" dirty="0" smtClean="0">
                <a:latin typeface="Times New Roman" pitchFamily="18" charset="0"/>
                <a:cs typeface="Times New Roman" pitchFamily="18" charset="0"/>
              </a:rPr>
              <a:t> you choose to read at a single time before taking a short break (e.g., 100 pages per study session).</a:t>
            </a:r>
          </a:p>
          <a:p>
            <a:endParaRPr lang="en-IN" sz="2400" dirty="0" smtClean="0">
              <a:latin typeface="Times New Roman" pitchFamily="18" charset="0"/>
              <a:cs typeface="Times New Roman" pitchFamily="18" charset="0"/>
            </a:endParaRPr>
          </a:p>
          <a:p>
            <a:endParaRPr lang="en-US" sz="2400" dirty="0" smtClean="0">
              <a:latin typeface="Times New Roman" pitchFamily="18" charset="0"/>
              <a:cs typeface="Times New Roman" pitchFamily="18" charset="0"/>
            </a:endParaRPr>
          </a:p>
          <a:p>
            <a:r>
              <a:rPr lang="en-US" sz="2400" b="1" dirty="0" smtClean="0">
                <a:latin typeface="Times New Roman" pitchFamily="18" charset="0"/>
                <a:cs typeface="Times New Roman" pitchFamily="18" charset="0"/>
              </a:rPr>
              <a:t>Iteration</a:t>
            </a:r>
            <a:r>
              <a:rPr lang="en-US" sz="2400" dirty="0" smtClean="0">
                <a:latin typeface="Times New Roman" pitchFamily="18" charset="0"/>
                <a:cs typeface="Times New Roman" pitchFamily="18" charset="0"/>
              </a:rPr>
              <a:t>: The </a:t>
            </a:r>
            <a:r>
              <a:rPr lang="en-US" sz="2400" b="1" dirty="0" smtClean="0">
                <a:latin typeface="Times New Roman" pitchFamily="18" charset="0"/>
                <a:cs typeface="Times New Roman" pitchFamily="18" charset="0"/>
              </a:rPr>
              <a:t>actual study session</a:t>
            </a:r>
            <a:r>
              <a:rPr lang="en-US" sz="2400" dirty="0" smtClean="0">
                <a:latin typeface="Times New Roman" pitchFamily="18" charset="0"/>
                <a:cs typeface="Times New Roman" pitchFamily="18" charset="0"/>
              </a:rPr>
              <a:t> itself. Every time you finish a batch of 100 pages and pause to think about what you learned, you have completed one iteration. </a:t>
            </a:r>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90600" y="0"/>
            <a:ext cx="8153400" cy="6124754"/>
          </a:xfrm>
          <a:prstGeom prst="rect">
            <a:avLst/>
          </a:prstGeom>
        </p:spPr>
        <p:txBody>
          <a:bodyPr wrap="square">
            <a:spAutoFit/>
          </a:bodyPr>
          <a:lstStyle/>
          <a:p>
            <a:r>
              <a:rPr lang="en-US" sz="2800" b="1" u="sng" dirty="0" smtClean="0">
                <a:latin typeface="Times New Roman" pitchFamily="18" charset="0"/>
                <a:cs typeface="Times New Roman" pitchFamily="18" charset="0"/>
              </a:rPr>
              <a:t>Slide 12 – Activation Functions</a:t>
            </a:r>
          </a:p>
          <a:p>
            <a:endParaRPr lang="en-US" sz="2800" b="1" u="sng" dirty="0" smtClean="0">
              <a:latin typeface="Times New Roman" pitchFamily="18" charset="0"/>
              <a:cs typeface="Times New Roman" pitchFamily="18" charset="0"/>
            </a:endParaRPr>
          </a:p>
          <a:p>
            <a:r>
              <a:rPr lang="en-US" sz="2400" b="1" dirty="0" smtClean="0">
                <a:latin typeface="Times New Roman" pitchFamily="18" charset="0"/>
                <a:cs typeface="Times New Roman" pitchFamily="18" charset="0"/>
              </a:rPr>
              <a:t>Purpose</a:t>
            </a:r>
          </a:p>
          <a:p>
            <a:r>
              <a:rPr lang="en-US" sz="2400" dirty="0" smtClean="0">
                <a:latin typeface="Times New Roman" pitchFamily="18" charset="0"/>
                <a:cs typeface="Times New Roman" pitchFamily="18" charset="0"/>
              </a:rPr>
              <a:t>	Introduce non-linearity. Activation functions introduce non-linearity. They bend, curve, and twist the data graph. This allows the AI to learn complex, wavy, and intricate patterns.</a:t>
            </a:r>
          </a:p>
          <a:p>
            <a:endParaRPr lang="en-US" sz="2400" dirty="0" smtClean="0">
              <a:latin typeface="Times New Roman" pitchFamily="18" charset="0"/>
              <a:cs typeface="Times New Roman" pitchFamily="18" charset="0"/>
            </a:endParaRPr>
          </a:p>
          <a:p>
            <a:r>
              <a:rPr lang="en-US" sz="2400" b="1" dirty="0" smtClean="0">
                <a:latin typeface="Times New Roman" pitchFamily="18" charset="0"/>
                <a:cs typeface="Times New Roman" pitchFamily="18" charset="0"/>
              </a:rPr>
              <a:t>Types</a:t>
            </a:r>
          </a:p>
          <a:p>
            <a:pPr lvl="1"/>
            <a:r>
              <a:rPr lang="en-US" sz="2400" dirty="0" smtClean="0">
                <a:latin typeface="Times New Roman" pitchFamily="18" charset="0"/>
                <a:cs typeface="Times New Roman" pitchFamily="18" charset="0"/>
              </a:rPr>
              <a:t>Sigmoid </a:t>
            </a:r>
          </a:p>
          <a:p>
            <a:pPr lvl="1"/>
            <a:r>
              <a:rPr lang="en-US" sz="2400" dirty="0" err="1" smtClean="0">
                <a:latin typeface="Times New Roman" pitchFamily="18" charset="0"/>
                <a:cs typeface="Times New Roman" pitchFamily="18" charset="0"/>
              </a:rPr>
              <a:t>ReLU</a:t>
            </a:r>
            <a:r>
              <a:rPr lang="en-US" sz="2400" dirty="0" smtClean="0">
                <a:latin typeface="Times New Roman" pitchFamily="18" charset="0"/>
                <a:cs typeface="Times New Roman" pitchFamily="18" charset="0"/>
              </a:rPr>
              <a:t> </a:t>
            </a:r>
          </a:p>
          <a:p>
            <a:pPr lvl="1"/>
            <a:r>
              <a:rPr lang="en-US" sz="2400" dirty="0" err="1" smtClean="0">
                <a:latin typeface="Times New Roman" pitchFamily="18" charset="0"/>
                <a:cs typeface="Times New Roman" pitchFamily="18" charset="0"/>
              </a:rPr>
              <a:t>Tanh</a:t>
            </a:r>
            <a:r>
              <a:rPr lang="en-US" sz="2400" dirty="0" smtClean="0">
                <a:latin typeface="Times New Roman" pitchFamily="18" charset="0"/>
                <a:cs typeface="Times New Roman" pitchFamily="18" charset="0"/>
              </a:rPr>
              <a:t> </a:t>
            </a:r>
          </a:p>
          <a:p>
            <a:pPr lvl="1"/>
            <a:r>
              <a:rPr lang="en-US" sz="2400" dirty="0" err="1" smtClean="0">
                <a:latin typeface="Times New Roman" pitchFamily="18" charset="0"/>
                <a:cs typeface="Times New Roman" pitchFamily="18" charset="0"/>
              </a:rPr>
              <a:t>Softmax</a:t>
            </a:r>
            <a:r>
              <a:rPr lang="en-US" sz="2400" dirty="0" smtClean="0">
                <a:latin typeface="Times New Roman" pitchFamily="18" charset="0"/>
                <a:cs typeface="Times New Roman" pitchFamily="18" charset="0"/>
              </a:rPr>
              <a:t> </a:t>
            </a:r>
          </a:p>
          <a:p>
            <a:endParaRPr lang="en-US" sz="2400" dirty="0" smtClean="0">
              <a:latin typeface="Times New Roman" pitchFamily="18" charset="0"/>
              <a:cs typeface="Times New Roman" pitchFamily="18" charset="0"/>
            </a:endParaRPr>
          </a:p>
          <a:p>
            <a:endParaRPr lang="en-US" sz="2400" dirty="0" smtClean="0">
              <a:latin typeface="Times New Roman" pitchFamily="18" charset="0"/>
              <a:cs typeface="Times New Roman" pitchFamily="18" charset="0"/>
            </a:endParaRPr>
          </a:p>
          <a:p>
            <a:r>
              <a:rPr lang="en-US" sz="2400" dirty="0" err="1" smtClean="0">
                <a:latin typeface="Times New Roman" pitchFamily="18" charset="0"/>
                <a:cs typeface="Times New Roman" pitchFamily="18" charset="0"/>
              </a:rPr>
              <a:t>ReLU</a:t>
            </a:r>
            <a:r>
              <a:rPr lang="en-US" sz="2400" dirty="0" smtClean="0">
                <a:latin typeface="Times New Roman" pitchFamily="18" charset="0"/>
                <a:cs typeface="Times New Roman" pitchFamily="18" charset="0"/>
              </a:rPr>
              <a:t> is most common today.</a:t>
            </a:r>
          </a:p>
          <a:p>
            <a:r>
              <a:rPr lang="en-US" sz="2400" dirty="0" smtClean="0">
                <a:latin typeface="Times New Roman" pitchFamily="18" charset="0"/>
                <a:cs typeface="Times New Roman" pitchFamily="18" charset="0"/>
              </a:rPr>
              <a:t>No mathematics.</a:t>
            </a:r>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0"/>
            <a:ext cx="7943088" cy="6858000"/>
          </a:xfrm>
        </p:spPr>
        <p:txBody>
          <a:bodyPr>
            <a:noAutofit/>
          </a:bodyPr>
          <a:lstStyle/>
          <a:p>
            <a:pPr>
              <a:buNone/>
            </a:pPr>
            <a:r>
              <a:rPr lang="en-US" sz="2800" b="1" u="sng" dirty="0" smtClean="0">
                <a:latin typeface="Times New Roman" pitchFamily="18" charset="0"/>
                <a:cs typeface="Times New Roman" pitchFamily="18" charset="0"/>
              </a:rPr>
              <a:t>Slide 13 – CNN</a:t>
            </a:r>
          </a:p>
          <a:p>
            <a:pPr>
              <a:buNone/>
            </a:pPr>
            <a:r>
              <a:rPr lang="en-US" sz="2400" b="1" dirty="0" smtClean="0">
                <a:latin typeface="Times New Roman" pitchFamily="18" charset="0"/>
                <a:cs typeface="Times New Roman" pitchFamily="18" charset="0"/>
              </a:rPr>
              <a:t>Convolutional Neural Network</a:t>
            </a:r>
          </a:p>
          <a:p>
            <a:pPr>
              <a:buNone/>
            </a:pPr>
            <a:r>
              <a:rPr lang="en-US" sz="2400" dirty="0" smtClean="0">
                <a:latin typeface="Times New Roman" pitchFamily="18" charset="0"/>
                <a:cs typeface="Times New Roman" pitchFamily="18" charset="0"/>
              </a:rPr>
              <a:t>		Specialized for images.</a:t>
            </a:r>
          </a:p>
          <a:p>
            <a:pPr>
              <a:buNone/>
            </a:pPr>
            <a:r>
              <a:rPr lang="en-US" sz="2400" b="1" dirty="0" smtClean="0">
                <a:latin typeface="Times New Roman" pitchFamily="18" charset="0"/>
                <a:cs typeface="Times New Roman" pitchFamily="18" charset="0"/>
              </a:rPr>
              <a:t>Architecture</a:t>
            </a:r>
            <a:endParaRPr lang="en-US" sz="2400" b="1" dirty="0" smtClean="0">
              <a:latin typeface="Times New Roman" pitchFamily="18" charset="0"/>
              <a:cs typeface="Times New Roman" pitchFamily="18" charset="0"/>
            </a:endParaRPr>
          </a:p>
          <a:p>
            <a:pPr>
              <a:buNone/>
            </a:pPr>
            <a:r>
              <a:rPr lang="en-US" sz="2400" dirty="0" smtClean="0">
                <a:latin typeface="Times New Roman" pitchFamily="18" charset="0"/>
                <a:cs typeface="Times New Roman" pitchFamily="18" charset="0"/>
              </a:rPr>
              <a:t>Image (the raw data)</a:t>
            </a:r>
            <a:endParaRPr lang="en-US" sz="2400" dirty="0" smtClean="0">
              <a:latin typeface="Times New Roman" pitchFamily="18" charset="0"/>
              <a:cs typeface="Times New Roman" pitchFamily="18" charset="0"/>
            </a:endParaRPr>
          </a:p>
          <a:p>
            <a:pPr>
              <a:buNone/>
            </a:pPr>
            <a:r>
              <a:rPr lang="en-US" sz="2400" dirty="0" smtClean="0">
                <a:latin typeface="Times New Roman" pitchFamily="18" charset="0"/>
                <a:cs typeface="Times New Roman" pitchFamily="18" charset="0"/>
              </a:rPr>
              <a:t> ↓ </a:t>
            </a:r>
          </a:p>
          <a:p>
            <a:pPr>
              <a:buNone/>
            </a:pPr>
            <a:r>
              <a:rPr lang="en-US" sz="2400" dirty="0" smtClean="0">
                <a:latin typeface="Times New Roman" pitchFamily="18" charset="0"/>
                <a:cs typeface="Times New Roman" pitchFamily="18" charset="0"/>
              </a:rPr>
              <a:t>Convolution </a:t>
            </a:r>
            <a:r>
              <a:rPr lang="en-US" sz="2400" dirty="0" smtClean="0">
                <a:latin typeface="Times New Roman" pitchFamily="18" charset="0"/>
                <a:cs typeface="Times New Roman" pitchFamily="18" charset="0"/>
              </a:rPr>
              <a:t>(</a:t>
            </a:r>
            <a:r>
              <a:rPr lang="en-US" sz="2400" dirty="0" smtClean="0">
                <a:latin typeface="Times New Roman" pitchFamily="18" charset="0"/>
                <a:cs typeface="Times New Roman" pitchFamily="18" charset="0"/>
              </a:rPr>
              <a:t>Scanning the image to look for specific patterns.</a:t>
            </a:r>
            <a:r>
              <a:rPr lang="en-US" sz="2400" dirty="0" smtClean="0">
                <a:latin typeface="Times New Roman" pitchFamily="18" charset="0"/>
                <a:cs typeface="Times New Roman" pitchFamily="18" charset="0"/>
              </a:rPr>
              <a:t>)</a:t>
            </a:r>
            <a:endParaRPr lang="en-US" sz="2400" dirty="0" smtClean="0">
              <a:latin typeface="Times New Roman" pitchFamily="18" charset="0"/>
              <a:cs typeface="Times New Roman" pitchFamily="18" charset="0"/>
            </a:endParaRPr>
          </a:p>
          <a:p>
            <a:pPr>
              <a:buNone/>
            </a:pPr>
            <a:r>
              <a:rPr lang="en-US" sz="2400" dirty="0" smtClean="0">
                <a:latin typeface="Times New Roman" pitchFamily="18" charset="0"/>
                <a:cs typeface="Times New Roman" pitchFamily="18" charset="0"/>
              </a:rPr>
              <a:t>↓</a:t>
            </a:r>
          </a:p>
          <a:p>
            <a:pPr>
              <a:buNone/>
            </a:pPr>
            <a:r>
              <a:rPr lang="en-US" sz="2400" dirty="0" smtClean="0">
                <a:latin typeface="Times New Roman" pitchFamily="18" charset="0"/>
                <a:cs typeface="Times New Roman" pitchFamily="18" charset="0"/>
              </a:rPr>
              <a:t> Pooling </a:t>
            </a:r>
            <a:r>
              <a:rPr lang="en-US" sz="2400" dirty="0" smtClean="0">
                <a:latin typeface="Times New Roman" pitchFamily="18" charset="0"/>
                <a:cs typeface="Times New Roman" pitchFamily="18" charset="0"/>
              </a:rPr>
              <a:t>(</a:t>
            </a:r>
            <a:r>
              <a:rPr lang="en-US" sz="2400" dirty="0" smtClean="0">
                <a:latin typeface="Times New Roman" pitchFamily="18" charset="0"/>
                <a:cs typeface="Times New Roman" pitchFamily="18" charset="0"/>
              </a:rPr>
              <a:t>Reducing the size of the data while keeping the important parts.</a:t>
            </a:r>
            <a:r>
              <a:rPr lang="en-US" sz="2400" dirty="0" smtClean="0">
                <a:latin typeface="Times New Roman" pitchFamily="18" charset="0"/>
                <a:cs typeface="Times New Roman" pitchFamily="18" charset="0"/>
              </a:rPr>
              <a:t>)</a:t>
            </a:r>
            <a:endParaRPr lang="en-US" sz="2400" dirty="0" smtClean="0">
              <a:latin typeface="Times New Roman" pitchFamily="18" charset="0"/>
              <a:cs typeface="Times New Roman" pitchFamily="18" charset="0"/>
            </a:endParaRPr>
          </a:p>
          <a:p>
            <a:pPr>
              <a:buNone/>
            </a:pPr>
            <a:r>
              <a:rPr lang="en-US" sz="2400" dirty="0" smtClean="0">
                <a:latin typeface="Times New Roman" pitchFamily="18" charset="0"/>
                <a:cs typeface="Times New Roman" pitchFamily="18" charset="0"/>
              </a:rPr>
              <a:t>↓ </a:t>
            </a:r>
          </a:p>
          <a:p>
            <a:pPr>
              <a:buNone/>
            </a:pPr>
            <a:r>
              <a:rPr lang="en-US" sz="2400" dirty="0" smtClean="0">
                <a:latin typeface="Times New Roman" pitchFamily="18" charset="0"/>
                <a:cs typeface="Times New Roman" pitchFamily="18" charset="0"/>
              </a:rPr>
              <a:t>Fully Connected </a:t>
            </a:r>
            <a:r>
              <a:rPr lang="en-US" sz="2400" dirty="0" smtClean="0">
                <a:latin typeface="Times New Roman" pitchFamily="18" charset="0"/>
                <a:cs typeface="Times New Roman" pitchFamily="18" charset="0"/>
              </a:rPr>
              <a:t>Layer (</a:t>
            </a:r>
            <a:r>
              <a:rPr lang="en-US" sz="2400" dirty="0" smtClean="0">
                <a:latin typeface="Times New Roman" pitchFamily="18" charset="0"/>
                <a:cs typeface="Times New Roman" pitchFamily="18" charset="0"/>
              </a:rPr>
              <a:t>The final reasoning step where all clues are combined.</a:t>
            </a:r>
            <a:r>
              <a:rPr lang="en-US" sz="2400" dirty="0" smtClean="0">
                <a:latin typeface="Times New Roman" pitchFamily="18" charset="0"/>
                <a:cs typeface="Times New Roman" pitchFamily="18" charset="0"/>
              </a:rPr>
              <a:t>) </a:t>
            </a:r>
            <a:endParaRPr lang="en-US" sz="2400" dirty="0" smtClean="0">
              <a:latin typeface="Times New Roman" pitchFamily="18" charset="0"/>
              <a:cs typeface="Times New Roman" pitchFamily="18" charset="0"/>
            </a:endParaRPr>
          </a:p>
          <a:p>
            <a:pPr>
              <a:buNone/>
            </a:pPr>
            <a:r>
              <a:rPr lang="en-US" sz="2400" dirty="0" smtClean="0">
                <a:latin typeface="Times New Roman" pitchFamily="18" charset="0"/>
                <a:cs typeface="Times New Roman" pitchFamily="18" charset="0"/>
              </a:rPr>
              <a:t>↓ </a:t>
            </a:r>
          </a:p>
          <a:p>
            <a:pPr>
              <a:buNone/>
            </a:pPr>
            <a:r>
              <a:rPr lang="en-US" sz="2400" dirty="0" smtClean="0">
                <a:latin typeface="Times New Roman" pitchFamily="18" charset="0"/>
                <a:cs typeface="Times New Roman" pitchFamily="18" charset="0"/>
              </a:rPr>
              <a:t>Prediction(</a:t>
            </a:r>
            <a:r>
              <a:rPr lang="en-US" sz="2400" dirty="0" smtClean="0">
                <a:latin typeface="Times New Roman" pitchFamily="18" charset="0"/>
                <a:cs typeface="Times New Roman" pitchFamily="18" charset="0"/>
              </a:rPr>
              <a:t>The output decision.</a:t>
            </a:r>
            <a:r>
              <a:rPr lang="en-US" sz="2400" dirty="0" smtClean="0">
                <a:latin typeface="Times New Roman" pitchFamily="18" charset="0"/>
                <a:cs typeface="Times New Roman" pitchFamily="18" charset="0"/>
              </a:rPr>
              <a:t>)</a:t>
            </a:r>
            <a:endParaRPr lang="en-US" sz="2400"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0"/>
            <a:ext cx="7943088" cy="6248400"/>
          </a:xfrm>
        </p:spPr>
        <p:txBody>
          <a:bodyPr>
            <a:noAutofit/>
          </a:bodyPr>
          <a:lstStyle/>
          <a:p>
            <a:pPr>
              <a:buNone/>
            </a:pPr>
            <a:r>
              <a:rPr lang="en-US" sz="2400"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  </a:t>
            </a:r>
            <a:r>
              <a:rPr lang="en-US" sz="2800" b="1" dirty="0" smtClean="0">
                <a:latin typeface="Times New Roman" pitchFamily="18" charset="0"/>
                <a:cs typeface="Times New Roman" pitchFamily="18" charset="0"/>
              </a:rPr>
              <a:t>Simple Everyday Analogies for Each Step</a:t>
            </a:r>
          </a:p>
          <a:p>
            <a:pPr>
              <a:buNone/>
            </a:pPr>
            <a:endParaRPr lang="en-US" sz="2400" b="1" dirty="0" smtClean="0">
              <a:latin typeface="Times New Roman" pitchFamily="18" charset="0"/>
              <a:cs typeface="Times New Roman" pitchFamily="18" charset="0"/>
            </a:endParaRPr>
          </a:p>
          <a:p>
            <a:pPr>
              <a:buNone/>
            </a:pPr>
            <a:r>
              <a:rPr lang="en-US" sz="2400" b="1" dirty="0" smtClean="0">
                <a:latin typeface="Times New Roman" pitchFamily="18" charset="0"/>
                <a:cs typeface="Times New Roman" pitchFamily="18" charset="0"/>
              </a:rPr>
              <a:t>Image</a:t>
            </a:r>
          </a:p>
          <a:p>
            <a:pPr lvl="1">
              <a:buNone/>
            </a:pPr>
            <a:r>
              <a:rPr lang="en-US" sz="2400" dirty="0" smtClean="0">
                <a:latin typeface="Times New Roman" pitchFamily="18" charset="0"/>
                <a:cs typeface="Times New Roman" pitchFamily="18" charset="0"/>
              </a:rPr>
              <a:t>Analogy: A large crime scene photo handed to a detective.</a:t>
            </a:r>
          </a:p>
          <a:p>
            <a:pPr lvl="1">
              <a:buNone/>
            </a:pPr>
            <a:endParaRPr lang="en-US" sz="2400" dirty="0" smtClean="0">
              <a:latin typeface="Times New Roman" pitchFamily="18" charset="0"/>
              <a:cs typeface="Times New Roman" pitchFamily="18" charset="0"/>
            </a:endParaRPr>
          </a:p>
          <a:p>
            <a:pPr>
              <a:buNone/>
            </a:pPr>
            <a:r>
              <a:rPr lang="en-US" sz="2400" b="1" dirty="0" smtClean="0">
                <a:latin typeface="Times New Roman" pitchFamily="18" charset="0"/>
                <a:cs typeface="Times New Roman" pitchFamily="18" charset="0"/>
              </a:rPr>
              <a:t>Filters</a:t>
            </a:r>
          </a:p>
          <a:p>
            <a:pPr lvl="1">
              <a:buNone/>
            </a:pPr>
            <a:r>
              <a:rPr lang="en-US" sz="2400" dirty="0" smtClean="0">
                <a:latin typeface="Times New Roman" pitchFamily="18" charset="0"/>
                <a:cs typeface="Times New Roman" pitchFamily="18" charset="0"/>
              </a:rPr>
              <a:t>Analogy: A small, magical magnifying glass slid across the photo. It glows only when it passes over specific shapes like sharp noses or round eyes.</a:t>
            </a:r>
          </a:p>
          <a:p>
            <a:pPr lvl="1">
              <a:buNone/>
            </a:pPr>
            <a:endParaRPr lang="en-US" sz="2400" dirty="0" smtClean="0">
              <a:latin typeface="Times New Roman" pitchFamily="18" charset="0"/>
              <a:cs typeface="Times New Roman" pitchFamily="18" charset="0"/>
            </a:endParaRPr>
          </a:p>
          <a:p>
            <a:pPr>
              <a:buNone/>
            </a:pPr>
            <a:r>
              <a:rPr lang="en-US" sz="2400" b="1" dirty="0" smtClean="0">
                <a:latin typeface="Times New Roman" pitchFamily="18" charset="0"/>
                <a:cs typeface="Times New Roman" pitchFamily="18" charset="0"/>
              </a:rPr>
              <a:t>Feature Maps</a:t>
            </a:r>
          </a:p>
          <a:p>
            <a:pPr lvl="1">
              <a:buNone/>
            </a:pPr>
            <a:r>
              <a:rPr lang="en-US" sz="2400" dirty="0" smtClean="0">
                <a:latin typeface="Times New Roman" pitchFamily="18" charset="0"/>
                <a:cs typeface="Times New Roman" pitchFamily="18" charset="0"/>
              </a:rPr>
              <a:t>Analogy: A notepad of clues created by the magnifying glass, marking down exactly where those special shapes and lines were found.</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0"/>
            <a:ext cx="7943088" cy="6248400"/>
          </a:xfrm>
        </p:spPr>
        <p:txBody>
          <a:bodyPr/>
          <a:lstStyle/>
          <a:p>
            <a:pPr>
              <a:buNone/>
            </a:pPr>
            <a:r>
              <a:rPr lang="en-US" sz="2400" b="1" dirty="0" smtClean="0">
                <a:latin typeface="Times New Roman" pitchFamily="18" charset="0"/>
                <a:cs typeface="Times New Roman" pitchFamily="18" charset="0"/>
              </a:rPr>
              <a:t>Pooling</a:t>
            </a:r>
          </a:p>
          <a:p>
            <a:pPr lvl="1">
              <a:buNone/>
            </a:pPr>
            <a:r>
              <a:rPr lang="en-US" sz="2400" dirty="0" smtClean="0">
                <a:latin typeface="Times New Roman" pitchFamily="18" charset="0"/>
                <a:cs typeface="Times New Roman" pitchFamily="18" charset="0"/>
              </a:rPr>
              <a:t>Analogy: Squinting your eyes at the notepad. It blurs out the tiny, useless details and leaves only the biggest, most important clues on a smaller page.</a:t>
            </a:r>
          </a:p>
          <a:p>
            <a:pPr lvl="1">
              <a:buNone/>
            </a:pPr>
            <a:endParaRPr lang="en-US" sz="2400" dirty="0" smtClean="0">
              <a:latin typeface="Times New Roman" pitchFamily="18" charset="0"/>
              <a:cs typeface="Times New Roman" pitchFamily="18" charset="0"/>
            </a:endParaRPr>
          </a:p>
          <a:p>
            <a:pPr>
              <a:buNone/>
            </a:pPr>
            <a:r>
              <a:rPr lang="en-US" sz="2400" b="1" dirty="0" smtClean="0">
                <a:latin typeface="Times New Roman" pitchFamily="18" charset="0"/>
                <a:cs typeface="Times New Roman" pitchFamily="18" charset="0"/>
              </a:rPr>
              <a:t>Classification</a:t>
            </a:r>
          </a:p>
          <a:p>
            <a:pPr lvl="1">
              <a:buNone/>
            </a:pPr>
            <a:r>
              <a:rPr lang="en-US" sz="2400" dirty="0" smtClean="0">
                <a:latin typeface="Times New Roman" pitchFamily="18" charset="0"/>
                <a:cs typeface="Times New Roman" pitchFamily="18" charset="0"/>
              </a:rPr>
              <a:t>Analogy: The final detective report. The brain puts all the remaining clues together and makes a final guess: "This is a picture of Cat Burglar A!"</a:t>
            </a:r>
          </a:p>
          <a:p>
            <a:pPr>
              <a:buNone/>
            </a:pPr>
            <a:r>
              <a:rPr lang="en-US" sz="2400" dirty="0" smtClean="0">
                <a:latin typeface="Times New Roman" pitchFamily="18" charset="0"/>
                <a:cs typeface="Times New Roman" pitchFamily="18" charset="0"/>
              </a:rPr>
              <a:t/>
            </a:r>
            <a:br>
              <a:rPr lang="en-US" sz="2400" dirty="0" smtClean="0">
                <a:latin typeface="Times New Roman" pitchFamily="18" charset="0"/>
                <a:cs typeface="Times New Roman" pitchFamily="18" charset="0"/>
              </a:rPr>
            </a:br>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0"/>
            <a:ext cx="7943088" cy="6858000"/>
          </a:xfrm>
        </p:spPr>
        <p:txBody>
          <a:bodyPr>
            <a:noAutofit/>
          </a:bodyPr>
          <a:lstStyle/>
          <a:p>
            <a:pPr>
              <a:buNone/>
            </a:pPr>
            <a:r>
              <a:rPr lang="en-US" sz="2800" b="1" u="sng" dirty="0" smtClean="0">
                <a:latin typeface="Times New Roman" pitchFamily="18" charset="0"/>
                <a:cs typeface="Times New Roman" pitchFamily="18" charset="0"/>
              </a:rPr>
              <a:t>Slide 14 – CNN Working</a:t>
            </a:r>
          </a:p>
          <a:p>
            <a:pPr lvl="1">
              <a:buNone/>
            </a:pPr>
            <a:r>
              <a:rPr lang="en-US" sz="2400" dirty="0" smtClean="0">
                <a:latin typeface="Times New Roman" pitchFamily="18" charset="0"/>
                <a:cs typeface="Times New Roman" pitchFamily="18" charset="0"/>
              </a:rPr>
              <a:t>Image</a:t>
            </a:r>
          </a:p>
          <a:p>
            <a:pPr lvl="1">
              <a:buNone/>
            </a:pPr>
            <a:r>
              <a:rPr lang="en-US" sz="2400" dirty="0" smtClean="0">
                <a:latin typeface="Times New Roman" pitchFamily="18" charset="0"/>
                <a:cs typeface="Times New Roman" pitchFamily="18" charset="0"/>
              </a:rPr>
              <a:t>↓</a:t>
            </a:r>
          </a:p>
          <a:p>
            <a:pPr lvl="1">
              <a:buNone/>
            </a:pPr>
            <a:r>
              <a:rPr lang="en-US" sz="2400" dirty="0" smtClean="0">
                <a:latin typeface="Times New Roman" pitchFamily="18" charset="0"/>
                <a:cs typeface="Times New Roman" pitchFamily="18" charset="0"/>
              </a:rPr>
              <a:t>Filters</a:t>
            </a:r>
          </a:p>
          <a:p>
            <a:pPr lvl="1">
              <a:buNone/>
            </a:pPr>
            <a:r>
              <a:rPr lang="en-US" sz="2400" dirty="0" smtClean="0">
                <a:latin typeface="Times New Roman" pitchFamily="18" charset="0"/>
                <a:cs typeface="Times New Roman" pitchFamily="18" charset="0"/>
              </a:rPr>
              <a:t>↓</a:t>
            </a:r>
          </a:p>
          <a:p>
            <a:pPr lvl="1">
              <a:buNone/>
            </a:pPr>
            <a:r>
              <a:rPr lang="en-US" sz="2400" dirty="0" smtClean="0">
                <a:latin typeface="Times New Roman" pitchFamily="18" charset="0"/>
                <a:cs typeface="Times New Roman" pitchFamily="18" charset="0"/>
              </a:rPr>
              <a:t>Feature Maps</a:t>
            </a:r>
          </a:p>
          <a:p>
            <a:pPr lvl="1">
              <a:buNone/>
            </a:pPr>
            <a:r>
              <a:rPr lang="en-US" sz="2400" dirty="0" smtClean="0">
                <a:latin typeface="Times New Roman" pitchFamily="18" charset="0"/>
                <a:cs typeface="Times New Roman" pitchFamily="18" charset="0"/>
              </a:rPr>
              <a:t>↓</a:t>
            </a:r>
          </a:p>
          <a:p>
            <a:pPr lvl="1">
              <a:buNone/>
            </a:pPr>
            <a:r>
              <a:rPr lang="en-US" sz="2400" dirty="0" smtClean="0">
                <a:latin typeface="Times New Roman" pitchFamily="18" charset="0"/>
                <a:cs typeface="Times New Roman" pitchFamily="18" charset="0"/>
              </a:rPr>
              <a:t>Pooling</a:t>
            </a:r>
          </a:p>
          <a:p>
            <a:pPr lvl="1">
              <a:buNone/>
            </a:pPr>
            <a:r>
              <a:rPr lang="en-US" sz="2400" dirty="0" smtClean="0">
                <a:latin typeface="Times New Roman" pitchFamily="18" charset="0"/>
                <a:cs typeface="Times New Roman" pitchFamily="18" charset="0"/>
              </a:rPr>
              <a:t>↓</a:t>
            </a:r>
          </a:p>
          <a:p>
            <a:pPr lvl="1">
              <a:buNone/>
            </a:pPr>
            <a:r>
              <a:rPr lang="en-US" sz="2400" dirty="0" smtClean="0">
                <a:latin typeface="Times New Roman" pitchFamily="18" charset="0"/>
                <a:cs typeface="Times New Roman" pitchFamily="18" charset="0"/>
              </a:rPr>
              <a:t>Classification</a:t>
            </a:r>
          </a:p>
          <a:p>
            <a:pPr>
              <a:buNone/>
            </a:pPr>
            <a:r>
              <a:rPr lang="en-US" sz="2400" dirty="0" smtClean="0">
                <a:latin typeface="Times New Roman" pitchFamily="18" charset="0"/>
                <a:cs typeface="Times New Roman" pitchFamily="18" charset="0"/>
              </a:rPr>
              <a:t>CNN automatically detects</a:t>
            </a:r>
          </a:p>
          <a:p>
            <a:pPr lvl="2">
              <a:buNone/>
            </a:pPr>
            <a:r>
              <a:rPr lang="en-US" dirty="0" smtClean="0">
                <a:latin typeface="Times New Roman" pitchFamily="18" charset="0"/>
                <a:cs typeface="Times New Roman" pitchFamily="18" charset="0"/>
              </a:rPr>
              <a:t>Edges </a:t>
            </a:r>
          </a:p>
          <a:p>
            <a:pPr lvl="2">
              <a:buNone/>
            </a:pPr>
            <a:r>
              <a:rPr lang="en-US" dirty="0" smtClean="0">
                <a:latin typeface="Times New Roman" pitchFamily="18" charset="0"/>
                <a:cs typeface="Times New Roman" pitchFamily="18" charset="0"/>
              </a:rPr>
              <a:t>Corners </a:t>
            </a:r>
          </a:p>
          <a:p>
            <a:pPr lvl="2">
              <a:buNone/>
            </a:pPr>
            <a:r>
              <a:rPr lang="en-US" dirty="0" smtClean="0">
                <a:latin typeface="Times New Roman" pitchFamily="18" charset="0"/>
                <a:cs typeface="Times New Roman" pitchFamily="18" charset="0"/>
              </a:rPr>
              <a:t>Shapes </a:t>
            </a:r>
          </a:p>
          <a:p>
            <a:pPr lvl="2">
              <a:buNone/>
            </a:pPr>
            <a:r>
              <a:rPr lang="en-US" dirty="0" smtClean="0">
                <a:latin typeface="Times New Roman" pitchFamily="18" charset="0"/>
                <a:cs typeface="Times New Roman" pitchFamily="18" charset="0"/>
              </a:rPr>
              <a:t>Objects </a:t>
            </a:r>
          </a:p>
          <a:p>
            <a:pPr>
              <a:buNone/>
            </a:pPr>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0"/>
            <a:ext cx="7943088" cy="6248400"/>
          </a:xfrm>
        </p:spPr>
        <p:txBody>
          <a:bodyPr>
            <a:noAutofit/>
          </a:bodyPr>
          <a:lstStyle/>
          <a:p>
            <a:pPr>
              <a:buNone/>
            </a:pPr>
            <a:r>
              <a:rPr lang="en-US" sz="2800" b="1" u="sng" dirty="0" smtClean="0">
                <a:latin typeface="Times New Roman" pitchFamily="18" charset="0"/>
                <a:cs typeface="Times New Roman" pitchFamily="18" charset="0"/>
              </a:rPr>
              <a:t>Slide 15 – Pooling Layer</a:t>
            </a:r>
          </a:p>
          <a:p>
            <a:pPr>
              <a:buNone/>
            </a:pPr>
            <a:endParaRPr lang="en-US" sz="2800" b="1" u="sng" dirty="0" smtClean="0">
              <a:latin typeface="Times New Roman" pitchFamily="18" charset="0"/>
              <a:cs typeface="Times New Roman" pitchFamily="18" charset="0"/>
            </a:endParaRPr>
          </a:p>
          <a:p>
            <a:pPr>
              <a:buNone/>
            </a:pPr>
            <a:r>
              <a:rPr lang="en-US" sz="2400" b="1" dirty="0" smtClean="0">
                <a:latin typeface="Times New Roman" pitchFamily="18" charset="0"/>
                <a:cs typeface="Times New Roman" pitchFamily="18" charset="0"/>
              </a:rPr>
              <a:t>Purpose</a:t>
            </a:r>
          </a:p>
          <a:p>
            <a:pPr>
              <a:buNone/>
            </a:pPr>
            <a:r>
              <a:rPr lang="en-US" sz="2400" dirty="0" smtClean="0">
                <a:latin typeface="Times New Roman" pitchFamily="18" charset="0"/>
                <a:cs typeface="Times New Roman" pitchFamily="18" charset="0"/>
              </a:rPr>
              <a:t>		Reduce image size while preserving important information.</a:t>
            </a:r>
          </a:p>
          <a:p>
            <a:pPr>
              <a:buNone/>
            </a:pPr>
            <a:endParaRPr lang="en-US" sz="2400" dirty="0" smtClean="0">
              <a:latin typeface="Times New Roman" pitchFamily="18" charset="0"/>
              <a:cs typeface="Times New Roman" pitchFamily="18" charset="0"/>
            </a:endParaRPr>
          </a:p>
          <a:p>
            <a:pPr>
              <a:buNone/>
            </a:pPr>
            <a:r>
              <a:rPr lang="en-US" sz="2400" b="1" dirty="0" smtClean="0">
                <a:latin typeface="Times New Roman" pitchFamily="18" charset="0"/>
                <a:cs typeface="Times New Roman" pitchFamily="18" charset="0"/>
              </a:rPr>
              <a:t>Types</a:t>
            </a:r>
          </a:p>
          <a:p>
            <a:pPr lvl="2">
              <a:buNone/>
            </a:pPr>
            <a:r>
              <a:rPr lang="en-US" dirty="0" smtClean="0">
                <a:latin typeface="Times New Roman" pitchFamily="18" charset="0"/>
                <a:cs typeface="Times New Roman" pitchFamily="18" charset="0"/>
              </a:rPr>
              <a:t>Max Pooling </a:t>
            </a:r>
          </a:p>
          <a:p>
            <a:pPr lvl="2">
              <a:buNone/>
            </a:pPr>
            <a:r>
              <a:rPr lang="en-US" dirty="0" smtClean="0">
                <a:latin typeface="Times New Roman" pitchFamily="18" charset="0"/>
                <a:cs typeface="Times New Roman" pitchFamily="18" charset="0"/>
              </a:rPr>
              <a:t>Average Pooling </a:t>
            </a:r>
          </a:p>
          <a:p>
            <a:pPr lvl="2">
              <a:buNone/>
            </a:pPr>
            <a:endParaRPr lang="en-US" dirty="0" smtClean="0">
              <a:latin typeface="Times New Roman" pitchFamily="18" charset="0"/>
              <a:cs typeface="Times New Roman" pitchFamily="18" charset="0"/>
            </a:endParaRPr>
          </a:p>
          <a:p>
            <a:pPr>
              <a:buNone/>
            </a:pPr>
            <a:r>
              <a:rPr lang="en-US" sz="2400" b="1" dirty="0" smtClean="0">
                <a:latin typeface="Times New Roman" pitchFamily="18" charset="0"/>
                <a:cs typeface="Times New Roman" pitchFamily="18" charset="0"/>
              </a:rPr>
              <a:t>Benefits</a:t>
            </a:r>
          </a:p>
          <a:p>
            <a:pPr lvl="2">
              <a:buNone/>
            </a:pPr>
            <a:r>
              <a:rPr lang="en-US" dirty="0" smtClean="0">
                <a:latin typeface="Times New Roman" pitchFamily="18" charset="0"/>
                <a:cs typeface="Times New Roman" pitchFamily="18" charset="0"/>
              </a:rPr>
              <a:t>Faster computation </a:t>
            </a:r>
          </a:p>
          <a:p>
            <a:pPr lvl="2">
              <a:buNone/>
            </a:pPr>
            <a:r>
              <a:rPr lang="en-US" dirty="0" smtClean="0">
                <a:latin typeface="Times New Roman" pitchFamily="18" charset="0"/>
                <a:cs typeface="Times New Roman" pitchFamily="18" charset="0"/>
              </a:rPr>
              <a:t>Less memory </a:t>
            </a:r>
          </a:p>
          <a:p>
            <a:pPr lvl="2">
              <a:buNone/>
            </a:pPr>
            <a:r>
              <a:rPr lang="en-US" dirty="0" smtClean="0">
                <a:latin typeface="Times New Roman" pitchFamily="18" charset="0"/>
                <a:cs typeface="Times New Roman" pitchFamily="18" charset="0"/>
              </a:rPr>
              <a:t>Better generalization</a:t>
            </a:r>
          </a:p>
          <a:p>
            <a:pPr>
              <a:buNone/>
            </a:pPr>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1"/>
          <p:cNvSpPr>
            <a:spLocks noChangeArrowheads="1"/>
          </p:cNvSpPr>
          <p:nvPr/>
        </p:nvSpPr>
        <p:spPr bwMode="auto">
          <a:xfrm>
            <a:off x="990600" y="0"/>
            <a:ext cx="8153400" cy="643253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800" b="1" u="none" strike="noStrike" cap="none" normalizeH="0" baseline="0" dirty="0" smtClean="0">
                <a:ln>
                  <a:noFill/>
                </a:ln>
                <a:solidFill>
                  <a:schemeClr val="tx1"/>
                </a:solidFill>
                <a:effectLst/>
                <a:latin typeface="Times New Roman" pitchFamily="18" charset="0"/>
                <a:cs typeface="Times New Roman" pitchFamily="18" charset="0"/>
              </a:rPr>
              <a:t>Slide 16 – RNN</a:t>
            </a:r>
            <a:r>
              <a:rPr kumimoji="0" lang="en-US" sz="2800" b="1" u="none" strike="noStrike" cap="none" normalizeH="0" dirty="0" smtClean="0">
                <a:ln>
                  <a:noFill/>
                </a:ln>
                <a:solidFill>
                  <a:schemeClr val="tx1"/>
                </a:solidFill>
                <a:effectLst/>
                <a:latin typeface="Times New Roman" pitchFamily="18" charset="0"/>
                <a:cs typeface="Times New Roman" pitchFamily="18" charset="0"/>
              </a:rPr>
              <a:t> </a:t>
            </a:r>
            <a:r>
              <a:rPr kumimoji="0" lang="en-US" sz="2800" b="1" u="none" strike="noStrike" cap="none" normalizeH="0" baseline="0" dirty="0" smtClean="0">
                <a:ln>
                  <a:noFill/>
                </a:ln>
                <a:solidFill>
                  <a:schemeClr val="tx1"/>
                </a:solidFill>
                <a:effectLst/>
                <a:latin typeface="Times New Roman" pitchFamily="18" charset="0"/>
                <a:cs typeface="Times New Roman" pitchFamily="18" charset="0"/>
              </a:rPr>
              <a:t>Recurrent Neural Network</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u="none" strike="noStrike" cap="none" normalizeH="0" baseline="0" dirty="0" smtClean="0">
                <a:ln>
                  <a:noFill/>
                </a:ln>
                <a:solidFill>
                  <a:schemeClr val="tx1"/>
                </a:solidFill>
                <a:effectLst/>
                <a:latin typeface="Times New Roman" pitchFamily="18" charset="0"/>
                <a:cs typeface="Times New Roman"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u="none" strike="noStrike" cap="none" normalizeH="0" baseline="0" dirty="0" smtClean="0">
                <a:ln>
                  <a:noFill/>
                </a:ln>
                <a:solidFill>
                  <a:schemeClr val="tx1"/>
                </a:solidFill>
                <a:effectLst/>
                <a:latin typeface="Times New Roman" pitchFamily="18" charset="0"/>
                <a:cs typeface="Times New Roman" pitchFamily="18" charset="0"/>
              </a:rPr>
              <a:t>Designed for sequential data.</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400" b="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u="none" strike="noStrike" cap="none" normalizeH="0" baseline="0" dirty="0" smtClean="0">
                <a:ln>
                  <a:noFill/>
                </a:ln>
                <a:solidFill>
                  <a:schemeClr val="tx1"/>
                </a:solidFill>
                <a:effectLst/>
                <a:latin typeface="Times New Roman" pitchFamily="18" charset="0"/>
                <a:cs typeface="Times New Roman" pitchFamily="18" charset="0"/>
              </a:rPr>
              <a:t>Word₁</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u="none" strike="noStrike" cap="none" normalizeH="0" baseline="0" dirty="0" smtClean="0">
                <a:ln>
                  <a:noFill/>
                </a:ln>
                <a:solidFill>
                  <a:schemeClr val="tx1"/>
                </a:solidFill>
                <a:effectLst/>
                <a:latin typeface="Times New Roman" pitchFamily="18" charset="0"/>
                <a:cs typeface="Times New Roman"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u="none" strike="noStrike" cap="none" normalizeH="0" baseline="0" dirty="0" smtClean="0">
                <a:ln>
                  <a:noFill/>
                </a:ln>
                <a:solidFill>
                  <a:schemeClr val="tx1"/>
                </a:solidFill>
                <a:effectLst/>
                <a:latin typeface="Times New Roman" pitchFamily="18" charset="0"/>
                <a:cs typeface="Times New Roman" pitchFamily="18" charset="0"/>
              </a:rPr>
              <a:t> Word₂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u="none" strike="noStrike" cap="none" normalizeH="0" baseline="0" dirty="0" smtClean="0">
                <a:ln>
                  <a:noFill/>
                </a:ln>
                <a:solidFill>
                  <a:schemeClr val="tx1"/>
                </a:solidFill>
                <a:effectLst/>
                <a:latin typeface="Times New Roman" pitchFamily="18" charset="0"/>
                <a:cs typeface="Times New Roman"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u="none" strike="noStrike" cap="none" normalizeH="0" baseline="0" dirty="0" smtClean="0">
                <a:ln>
                  <a:noFill/>
                </a:ln>
                <a:solidFill>
                  <a:schemeClr val="tx1"/>
                </a:solidFill>
                <a:effectLst/>
                <a:latin typeface="Times New Roman" pitchFamily="18" charset="0"/>
                <a:cs typeface="Times New Roman" pitchFamily="18" charset="0"/>
              </a:rPr>
              <a:t>Word₃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u="none" strike="noStrike" cap="none" normalizeH="0" baseline="0" dirty="0" smtClean="0">
                <a:ln>
                  <a:noFill/>
                </a:ln>
                <a:solidFill>
                  <a:schemeClr val="tx1"/>
                </a:solidFill>
                <a:effectLst/>
                <a:latin typeface="Times New Roman" pitchFamily="18" charset="0"/>
                <a:cs typeface="Times New Roman"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u="none" strike="noStrike" cap="none" normalizeH="0" baseline="0" dirty="0" smtClean="0">
                <a:ln>
                  <a:noFill/>
                </a:ln>
                <a:solidFill>
                  <a:schemeClr val="tx1"/>
                </a:solidFill>
                <a:effectLst/>
                <a:latin typeface="Times New Roman" pitchFamily="18" charset="0"/>
                <a:cs typeface="Times New Roman" pitchFamily="18" charset="0"/>
              </a:rPr>
              <a:t>Prediction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400" b="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u="none" strike="noStrike" cap="none" normalizeH="0" baseline="0" dirty="0" smtClean="0">
                <a:ln>
                  <a:noFill/>
                </a:ln>
                <a:solidFill>
                  <a:schemeClr val="tx1"/>
                </a:solidFill>
                <a:effectLst/>
                <a:latin typeface="Times New Roman" pitchFamily="18" charset="0"/>
                <a:cs typeface="Times New Roman" pitchFamily="18" charset="0"/>
              </a:rPr>
              <a:t>Applications</a:t>
            </a:r>
          </a:p>
          <a:p>
            <a:pPr lvl="1" eaLnBrk="0" fontAlgn="base" hangingPunct="0">
              <a:spcBef>
                <a:spcPct val="0"/>
              </a:spcBef>
              <a:spcAft>
                <a:spcPct val="0"/>
              </a:spcAft>
              <a:buFontTx/>
              <a:buChar char="•"/>
            </a:pPr>
            <a:r>
              <a:rPr kumimoji="0" lang="en-US" sz="2400" b="0" u="none" strike="noStrike" cap="none" normalizeH="0" baseline="0" dirty="0" smtClean="0">
                <a:ln>
                  <a:noFill/>
                </a:ln>
                <a:solidFill>
                  <a:schemeClr val="tx1"/>
                </a:solidFill>
                <a:effectLst/>
                <a:latin typeface="Times New Roman" pitchFamily="18" charset="0"/>
                <a:cs typeface="Times New Roman" pitchFamily="18" charset="0"/>
              </a:rPr>
              <a:t>Language Translation </a:t>
            </a:r>
          </a:p>
          <a:p>
            <a:pPr lvl="1" eaLnBrk="0" fontAlgn="base" hangingPunct="0">
              <a:spcBef>
                <a:spcPct val="0"/>
              </a:spcBef>
              <a:spcAft>
                <a:spcPct val="0"/>
              </a:spcAft>
              <a:buFontTx/>
              <a:buChar char="•"/>
            </a:pPr>
            <a:r>
              <a:rPr kumimoji="0" lang="en-US" sz="2400" b="0" u="none" strike="noStrike" cap="none" normalizeH="0" baseline="0" dirty="0" smtClean="0">
                <a:ln>
                  <a:noFill/>
                </a:ln>
                <a:solidFill>
                  <a:schemeClr val="tx1"/>
                </a:solidFill>
                <a:effectLst/>
                <a:latin typeface="Times New Roman" pitchFamily="18" charset="0"/>
                <a:cs typeface="Times New Roman" pitchFamily="18" charset="0"/>
              </a:rPr>
              <a:t>Speech Recognition </a:t>
            </a:r>
          </a:p>
          <a:p>
            <a:pPr lvl="1" eaLnBrk="0" fontAlgn="base" hangingPunct="0">
              <a:spcBef>
                <a:spcPct val="0"/>
              </a:spcBef>
              <a:spcAft>
                <a:spcPct val="0"/>
              </a:spcAft>
              <a:buFontTx/>
              <a:buChar char="•"/>
            </a:pPr>
            <a:r>
              <a:rPr kumimoji="0" lang="en-US" sz="2400" b="0" u="none" strike="noStrike" cap="none" normalizeH="0" baseline="0" dirty="0" smtClean="0">
                <a:ln>
                  <a:noFill/>
                </a:ln>
                <a:solidFill>
                  <a:schemeClr val="tx1"/>
                </a:solidFill>
                <a:effectLst/>
                <a:latin typeface="Times New Roman" pitchFamily="18" charset="0"/>
                <a:cs typeface="Times New Roman" pitchFamily="18" charset="0"/>
              </a:rPr>
              <a:t>Text Prediction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400" b="0" u="none" strike="noStrike" cap="none" normalizeH="0" baseline="0" dirty="0" smtClean="0">
              <a:ln>
                <a:noFill/>
              </a:ln>
              <a:solidFill>
                <a:schemeClr val="tx1"/>
              </a:solidFill>
              <a:effectLst/>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0"/>
            <a:ext cx="7943088" cy="6248400"/>
          </a:xfrm>
        </p:spPr>
        <p:txBody>
          <a:bodyPr/>
          <a:lstStyle/>
          <a:p>
            <a:pPr>
              <a:buNone/>
            </a:pPr>
            <a:r>
              <a:rPr lang="en-US" sz="2800" b="1" u="sng" dirty="0" smtClean="0">
                <a:latin typeface="Times New Roman" pitchFamily="18" charset="0"/>
                <a:cs typeface="Times New Roman" pitchFamily="18" charset="0"/>
              </a:rPr>
              <a:t>Slide 17 – Limitation of RNN</a:t>
            </a:r>
          </a:p>
          <a:p>
            <a:pPr>
              <a:buNone/>
            </a:pPr>
            <a:endParaRPr lang="en-US" sz="2800" b="1" u="sng" dirty="0" smtClean="0">
              <a:latin typeface="Times New Roman" pitchFamily="18" charset="0"/>
              <a:cs typeface="Times New Roman" pitchFamily="18" charset="0"/>
            </a:endParaRPr>
          </a:p>
          <a:p>
            <a:pPr>
              <a:buNone/>
            </a:pPr>
            <a:r>
              <a:rPr lang="en-US" sz="2400" b="1" dirty="0" smtClean="0">
                <a:latin typeface="Times New Roman" pitchFamily="18" charset="0"/>
                <a:cs typeface="Times New Roman" pitchFamily="18" charset="0"/>
              </a:rPr>
              <a:t>Problem</a:t>
            </a:r>
          </a:p>
          <a:p>
            <a:pPr lvl="2">
              <a:buNone/>
            </a:pPr>
            <a:r>
              <a:rPr lang="en-US" dirty="0" smtClean="0">
                <a:latin typeface="Times New Roman" pitchFamily="18" charset="0"/>
                <a:cs typeface="Times New Roman" pitchFamily="18" charset="0"/>
              </a:rPr>
              <a:t>Long-term dependencies.</a:t>
            </a:r>
          </a:p>
          <a:p>
            <a:pPr lvl="2">
              <a:buNone/>
            </a:pPr>
            <a:endParaRPr lang="en-IN" dirty="0" smtClean="0">
              <a:latin typeface="Times New Roman" pitchFamily="18" charset="0"/>
              <a:cs typeface="Times New Roman" pitchFamily="18" charset="0"/>
            </a:endParaRPr>
          </a:p>
          <a:p>
            <a:pPr lvl="2">
              <a:buNone/>
            </a:pPr>
            <a:endParaRPr lang="en-US" dirty="0" smtClean="0">
              <a:latin typeface="Times New Roman" pitchFamily="18" charset="0"/>
              <a:cs typeface="Times New Roman" pitchFamily="18" charset="0"/>
            </a:endParaRPr>
          </a:p>
          <a:p>
            <a:pPr>
              <a:buNone/>
            </a:pPr>
            <a:r>
              <a:rPr lang="en-US" sz="2400" b="1" dirty="0" smtClean="0">
                <a:latin typeface="Times New Roman" pitchFamily="18" charset="0"/>
                <a:cs typeface="Times New Roman" pitchFamily="18" charset="0"/>
              </a:rPr>
              <a:t>Example</a:t>
            </a:r>
          </a:p>
          <a:p>
            <a:pPr>
              <a:buNone/>
            </a:pPr>
            <a:endParaRPr lang="en-US" sz="2400" b="1" dirty="0" smtClean="0">
              <a:latin typeface="Times New Roman" pitchFamily="18" charset="0"/>
              <a:cs typeface="Times New Roman" pitchFamily="18" charset="0"/>
            </a:endParaRPr>
          </a:p>
          <a:p>
            <a:pPr>
              <a:buNone/>
            </a:pPr>
            <a:r>
              <a:rPr lang="en-US" sz="2400" dirty="0" smtClean="0">
                <a:latin typeface="Times New Roman" pitchFamily="18" charset="0"/>
                <a:cs typeface="Times New Roman" pitchFamily="18" charset="0"/>
              </a:rPr>
              <a:t>The boy who won the competition after several rounds received his prize. </a:t>
            </a:r>
          </a:p>
          <a:p>
            <a:pPr>
              <a:buNone/>
            </a:pPr>
            <a:r>
              <a:rPr lang="en-US" sz="2400" dirty="0" smtClean="0">
                <a:latin typeface="Times New Roman" pitchFamily="18" charset="0"/>
                <a:cs typeface="Times New Roman" pitchFamily="18" charset="0"/>
              </a:rPr>
              <a:t>The network may forget "The boy"</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0"/>
            <a:ext cx="7943088" cy="6248400"/>
          </a:xfrm>
        </p:spPr>
        <p:txBody>
          <a:bodyPr>
            <a:noAutofit/>
          </a:bodyPr>
          <a:lstStyle/>
          <a:p>
            <a:pPr>
              <a:buNone/>
            </a:pPr>
            <a:r>
              <a:rPr lang="en-US" sz="2800" b="1" u="sng" dirty="0" smtClean="0">
                <a:latin typeface="Times New Roman" pitchFamily="18" charset="0"/>
                <a:cs typeface="Times New Roman" pitchFamily="18" charset="0"/>
              </a:rPr>
              <a:t>Slide 18 – LSTM</a:t>
            </a:r>
          </a:p>
          <a:p>
            <a:pPr lvl="2">
              <a:buNone/>
            </a:pPr>
            <a:r>
              <a:rPr lang="en-US" dirty="0" smtClean="0">
                <a:latin typeface="Times New Roman" pitchFamily="18" charset="0"/>
                <a:cs typeface="Times New Roman" pitchFamily="18" charset="0"/>
              </a:rPr>
              <a:t>Long Short-Term Memory</a:t>
            </a:r>
          </a:p>
          <a:p>
            <a:pPr lvl="2">
              <a:buNone/>
            </a:pPr>
            <a:r>
              <a:rPr lang="en-US" dirty="0" smtClean="0">
                <a:latin typeface="Times New Roman" pitchFamily="18" charset="0"/>
                <a:cs typeface="Times New Roman" pitchFamily="18" charset="0"/>
              </a:rPr>
              <a:t>Adds memory cells.</a:t>
            </a:r>
          </a:p>
          <a:p>
            <a:pPr lvl="2">
              <a:buNone/>
            </a:pPr>
            <a:endParaRPr lang="en-US" dirty="0" smtClean="0">
              <a:latin typeface="Times New Roman" pitchFamily="18" charset="0"/>
              <a:cs typeface="Times New Roman" pitchFamily="18" charset="0"/>
            </a:endParaRPr>
          </a:p>
          <a:p>
            <a:pPr>
              <a:buNone/>
            </a:pPr>
            <a:r>
              <a:rPr lang="en-US" sz="2400" dirty="0" smtClean="0">
                <a:latin typeface="Times New Roman" pitchFamily="18" charset="0"/>
                <a:cs typeface="Times New Roman" pitchFamily="18" charset="0"/>
              </a:rPr>
              <a:t>Input </a:t>
            </a:r>
          </a:p>
          <a:p>
            <a:pPr>
              <a:buNone/>
            </a:pPr>
            <a:r>
              <a:rPr lang="en-US" sz="2400" dirty="0" smtClean="0">
                <a:latin typeface="Times New Roman" pitchFamily="18" charset="0"/>
                <a:cs typeface="Times New Roman" pitchFamily="18" charset="0"/>
              </a:rPr>
              <a:t>↓</a:t>
            </a:r>
          </a:p>
          <a:p>
            <a:pPr>
              <a:buNone/>
            </a:pPr>
            <a:r>
              <a:rPr lang="en-US" sz="2400" dirty="0" smtClean="0">
                <a:latin typeface="Times New Roman" pitchFamily="18" charset="0"/>
                <a:cs typeface="Times New Roman" pitchFamily="18" charset="0"/>
              </a:rPr>
              <a:t> Forget Gate</a:t>
            </a:r>
          </a:p>
          <a:p>
            <a:pPr>
              <a:buNone/>
            </a:pPr>
            <a:r>
              <a:rPr lang="en-US" sz="2400" dirty="0" smtClean="0">
                <a:latin typeface="Times New Roman" pitchFamily="18" charset="0"/>
                <a:cs typeface="Times New Roman" pitchFamily="18" charset="0"/>
              </a:rPr>
              <a:t> ↓ </a:t>
            </a:r>
          </a:p>
          <a:p>
            <a:pPr>
              <a:buNone/>
            </a:pPr>
            <a:r>
              <a:rPr lang="en-US" sz="2400" dirty="0" smtClean="0">
                <a:latin typeface="Times New Roman" pitchFamily="18" charset="0"/>
                <a:cs typeface="Times New Roman" pitchFamily="18" charset="0"/>
              </a:rPr>
              <a:t>Input Gate</a:t>
            </a:r>
          </a:p>
          <a:p>
            <a:pPr>
              <a:buNone/>
            </a:pPr>
            <a:r>
              <a:rPr lang="en-US" sz="2400" dirty="0" smtClean="0">
                <a:latin typeface="Times New Roman" pitchFamily="18" charset="0"/>
                <a:cs typeface="Times New Roman" pitchFamily="18" charset="0"/>
              </a:rPr>
              <a:t> ↓ </a:t>
            </a:r>
          </a:p>
          <a:p>
            <a:pPr>
              <a:buNone/>
            </a:pPr>
            <a:r>
              <a:rPr lang="en-US" sz="2400" dirty="0" smtClean="0">
                <a:latin typeface="Times New Roman" pitchFamily="18" charset="0"/>
                <a:cs typeface="Times New Roman" pitchFamily="18" charset="0"/>
              </a:rPr>
              <a:t>Output Gate</a:t>
            </a:r>
          </a:p>
          <a:p>
            <a:pPr>
              <a:buNone/>
            </a:pPr>
            <a:r>
              <a:rPr lang="en-US" sz="2400" dirty="0" smtClean="0">
                <a:latin typeface="Times New Roman" pitchFamily="18" charset="0"/>
                <a:cs typeface="Times New Roman" pitchFamily="18" charset="0"/>
              </a:rPr>
              <a:t> ↓ </a:t>
            </a:r>
          </a:p>
          <a:p>
            <a:pPr>
              <a:buNone/>
            </a:pPr>
            <a:r>
              <a:rPr lang="en-US" sz="2400" dirty="0" smtClean="0">
                <a:latin typeface="Times New Roman" pitchFamily="18" charset="0"/>
                <a:cs typeface="Times New Roman" pitchFamily="18" charset="0"/>
              </a:rPr>
              <a:t>Prediction</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0"/>
            <a:ext cx="7943088" cy="6248400"/>
          </a:xfrm>
        </p:spPr>
        <p:txBody>
          <a:bodyPr/>
          <a:lstStyle/>
          <a:p>
            <a:pPr>
              <a:buNone/>
            </a:pPr>
            <a:r>
              <a:rPr lang="en-US" sz="2400" b="1" dirty="0" smtClean="0">
                <a:latin typeface="Times New Roman" pitchFamily="18" charset="0"/>
                <a:cs typeface="Times New Roman" pitchFamily="18" charset="0"/>
              </a:rPr>
              <a:t>Purpose</a:t>
            </a:r>
          </a:p>
          <a:p>
            <a:pPr>
              <a:buNone/>
            </a:pPr>
            <a:r>
              <a:rPr lang="en-US" sz="2400" dirty="0" smtClean="0">
                <a:latin typeface="Times New Roman" pitchFamily="18" charset="0"/>
                <a:cs typeface="Times New Roman" pitchFamily="18" charset="0"/>
              </a:rPr>
              <a:t>			Remember important information over long sequences.</a:t>
            </a:r>
          </a:p>
          <a:p>
            <a:pPr>
              <a:buNone/>
            </a:pPr>
            <a:endParaRPr lang="en-US" sz="2400" dirty="0" smtClean="0">
              <a:latin typeface="Times New Roman" pitchFamily="18" charset="0"/>
              <a:cs typeface="Times New Roman" pitchFamily="18" charset="0"/>
            </a:endParaRPr>
          </a:p>
          <a:p>
            <a:pPr>
              <a:buNone/>
            </a:pPr>
            <a:r>
              <a:rPr lang="en-US" sz="2400" b="1" dirty="0" smtClean="0">
                <a:latin typeface="Times New Roman" pitchFamily="18" charset="0"/>
                <a:cs typeface="Times New Roman" pitchFamily="18" charset="0"/>
              </a:rPr>
              <a:t>Applications</a:t>
            </a:r>
          </a:p>
          <a:p>
            <a:pPr lvl="1"/>
            <a:r>
              <a:rPr lang="en-US" sz="2000" dirty="0" smtClean="0">
                <a:latin typeface="Times New Roman" pitchFamily="18" charset="0"/>
                <a:cs typeface="Times New Roman" pitchFamily="18" charset="0"/>
              </a:rPr>
              <a:t>Translation </a:t>
            </a:r>
          </a:p>
          <a:p>
            <a:pPr lvl="1"/>
            <a:r>
              <a:rPr lang="en-US" sz="2000" dirty="0" smtClean="0">
                <a:latin typeface="Times New Roman" pitchFamily="18" charset="0"/>
                <a:cs typeface="Times New Roman" pitchFamily="18" charset="0"/>
              </a:rPr>
              <a:t>Voice Assistant </a:t>
            </a:r>
          </a:p>
          <a:p>
            <a:pPr lvl="1"/>
            <a:r>
              <a:rPr lang="en-US" sz="2000" dirty="0" smtClean="0">
                <a:latin typeface="Times New Roman" pitchFamily="18" charset="0"/>
                <a:cs typeface="Times New Roman" pitchFamily="18" charset="0"/>
              </a:rPr>
              <a:t>Time Series </a:t>
            </a:r>
          </a:p>
          <a:p>
            <a:pPr lvl="1"/>
            <a:r>
              <a:rPr lang="en-US" sz="2000" dirty="0" smtClean="0">
                <a:latin typeface="Times New Roman" pitchFamily="18" charset="0"/>
                <a:cs typeface="Times New Roman" pitchFamily="18" charset="0"/>
              </a:rPr>
              <a:t>Speech Recognition</a:t>
            </a:r>
          </a:p>
          <a:p>
            <a:pPr>
              <a:buNone/>
            </a:pP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1143000" y="228600"/>
          <a:ext cx="7791450" cy="4023360"/>
        </p:xfrm>
        <a:graphic>
          <a:graphicData uri="http://schemas.openxmlformats.org/drawingml/2006/table">
            <a:tbl>
              <a:tblPr firstRow="1" bandRow="1">
                <a:tableStyleId>{5C22544A-7EE6-4342-B048-85BDC9FD1C3A}</a:tableStyleId>
              </a:tblPr>
              <a:tblGrid>
                <a:gridCol w="2597150"/>
                <a:gridCol w="2597150"/>
                <a:gridCol w="2597150"/>
              </a:tblGrid>
              <a:tr h="370840">
                <a:tc>
                  <a:txBody>
                    <a:bodyPr/>
                    <a:lstStyle/>
                    <a:p>
                      <a:r>
                        <a:rPr lang="en-US" sz="2400" dirty="0">
                          <a:latin typeface="Times New Roman" pitchFamily="18" charset="0"/>
                          <a:cs typeface="Times New Roman" pitchFamily="18" charset="0"/>
                        </a:rPr>
                        <a:t>CNN</a:t>
                      </a:r>
                    </a:p>
                  </a:txBody>
                  <a:tcPr anchor="ctr"/>
                </a:tc>
                <a:tc>
                  <a:txBody>
                    <a:bodyPr/>
                    <a:lstStyle/>
                    <a:p>
                      <a:r>
                        <a:rPr lang="en-US" sz="2400">
                          <a:latin typeface="Times New Roman" pitchFamily="18" charset="0"/>
                          <a:cs typeface="Times New Roman" pitchFamily="18" charset="0"/>
                        </a:rPr>
                        <a:t>RNN</a:t>
                      </a:r>
                    </a:p>
                  </a:txBody>
                  <a:tcPr anchor="ctr"/>
                </a:tc>
                <a:tc>
                  <a:txBody>
                    <a:bodyPr/>
                    <a:lstStyle/>
                    <a:p>
                      <a:r>
                        <a:rPr lang="en-US" sz="2400">
                          <a:latin typeface="Times New Roman" pitchFamily="18" charset="0"/>
                          <a:cs typeface="Times New Roman" pitchFamily="18" charset="0"/>
                        </a:rPr>
                        <a:t>LSTM</a:t>
                      </a:r>
                    </a:p>
                  </a:txBody>
                  <a:tcPr anchor="ctr"/>
                </a:tc>
              </a:tr>
              <a:tr h="370840">
                <a:tc>
                  <a:txBody>
                    <a:bodyPr/>
                    <a:lstStyle/>
                    <a:p>
                      <a:r>
                        <a:rPr lang="en-US" sz="2400">
                          <a:latin typeface="Times New Roman" pitchFamily="18" charset="0"/>
                          <a:cs typeface="Times New Roman" pitchFamily="18" charset="0"/>
                        </a:rPr>
                        <a:t>Images</a:t>
                      </a:r>
                    </a:p>
                  </a:txBody>
                  <a:tcPr anchor="ctr"/>
                </a:tc>
                <a:tc>
                  <a:txBody>
                    <a:bodyPr/>
                    <a:lstStyle/>
                    <a:p>
                      <a:r>
                        <a:rPr lang="en-US" sz="2400">
                          <a:latin typeface="Times New Roman" pitchFamily="18" charset="0"/>
                          <a:cs typeface="Times New Roman" pitchFamily="18" charset="0"/>
                        </a:rPr>
                        <a:t>Sequential Data</a:t>
                      </a:r>
                    </a:p>
                  </a:txBody>
                  <a:tcPr anchor="ctr"/>
                </a:tc>
                <a:tc>
                  <a:txBody>
                    <a:bodyPr/>
                    <a:lstStyle/>
                    <a:p>
                      <a:r>
                        <a:rPr lang="en-US" sz="2400">
                          <a:latin typeface="Times New Roman" pitchFamily="18" charset="0"/>
                          <a:cs typeface="Times New Roman" pitchFamily="18" charset="0"/>
                        </a:rPr>
                        <a:t>Long Sequential Data</a:t>
                      </a:r>
                    </a:p>
                  </a:txBody>
                  <a:tcPr anchor="ctr"/>
                </a:tc>
              </a:tr>
              <a:tr h="370840">
                <a:tc>
                  <a:txBody>
                    <a:bodyPr/>
                    <a:lstStyle/>
                    <a:p>
                      <a:r>
                        <a:rPr lang="en-US" sz="2400" dirty="0">
                          <a:latin typeface="Times New Roman" pitchFamily="18" charset="0"/>
                          <a:cs typeface="Times New Roman" pitchFamily="18" charset="0"/>
                        </a:rPr>
                        <a:t>Parallel</a:t>
                      </a:r>
                    </a:p>
                  </a:txBody>
                  <a:tcPr anchor="ctr"/>
                </a:tc>
                <a:tc>
                  <a:txBody>
                    <a:bodyPr/>
                    <a:lstStyle/>
                    <a:p>
                      <a:r>
                        <a:rPr lang="en-US" sz="2400">
                          <a:latin typeface="Times New Roman" pitchFamily="18" charset="0"/>
                          <a:cs typeface="Times New Roman" pitchFamily="18" charset="0"/>
                        </a:rPr>
                        <a:t>Sequential</a:t>
                      </a:r>
                    </a:p>
                  </a:txBody>
                  <a:tcPr anchor="ctr"/>
                </a:tc>
                <a:tc>
                  <a:txBody>
                    <a:bodyPr/>
                    <a:lstStyle/>
                    <a:p>
                      <a:r>
                        <a:rPr lang="en-US" sz="2400">
                          <a:latin typeface="Times New Roman" pitchFamily="18" charset="0"/>
                          <a:cs typeface="Times New Roman" pitchFamily="18" charset="0"/>
                        </a:rPr>
                        <a:t>Sequential</a:t>
                      </a:r>
                    </a:p>
                  </a:txBody>
                  <a:tcPr anchor="ctr"/>
                </a:tc>
              </a:tr>
              <a:tr h="370840">
                <a:tc>
                  <a:txBody>
                    <a:bodyPr/>
                    <a:lstStyle/>
                    <a:p>
                      <a:r>
                        <a:rPr lang="en-US" sz="2400">
                          <a:latin typeface="Times New Roman" pitchFamily="18" charset="0"/>
                          <a:cs typeface="Times New Roman" pitchFamily="18" charset="0"/>
                        </a:rPr>
                        <a:t>Face Recognition</a:t>
                      </a:r>
                    </a:p>
                  </a:txBody>
                  <a:tcPr anchor="ctr"/>
                </a:tc>
                <a:tc>
                  <a:txBody>
                    <a:bodyPr/>
                    <a:lstStyle/>
                    <a:p>
                      <a:r>
                        <a:rPr lang="en-US" sz="2400">
                          <a:latin typeface="Times New Roman" pitchFamily="18" charset="0"/>
                          <a:cs typeface="Times New Roman" pitchFamily="18" charset="0"/>
                        </a:rPr>
                        <a:t>Translation</a:t>
                      </a:r>
                    </a:p>
                  </a:txBody>
                  <a:tcPr anchor="ctr"/>
                </a:tc>
                <a:tc>
                  <a:txBody>
                    <a:bodyPr/>
                    <a:lstStyle/>
                    <a:p>
                      <a:r>
                        <a:rPr lang="en-US" sz="2400">
                          <a:latin typeface="Times New Roman" pitchFamily="18" charset="0"/>
                          <a:cs typeface="Times New Roman" pitchFamily="18" charset="0"/>
                        </a:rPr>
                        <a:t>Chatbot Memory</a:t>
                      </a:r>
                    </a:p>
                  </a:txBody>
                  <a:tcPr anchor="ctr"/>
                </a:tc>
              </a:tr>
              <a:tr h="370840">
                <a:tc>
                  <a:txBody>
                    <a:bodyPr/>
                    <a:lstStyle/>
                    <a:p>
                      <a:r>
                        <a:rPr lang="en-US" sz="2400">
                          <a:latin typeface="Times New Roman" pitchFamily="18" charset="0"/>
                          <a:cs typeface="Times New Roman" pitchFamily="18" charset="0"/>
                        </a:rPr>
                        <a:t>Computer Vision</a:t>
                      </a:r>
                    </a:p>
                  </a:txBody>
                  <a:tcPr anchor="ctr"/>
                </a:tc>
                <a:tc>
                  <a:txBody>
                    <a:bodyPr/>
                    <a:lstStyle/>
                    <a:p>
                      <a:r>
                        <a:rPr lang="en-US" sz="2400">
                          <a:latin typeface="Times New Roman" pitchFamily="18" charset="0"/>
                          <a:cs typeface="Times New Roman" pitchFamily="18" charset="0"/>
                        </a:rPr>
                        <a:t>Speech</a:t>
                      </a:r>
                    </a:p>
                  </a:txBody>
                  <a:tcPr anchor="ctr"/>
                </a:tc>
                <a:tc>
                  <a:txBody>
                    <a:bodyPr/>
                    <a:lstStyle/>
                    <a:p>
                      <a:r>
                        <a:rPr lang="en-US" sz="2400" dirty="0">
                          <a:latin typeface="Times New Roman" pitchFamily="18" charset="0"/>
                          <a:cs typeface="Times New Roman" pitchFamily="18" charset="0"/>
                        </a:rPr>
                        <a:t>Weather Prediction</a:t>
                      </a:r>
                    </a:p>
                  </a:txBody>
                  <a:tcPr anchor="ctr"/>
                </a:tc>
              </a:tr>
              <a:tr h="370840">
                <a:tc>
                  <a:txBody>
                    <a:bodyPr/>
                    <a:lstStyle/>
                    <a:p>
                      <a:endParaRPr lang="en-US" sz="2400">
                        <a:latin typeface="Times New Roman" pitchFamily="18" charset="0"/>
                        <a:cs typeface="Times New Roman" pitchFamily="18" charset="0"/>
                      </a:endParaRPr>
                    </a:p>
                  </a:txBody>
                  <a:tcPr/>
                </a:tc>
                <a:tc>
                  <a:txBody>
                    <a:bodyPr/>
                    <a:lstStyle/>
                    <a:p>
                      <a:endParaRPr lang="en-US" sz="2400">
                        <a:latin typeface="Times New Roman" pitchFamily="18" charset="0"/>
                        <a:cs typeface="Times New Roman" pitchFamily="18" charset="0"/>
                      </a:endParaRPr>
                    </a:p>
                  </a:txBody>
                  <a:tcPr/>
                </a:tc>
                <a:tc>
                  <a:txBody>
                    <a:bodyPr/>
                    <a:lstStyle/>
                    <a:p>
                      <a:endParaRPr lang="en-US" sz="2400">
                        <a:latin typeface="Times New Roman" pitchFamily="18" charset="0"/>
                        <a:cs typeface="Times New Roman" pitchFamily="18" charset="0"/>
                      </a:endParaRPr>
                    </a:p>
                  </a:txBody>
                  <a:tcPr/>
                </a:tc>
              </a:tr>
              <a:tr h="370840">
                <a:tc>
                  <a:txBody>
                    <a:bodyPr/>
                    <a:lstStyle/>
                    <a:p>
                      <a:endParaRPr lang="en-US" sz="2400">
                        <a:latin typeface="Times New Roman" pitchFamily="18" charset="0"/>
                        <a:cs typeface="Times New Roman" pitchFamily="18" charset="0"/>
                      </a:endParaRPr>
                    </a:p>
                  </a:txBody>
                  <a:tcPr/>
                </a:tc>
                <a:tc>
                  <a:txBody>
                    <a:bodyPr/>
                    <a:lstStyle/>
                    <a:p>
                      <a:endParaRPr lang="en-US" sz="2400">
                        <a:latin typeface="Times New Roman" pitchFamily="18" charset="0"/>
                        <a:cs typeface="Times New Roman" pitchFamily="18" charset="0"/>
                      </a:endParaRPr>
                    </a:p>
                  </a:txBody>
                  <a:tcPr/>
                </a:tc>
                <a:tc>
                  <a:txBody>
                    <a:bodyPr/>
                    <a:lstStyle/>
                    <a:p>
                      <a:endParaRPr lang="en-US" sz="2400">
                        <a:latin typeface="Times New Roman" pitchFamily="18" charset="0"/>
                        <a:cs typeface="Times New Roman" pitchFamily="18" charset="0"/>
                      </a:endParaRPr>
                    </a:p>
                  </a:txBody>
                  <a:tcPr/>
                </a:tc>
              </a:tr>
              <a:tr h="370840">
                <a:tc>
                  <a:txBody>
                    <a:bodyPr/>
                    <a:lstStyle/>
                    <a:p>
                      <a:endParaRPr lang="en-US" sz="2400">
                        <a:latin typeface="Times New Roman" pitchFamily="18" charset="0"/>
                        <a:cs typeface="Times New Roman" pitchFamily="18" charset="0"/>
                      </a:endParaRPr>
                    </a:p>
                  </a:txBody>
                  <a:tcPr/>
                </a:tc>
                <a:tc>
                  <a:txBody>
                    <a:bodyPr/>
                    <a:lstStyle/>
                    <a:p>
                      <a:endParaRPr lang="en-US" sz="2400" dirty="0">
                        <a:latin typeface="Times New Roman" pitchFamily="18" charset="0"/>
                        <a:cs typeface="Times New Roman" pitchFamily="18" charset="0"/>
                      </a:endParaRPr>
                    </a:p>
                  </a:txBody>
                  <a:tcPr/>
                </a:tc>
                <a:tc>
                  <a:txBody>
                    <a:bodyPr/>
                    <a:lstStyle/>
                    <a:p>
                      <a:endParaRPr lang="en-US" sz="2400" dirty="0">
                        <a:latin typeface="Times New Roman" pitchFamily="18" charset="0"/>
                        <a:cs typeface="Times New Roman" pitchFamily="18" charset="0"/>
                      </a:endParaRPr>
                    </a:p>
                  </a:txBody>
                  <a:tcPr/>
                </a:tc>
              </a:tr>
            </a:tbl>
          </a:graphicData>
        </a:graphic>
      </p:graphicFrame>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0"/>
            <a:ext cx="7943088" cy="6858000"/>
          </a:xfrm>
        </p:spPr>
        <p:txBody>
          <a:bodyPr>
            <a:normAutofit fontScale="77500" lnSpcReduction="20000"/>
          </a:bodyPr>
          <a:lstStyle/>
          <a:p>
            <a:pPr>
              <a:buNone/>
            </a:pPr>
            <a:r>
              <a:rPr lang="en-US" sz="4000" b="1" u="sng" dirty="0" smtClean="0">
                <a:latin typeface="Times New Roman" pitchFamily="18" charset="0"/>
                <a:cs typeface="Times New Roman" pitchFamily="18" charset="0"/>
              </a:rPr>
              <a:t>Slide 22 – Industry Deep Learning Stack</a:t>
            </a:r>
          </a:p>
          <a:p>
            <a:pPr lvl="3">
              <a:buNone/>
            </a:pPr>
            <a:endParaRPr lang="en-US" sz="2600" dirty="0" smtClean="0">
              <a:latin typeface="Times New Roman" pitchFamily="18" charset="0"/>
              <a:cs typeface="Times New Roman" pitchFamily="18" charset="0"/>
            </a:endParaRPr>
          </a:p>
          <a:p>
            <a:pPr lvl="3">
              <a:buNone/>
            </a:pPr>
            <a:r>
              <a:rPr lang="en-US" sz="2600" dirty="0" smtClean="0">
                <a:latin typeface="Times New Roman" pitchFamily="18" charset="0"/>
                <a:cs typeface="Times New Roman" pitchFamily="18" charset="0"/>
              </a:rPr>
              <a:t>Python </a:t>
            </a:r>
          </a:p>
          <a:p>
            <a:pPr lvl="3">
              <a:buNone/>
            </a:pPr>
            <a:r>
              <a:rPr lang="en-US" sz="2600" dirty="0" smtClean="0">
                <a:latin typeface="Times New Roman" pitchFamily="18" charset="0"/>
                <a:cs typeface="Times New Roman" pitchFamily="18" charset="0"/>
              </a:rPr>
              <a:t>↓</a:t>
            </a:r>
          </a:p>
          <a:p>
            <a:pPr lvl="3">
              <a:buNone/>
            </a:pP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NumPy</a:t>
            </a:r>
            <a:r>
              <a:rPr lang="en-US" sz="2600" dirty="0" smtClean="0">
                <a:latin typeface="Times New Roman" pitchFamily="18" charset="0"/>
                <a:cs typeface="Times New Roman" pitchFamily="18" charset="0"/>
              </a:rPr>
              <a:t> </a:t>
            </a:r>
          </a:p>
          <a:p>
            <a:pPr lvl="3">
              <a:buNone/>
            </a:pPr>
            <a:r>
              <a:rPr lang="en-US" sz="2600" dirty="0" smtClean="0">
                <a:latin typeface="Times New Roman" pitchFamily="18" charset="0"/>
                <a:cs typeface="Times New Roman" pitchFamily="18" charset="0"/>
              </a:rPr>
              <a:t>↓</a:t>
            </a:r>
          </a:p>
          <a:p>
            <a:pPr lvl="3">
              <a:buNone/>
            </a:pPr>
            <a:r>
              <a:rPr lang="en-US" sz="2600" dirty="0" smtClean="0">
                <a:latin typeface="Times New Roman" pitchFamily="18" charset="0"/>
                <a:cs typeface="Times New Roman" pitchFamily="18" charset="0"/>
              </a:rPr>
              <a:t> Pandas</a:t>
            </a:r>
          </a:p>
          <a:p>
            <a:pPr lvl="3">
              <a:buNone/>
            </a:pPr>
            <a:r>
              <a:rPr lang="en-US" sz="2600" dirty="0" smtClean="0">
                <a:latin typeface="Times New Roman" pitchFamily="18" charset="0"/>
                <a:cs typeface="Times New Roman" pitchFamily="18" charset="0"/>
              </a:rPr>
              <a:t> ↓</a:t>
            </a:r>
          </a:p>
          <a:p>
            <a:pPr lvl="3">
              <a:buNone/>
            </a:pP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TensorFlow</a:t>
            </a:r>
            <a:r>
              <a:rPr lang="en-US" sz="2600" dirty="0" smtClean="0">
                <a:latin typeface="Times New Roman" pitchFamily="18" charset="0"/>
                <a:cs typeface="Times New Roman" pitchFamily="18" charset="0"/>
              </a:rPr>
              <a:t> / </a:t>
            </a:r>
            <a:r>
              <a:rPr lang="en-US" sz="2600" dirty="0" err="1" smtClean="0">
                <a:latin typeface="Times New Roman" pitchFamily="18" charset="0"/>
                <a:cs typeface="Times New Roman" pitchFamily="18" charset="0"/>
              </a:rPr>
              <a:t>PyTorch</a:t>
            </a:r>
            <a:r>
              <a:rPr lang="en-US" sz="2600" dirty="0" smtClean="0">
                <a:latin typeface="Times New Roman" pitchFamily="18" charset="0"/>
                <a:cs typeface="Times New Roman" pitchFamily="18" charset="0"/>
              </a:rPr>
              <a:t> </a:t>
            </a:r>
          </a:p>
          <a:p>
            <a:pPr lvl="3">
              <a:buNone/>
            </a:pPr>
            <a:r>
              <a:rPr lang="en-US" sz="2600" dirty="0" smtClean="0">
                <a:latin typeface="Times New Roman" pitchFamily="18" charset="0"/>
                <a:cs typeface="Times New Roman" pitchFamily="18" charset="0"/>
              </a:rPr>
              <a:t>↓ </a:t>
            </a:r>
          </a:p>
          <a:p>
            <a:pPr lvl="3">
              <a:buNone/>
            </a:pPr>
            <a:r>
              <a:rPr lang="en-US" sz="2600" dirty="0" smtClean="0">
                <a:latin typeface="Times New Roman" pitchFamily="18" charset="0"/>
                <a:cs typeface="Times New Roman" pitchFamily="18" charset="0"/>
              </a:rPr>
              <a:t>CUDA (parallel computing  model, NVIDIA)</a:t>
            </a:r>
          </a:p>
          <a:p>
            <a:pPr lvl="3">
              <a:buNone/>
            </a:pPr>
            <a:r>
              <a:rPr lang="en-US" sz="2600" dirty="0" smtClean="0">
                <a:latin typeface="Times New Roman" pitchFamily="18" charset="0"/>
                <a:cs typeface="Times New Roman" pitchFamily="18" charset="0"/>
              </a:rPr>
              <a:t>↓ </a:t>
            </a:r>
          </a:p>
          <a:p>
            <a:pPr lvl="3">
              <a:buNone/>
            </a:pPr>
            <a:r>
              <a:rPr lang="en-US" sz="2600" dirty="0" smtClean="0">
                <a:latin typeface="Times New Roman" pitchFamily="18" charset="0"/>
                <a:cs typeface="Times New Roman" pitchFamily="18" charset="0"/>
              </a:rPr>
              <a:t>GPU </a:t>
            </a:r>
          </a:p>
          <a:p>
            <a:pPr lvl="3">
              <a:buNone/>
            </a:pPr>
            <a:r>
              <a:rPr lang="en-US" sz="2600" dirty="0" smtClean="0">
                <a:latin typeface="Times New Roman" pitchFamily="18" charset="0"/>
                <a:cs typeface="Times New Roman" pitchFamily="18" charset="0"/>
              </a:rPr>
              <a:t>↓ </a:t>
            </a:r>
          </a:p>
          <a:p>
            <a:pPr lvl="3">
              <a:buNone/>
            </a:pPr>
            <a:r>
              <a:rPr lang="en-US" sz="2600" dirty="0" smtClean="0">
                <a:latin typeface="Times New Roman" pitchFamily="18" charset="0"/>
                <a:cs typeface="Times New Roman" pitchFamily="18" charset="0"/>
              </a:rPr>
              <a:t>Model Training </a:t>
            </a:r>
          </a:p>
          <a:p>
            <a:pPr lvl="3">
              <a:buNone/>
            </a:pPr>
            <a:r>
              <a:rPr lang="en-US" sz="2600" dirty="0" smtClean="0">
                <a:latin typeface="Times New Roman" pitchFamily="18" charset="0"/>
                <a:cs typeface="Times New Roman" pitchFamily="18" charset="0"/>
              </a:rPr>
              <a:t>↓</a:t>
            </a:r>
          </a:p>
          <a:p>
            <a:pPr lvl="3">
              <a:buNone/>
            </a:pPr>
            <a:r>
              <a:rPr lang="en-US" sz="2600" dirty="0" smtClean="0">
                <a:latin typeface="Times New Roman" pitchFamily="18" charset="0"/>
                <a:cs typeface="Times New Roman" pitchFamily="18" charset="0"/>
              </a:rPr>
              <a:t> Deployment </a:t>
            </a:r>
          </a:p>
          <a:p>
            <a:pPr lvl="3">
              <a:buNone/>
            </a:pPr>
            <a:r>
              <a:rPr lang="en-US" sz="2600" dirty="0" smtClean="0">
                <a:latin typeface="Times New Roman" pitchFamily="18" charset="0"/>
                <a:cs typeface="Times New Roman" pitchFamily="18" charset="0"/>
              </a:rPr>
              <a:t>↓ </a:t>
            </a:r>
          </a:p>
          <a:p>
            <a:pPr lvl="3">
              <a:buNone/>
            </a:pPr>
            <a:r>
              <a:rPr lang="en-US" sz="2600" dirty="0" smtClean="0">
                <a:latin typeface="Times New Roman" pitchFamily="18" charset="0"/>
                <a:cs typeface="Times New Roman" pitchFamily="18" charset="0"/>
              </a:rPr>
              <a:t>API</a:t>
            </a:r>
          </a:p>
          <a:p>
            <a:pPr lvl="3">
              <a:buNone/>
            </a:pPr>
            <a:r>
              <a:rPr lang="en-US" sz="2600" dirty="0" smtClean="0">
                <a:latin typeface="Times New Roman" pitchFamily="18" charset="0"/>
                <a:cs typeface="Times New Roman" pitchFamily="18" charset="0"/>
              </a:rPr>
              <a:t> ↓</a:t>
            </a:r>
          </a:p>
          <a:p>
            <a:pPr lvl="3">
              <a:buNone/>
            </a:pPr>
            <a:r>
              <a:rPr lang="en-US" sz="2600" dirty="0" smtClean="0">
                <a:latin typeface="Times New Roman" pitchFamily="18" charset="0"/>
                <a:cs typeface="Times New Roman" pitchFamily="18" charset="0"/>
              </a:rPr>
              <a:t> Application</a:t>
            </a:r>
          </a:p>
          <a:p>
            <a:pPr>
              <a:buNone/>
            </a:pPr>
            <a:endParaRPr lang="en-US" sz="28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0"/>
            <a:ext cx="7943088" cy="6858000"/>
          </a:xfrm>
        </p:spPr>
        <p:txBody>
          <a:bodyPr>
            <a:noAutofit/>
          </a:bodyPr>
          <a:lstStyle/>
          <a:p>
            <a:pPr>
              <a:buNone/>
            </a:pPr>
            <a:r>
              <a:rPr lang="en-US" sz="2800" b="1" u="sng" dirty="0" smtClean="0">
                <a:latin typeface="Times New Roman" pitchFamily="18" charset="0"/>
                <a:cs typeface="Times New Roman" pitchFamily="18" charset="0"/>
              </a:rPr>
              <a:t>Slide 23 – Future</a:t>
            </a:r>
          </a:p>
          <a:p>
            <a:pPr>
              <a:buNone/>
            </a:pPr>
            <a:r>
              <a:rPr lang="en-US" sz="1800" dirty="0" smtClean="0">
                <a:latin typeface="Times New Roman" pitchFamily="18" charset="0"/>
                <a:cs typeface="Times New Roman" pitchFamily="18" charset="0"/>
              </a:rPr>
              <a:t>ANN </a:t>
            </a:r>
          </a:p>
          <a:p>
            <a:pPr>
              <a:buNone/>
            </a:pPr>
            <a:r>
              <a:rPr lang="en-US" sz="1800" dirty="0" smtClean="0">
                <a:latin typeface="Times New Roman" pitchFamily="18" charset="0"/>
                <a:cs typeface="Times New Roman" pitchFamily="18" charset="0"/>
              </a:rPr>
              <a:t>↓ </a:t>
            </a:r>
          </a:p>
          <a:p>
            <a:pPr>
              <a:buNone/>
            </a:pPr>
            <a:r>
              <a:rPr lang="en-US" sz="1800" dirty="0" smtClean="0">
                <a:latin typeface="Times New Roman" pitchFamily="18" charset="0"/>
                <a:cs typeface="Times New Roman" pitchFamily="18" charset="0"/>
              </a:rPr>
              <a:t>CNN </a:t>
            </a:r>
          </a:p>
          <a:p>
            <a:pPr>
              <a:buNone/>
            </a:pPr>
            <a:r>
              <a:rPr lang="en-US" sz="1800" dirty="0" smtClean="0">
                <a:latin typeface="Times New Roman" pitchFamily="18" charset="0"/>
                <a:cs typeface="Times New Roman" pitchFamily="18" charset="0"/>
              </a:rPr>
              <a:t>↓</a:t>
            </a:r>
          </a:p>
          <a:p>
            <a:pPr>
              <a:buNone/>
            </a:pPr>
            <a:r>
              <a:rPr lang="en-US" sz="1800" dirty="0" smtClean="0">
                <a:latin typeface="Times New Roman" pitchFamily="18" charset="0"/>
                <a:cs typeface="Times New Roman" pitchFamily="18" charset="0"/>
              </a:rPr>
              <a:t> RNN </a:t>
            </a:r>
          </a:p>
          <a:p>
            <a:pPr>
              <a:buNone/>
            </a:pPr>
            <a:r>
              <a:rPr lang="en-US" sz="1800" dirty="0" smtClean="0">
                <a:latin typeface="Times New Roman" pitchFamily="18" charset="0"/>
                <a:cs typeface="Times New Roman" pitchFamily="18" charset="0"/>
              </a:rPr>
              <a:t>↓ </a:t>
            </a:r>
          </a:p>
          <a:p>
            <a:pPr>
              <a:buNone/>
            </a:pPr>
            <a:r>
              <a:rPr lang="en-US" sz="1800" dirty="0" smtClean="0">
                <a:latin typeface="Times New Roman" pitchFamily="18" charset="0"/>
                <a:cs typeface="Times New Roman" pitchFamily="18" charset="0"/>
              </a:rPr>
              <a:t>LSTM </a:t>
            </a:r>
          </a:p>
          <a:p>
            <a:pPr>
              <a:buNone/>
            </a:pPr>
            <a:r>
              <a:rPr lang="en-US" sz="1800" dirty="0" smtClean="0">
                <a:latin typeface="Times New Roman" pitchFamily="18" charset="0"/>
                <a:cs typeface="Times New Roman" pitchFamily="18" charset="0"/>
              </a:rPr>
              <a:t>↓ </a:t>
            </a:r>
          </a:p>
          <a:p>
            <a:pPr>
              <a:buNone/>
            </a:pPr>
            <a:r>
              <a:rPr lang="en-US" sz="1800" dirty="0" smtClean="0">
                <a:latin typeface="Times New Roman" pitchFamily="18" charset="0"/>
                <a:cs typeface="Times New Roman" pitchFamily="18" charset="0"/>
              </a:rPr>
              <a:t>Transformers </a:t>
            </a:r>
          </a:p>
          <a:p>
            <a:pPr>
              <a:buNone/>
            </a:pPr>
            <a:r>
              <a:rPr lang="en-US" sz="1800" dirty="0" smtClean="0">
                <a:latin typeface="Times New Roman" pitchFamily="18" charset="0"/>
                <a:cs typeface="Times New Roman" pitchFamily="18" charset="0"/>
              </a:rPr>
              <a:t>↓</a:t>
            </a:r>
          </a:p>
          <a:p>
            <a:pPr>
              <a:buNone/>
            </a:pPr>
            <a:r>
              <a:rPr lang="en-US" sz="1800" dirty="0" smtClean="0">
                <a:latin typeface="Times New Roman" pitchFamily="18" charset="0"/>
                <a:cs typeface="Times New Roman" pitchFamily="18" charset="0"/>
              </a:rPr>
              <a:t> LLMs </a:t>
            </a:r>
          </a:p>
          <a:p>
            <a:pPr>
              <a:buNone/>
            </a:pPr>
            <a:r>
              <a:rPr lang="en-US" sz="1800" dirty="0" smtClean="0">
                <a:latin typeface="Times New Roman" pitchFamily="18" charset="0"/>
                <a:cs typeface="Times New Roman" pitchFamily="18" charset="0"/>
              </a:rPr>
              <a:t>↓ </a:t>
            </a:r>
          </a:p>
          <a:p>
            <a:pPr>
              <a:buNone/>
            </a:pPr>
            <a:r>
              <a:rPr lang="en-US" sz="1800" dirty="0" smtClean="0">
                <a:latin typeface="Times New Roman" pitchFamily="18" charset="0"/>
                <a:cs typeface="Times New Roman" pitchFamily="18" charset="0"/>
              </a:rPr>
              <a:t>AI Agents </a:t>
            </a:r>
          </a:p>
          <a:p>
            <a:pPr>
              <a:buNone/>
            </a:pPr>
            <a:r>
              <a:rPr lang="en-US" sz="1800" dirty="0" smtClean="0">
                <a:latin typeface="Times New Roman" pitchFamily="18" charset="0"/>
                <a:cs typeface="Times New Roman" pitchFamily="18" charset="0"/>
              </a:rPr>
              <a:t>↓ AGI?</a:t>
            </a:r>
          </a:p>
          <a:p>
            <a:pPr>
              <a:buNone/>
            </a:pPr>
            <a:r>
              <a:rPr lang="en-US" sz="1800" dirty="0" smtClean="0">
                <a:latin typeface="Times New Roman" pitchFamily="18" charset="0"/>
                <a:cs typeface="Times New Roman" pitchFamily="18" charset="0"/>
              </a:rPr>
              <a:t>Transition</a:t>
            </a:r>
          </a:p>
          <a:p>
            <a:pPr>
              <a:buNone/>
            </a:pPr>
            <a:r>
              <a:rPr lang="en-US" sz="1800" dirty="0" smtClean="0">
                <a:latin typeface="Times New Roman" pitchFamily="18" charset="0"/>
                <a:cs typeface="Times New Roman" pitchFamily="18" charset="0"/>
              </a:rPr>
              <a:t>"Today we understood </a:t>
            </a:r>
            <a:r>
              <a:rPr lang="en-US" sz="1800" b="1" dirty="0" smtClean="0">
                <a:latin typeface="Times New Roman" pitchFamily="18" charset="0"/>
                <a:cs typeface="Times New Roman" pitchFamily="18" charset="0"/>
              </a:rPr>
              <a:t>how Deep Learning works</a:t>
            </a:r>
            <a:r>
              <a:rPr lang="en-US" sz="1800" dirty="0" smtClean="0">
                <a:latin typeface="Times New Roman" pitchFamily="18" charset="0"/>
                <a:cs typeface="Times New Roman" pitchFamily="18" charset="0"/>
              </a:rPr>
              <a:t>. In the next lecture, we'll explore </a:t>
            </a:r>
            <a:r>
              <a:rPr lang="en-US" sz="1800" b="1" dirty="0" smtClean="0">
                <a:latin typeface="Times New Roman" pitchFamily="18" charset="0"/>
                <a:cs typeface="Times New Roman" pitchFamily="18" charset="0"/>
              </a:rPr>
              <a:t>Transformers</a:t>
            </a:r>
            <a:r>
              <a:rPr lang="en-US" sz="1800" dirty="0" smtClean="0">
                <a:latin typeface="Times New Roman" pitchFamily="18" charset="0"/>
                <a:cs typeface="Times New Roman" pitchFamily="18" charset="0"/>
              </a:rPr>
              <a:t>, the breakthrough architecture that powers ChatGPT, Gemini, Claude, and modern Large Language Models."</a:t>
            </a:r>
          </a:p>
          <a:p>
            <a:pPr>
              <a:buNone/>
            </a:pPr>
            <a:endParaRPr lang="en-US" sz="18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0"/>
            <a:ext cx="7943088" cy="6248400"/>
          </a:xfrm>
        </p:spPr>
        <p:txBody>
          <a:bodyPr>
            <a:normAutofit fontScale="92500" lnSpcReduction="20000"/>
          </a:bodyPr>
          <a:lstStyle/>
          <a:p>
            <a:r>
              <a:rPr lang="en-US" b="1" dirty="0" smtClean="0">
                <a:latin typeface="Times New Roman" pitchFamily="18" charset="0"/>
                <a:cs typeface="Times New Roman" pitchFamily="18" charset="0"/>
              </a:rPr>
              <a:t>Slide 24 – Key Takeaways</a:t>
            </a:r>
          </a:p>
          <a:p>
            <a:r>
              <a:rPr lang="en-US" dirty="0" smtClean="0">
                <a:latin typeface="Times New Roman" pitchFamily="18" charset="0"/>
                <a:cs typeface="Times New Roman" pitchFamily="18" charset="0"/>
              </a:rPr>
              <a:t>Deep Learning is a subset of Machine Learning. </a:t>
            </a:r>
          </a:p>
          <a:p>
            <a:r>
              <a:rPr lang="en-US" dirty="0" smtClean="0">
                <a:latin typeface="Times New Roman" pitchFamily="18" charset="0"/>
                <a:cs typeface="Times New Roman" pitchFamily="18" charset="0"/>
              </a:rPr>
              <a:t>Neural Networks are inspired by the human brain. </a:t>
            </a:r>
          </a:p>
          <a:p>
            <a:r>
              <a:rPr lang="en-US" dirty="0" smtClean="0">
                <a:latin typeface="Times New Roman" pitchFamily="18" charset="0"/>
                <a:cs typeface="Times New Roman" pitchFamily="18" charset="0"/>
              </a:rPr>
              <a:t>Hidden layers learn increasingly complex features. </a:t>
            </a:r>
          </a:p>
          <a:p>
            <a:r>
              <a:rPr lang="en-US" dirty="0" smtClean="0">
                <a:latin typeface="Times New Roman" pitchFamily="18" charset="0"/>
                <a:cs typeface="Times New Roman" pitchFamily="18" charset="0"/>
              </a:rPr>
              <a:t>Forward Propagation makes predictions. </a:t>
            </a:r>
          </a:p>
          <a:p>
            <a:r>
              <a:rPr lang="en-US" dirty="0" smtClean="0">
                <a:latin typeface="Times New Roman" pitchFamily="18" charset="0"/>
                <a:cs typeface="Times New Roman" pitchFamily="18" charset="0"/>
              </a:rPr>
              <a:t>Loss measures error. </a:t>
            </a:r>
          </a:p>
          <a:p>
            <a:r>
              <a:rPr lang="en-US" dirty="0" smtClean="0">
                <a:latin typeface="Times New Roman" pitchFamily="18" charset="0"/>
                <a:cs typeface="Times New Roman" pitchFamily="18" charset="0"/>
              </a:rPr>
              <a:t>Backpropagation improves the model. </a:t>
            </a:r>
          </a:p>
          <a:p>
            <a:r>
              <a:rPr lang="en-US" dirty="0" smtClean="0">
                <a:latin typeface="Times New Roman" pitchFamily="18" charset="0"/>
                <a:cs typeface="Times New Roman" pitchFamily="18" charset="0"/>
              </a:rPr>
              <a:t>CNN excels at images. </a:t>
            </a:r>
          </a:p>
          <a:p>
            <a:r>
              <a:rPr lang="en-US" dirty="0" smtClean="0">
                <a:latin typeface="Times New Roman" pitchFamily="18" charset="0"/>
                <a:cs typeface="Times New Roman" pitchFamily="18" charset="0"/>
              </a:rPr>
              <a:t>RNN processes sequences. </a:t>
            </a:r>
          </a:p>
          <a:p>
            <a:r>
              <a:rPr lang="en-US" dirty="0" smtClean="0">
                <a:latin typeface="Times New Roman" pitchFamily="18" charset="0"/>
                <a:cs typeface="Times New Roman" pitchFamily="18" charset="0"/>
              </a:rPr>
              <a:t>LSTM handles long-term dependencies. </a:t>
            </a:r>
          </a:p>
          <a:p>
            <a:r>
              <a:rPr lang="en-US" dirty="0" smtClean="0">
                <a:latin typeface="Times New Roman" pitchFamily="18" charset="0"/>
                <a:cs typeface="Times New Roman" pitchFamily="18" charset="0"/>
              </a:rPr>
              <a:t>Modern LLMs are based on </a:t>
            </a:r>
            <a:r>
              <a:rPr lang="en-US" b="1" dirty="0" smtClean="0">
                <a:latin typeface="Times New Roman" pitchFamily="18" charset="0"/>
                <a:cs typeface="Times New Roman" pitchFamily="18" charset="0"/>
              </a:rPr>
              <a:t>Transformers</a:t>
            </a:r>
            <a:r>
              <a:rPr lang="en-US" dirty="0" smtClean="0">
                <a:latin typeface="Times New Roman" pitchFamily="18" charset="0"/>
                <a:cs typeface="Times New Roman" pitchFamily="18" charset="0"/>
              </a:rPr>
              <a:t>, not RNNs or LSTMs.</a:t>
            </a:r>
          </a:p>
          <a:p>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876</TotalTime>
  <Words>1185</Words>
  <Application>Microsoft Office PowerPoint</Application>
  <PresentationFormat>On-screen Show (4:3)</PresentationFormat>
  <Paragraphs>424</Paragraphs>
  <Slides>39</Slides>
  <Notes>0</Notes>
  <HiddenSlides>0</HiddenSlides>
  <MMClips>0</MMClips>
  <ScaleCrop>false</ScaleCrop>
  <HeadingPairs>
    <vt:vector size="4" baseType="variant">
      <vt:variant>
        <vt:lpstr>Theme</vt:lpstr>
      </vt:variant>
      <vt:variant>
        <vt:i4>1</vt:i4>
      </vt:variant>
      <vt:variant>
        <vt:lpstr>Slide Titles</vt:lpstr>
      </vt:variant>
      <vt:variant>
        <vt:i4>39</vt:i4>
      </vt:variant>
    </vt:vector>
  </HeadingPairs>
  <TitlesOfParts>
    <vt:vector size="40" baseType="lpstr">
      <vt:lpstr>Solstice</vt:lpstr>
      <vt:lpstr>Slide 1</vt:lpstr>
      <vt:lpstr>Slide 2</vt:lpstr>
      <vt:lpstr>                              Why Deep Learning?                Learns directly from large datasets     No manual feature engineering                Excels at images, speech, text, and video                 Foundation of modern AI systems                                 Examples:                       ChatGPT                        Google Lens                        Face Unlock                        Tesla Autopilot   </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faraz alam</dc:creator>
  <cp:lastModifiedBy>faraz alam</cp:lastModifiedBy>
  <cp:revision>66</cp:revision>
  <dcterms:created xsi:type="dcterms:W3CDTF">2006-08-16T00:00:00Z</dcterms:created>
  <dcterms:modified xsi:type="dcterms:W3CDTF">2026-08-07T02:39:21Z</dcterms:modified>
</cp:coreProperties>
</file>